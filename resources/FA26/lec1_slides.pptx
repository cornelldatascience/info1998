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Hind"/>
      <p:regular r:id="rId45"/>
      <p:bold r:id="rId46"/>
    </p:embeddedFont>
    <p:embeddedFont>
      <p:font typeface="Helvetica Neue"/>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1" roundtripDataSignature="AMtx7mgBTYBxDOcedG5kC6aH2vvx3qaC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Hind-bold.fntdata"/><Relationship Id="rId45" Type="http://schemas.openxmlformats.org/officeDocument/2006/relationships/font" Target="fonts/Hin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HelveticaNeue-bold.fntdata"/><Relationship Id="rId47" Type="http://schemas.openxmlformats.org/officeDocument/2006/relationships/font" Target="fonts/HelveticaNeue-regular.fntdata"/><Relationship Id="rId49"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font" Target="fonts/HelveticaNeue-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rPr lang="en"/>
              <a:t>Interactive questions while people are still downloading:</a:t>
            </a:r>
            <a:endParaRPr/>
          </a:p>
          <a:p>
            <a:pPr indent="-298450" lvl="0" marL="457200" rtl="0" algn="l">
              <a:lnSpc>
                <a:spcPct val="100000"/>
              </a:lnSpc>
              <a:spcBef>
                <a:spcPts val="0"/>
              </a:spcBef>
              <a:spcAft>
                <a:spcPts val="0"/>
              </a:spcAft>
              <a:buSzPts val="1100"/>
              <a:buChar char="-"/>
            </a:pPr>
            <a:r>
              <a:rPr lang="en"/>
              <a:t>Who here has prior ds experience</a:t>
            </a:r>
            <a:endParaRPr/>
          </a:p>
          <a:p>
            <a:pPr indent="-298450" lvl="0" marL="457200" rtl="0" algn="l">
              <a:lnSpc>
                <a:spcPct val="100000"/>
              </a:lnSpc>
              <a:spcBef>
                <a:spcPts val="0"/>
              </a:spcBef>
              <a:spcAft>
                <a:spcPts val="0"/>
              </a:spcAft>
              <a:buSzPts val="1100"/>
              <a:buChar char="-"/>
            </a:pPr>
            <a:r>
              <a:rPr lang="en"/>
              <a:t>Who here’s a freshman? So forth</a:t>
            </a:r>
            <a:endParaRPr/>
          </a:p>
          <a:p>
            <a:pPr indent="-298450" lvl="0" marL="457200" rtl="0" algn="l">
              <a:lnSpc>
                <a:spcPct val="100000"/>
              </a:lnSpc>
              <a:spcBef>
                <a:spcPts val="0"/>
              </a:spcBef>
              <a:spcAft>
                <a:spcPts val="0"/>
              </a:spcAft>
              <a:buSzPts val="1100"/>
              <a:buChar char="-"/>
            </a:pPr>
            <a:r>
              <a:rPr lang="en"/>
              <a:t>Who here is undecided as to whether or not they will take this class?</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4: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5: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6: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7: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8: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9: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rPr lang="en"/>
              <a:t>Make friends while doing your project!</a:t>
            </a:r>
            <a:endParaRPr/>
          </a:p>
          <a:p>
            <a:pPr indent="0" lvl="0" marL="0" rtl="0" algn="l">
              <a:lnSpc>
                <a:spcPct val="100000"/>
              </a:lnSpc>
              <a:spcBef>
                <a:spcPts val="0"/>
              </a:spcBef>
              <a:spcAft>
                <a:spcPts val="0"/>
              </a:spcAft>
              <a:buSzPts val="1000"/>
              <a:buNone/>
            </a:pPr>
            <a:r>
              <a:rPr lang="en"/>
              <a:t>You’ll get the knowledge of basic Machine Learning </a:t>
            </a:r>
            <a:endParaRPr/>
          </a:p>
          <a:p>
            <a:pPr indent="0" lvl="0" marL="0" rtl="0" algn="l">
              <a:lnSpc>
                <a:spcPct val="100000"/>
              </a:lnSpc>
              <a:spcBef>
                <a:spcPts val="0"/>
              </a:spcBef>
              <a:spcAft>
                <a:spcPts val="0"/>
              </a:spcAft>
              <a:buSzPts val="1000"/>
              <a:buNone/>
            </a:pPr>
            <a:r>
              <a:rPr lang="en"/>
              <a:t>MOST IMPORTANTLY - You’ll learn how to get started with your own data science projects in your free time. We’ll teach you the basics so you can go out there and learn on your own and do your own projects!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0: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rPr lang="en"/>
              <a:t>My goal is to prove to you that, AI, machine learning, and data science—there is so, so much to it</a:t>
            </a:r>
            <a:endParaRPr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8de8f025a_0_2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3f8de8f025a_0_2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8de8f025a_0_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f8de8f025a_0_2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8de8f025a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f8de8f025a_0_3: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8de8f025a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f8de8f025a_0_14: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rPr lang="en"/>
              <a:t>From Jack Morris…</a:t>
            </a:r>
            <a:endParaRPr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8de8f025a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f8de8f025a_0_24: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rPr lang="en"/>
              <a:t>But there is a long and rich history</a:t>
            </a:r>
            <a:endParaRPr/>
          </a:p>
          <a:p>
            <a:pPr indent="0" lvl="0" marL="0" rtl="0" algn="l">
              <a:lnSpc>
                <a:spcPct val="100000"/>
              </a:lnSpc>
              <a:spcBef>
                <a:spcPts val="0"/>
              </a:spcBef>
              <a:spcAft>
                <a:spcPts val="0"/>
              </a:spcAft>
              <a:buSzPts val="1000"/>
              <a:buNone/>
            </a:pPr>
            <a:r>
              <a:t/>
            </a:r>
            <a:endParaRPr/>
          </a:p>
          <a:p>
            <a:pPr indent="0" lvl="0" marL="0" rtl="0" algn="l">
              <a:lnSpc>
                <a:spcPct val="100000"/>
              </a:lnSpc>
              <a:spcBef>
                <a:spcPts val="0"/>
              </a:spcBef>
              <a:spcAft>
                <a:spcPts val="0"/>
              </a:spcAft>
              <a:buSzPts val="1000"/>
              <a:buNone/>
            </a:pPr>
            <a:r>
              <a:rPr lang="en"/>
              <a:t>Are you confused? Great, I am too.</a:t>
            </a:r>
            <a:endParaRPr/>
          </a:p>
          <a:p>
            <a:pPr indent="0" lvl="0" marL="0" rtl="0" algn="l">
              <a:lnSpc>
                <a:spcPct val="100000"/>
              </a:lnSpc>
              <a:spcBef>
                <a:spcPts val="0"/>
              </a:spcBef>
              <a:spcAft>
                <a:spcPts val="0"/>
              </a:spcAft>
              <a:buSzPts val="1000"/>
              <a:buNone/>
            </a:pPr>
            <a:r>
              <a:rPr lang="en"/>
              <a:t>This complexity is something which begins as really confusing. But if you are interested, broadly, in machine learning, this is absolutely a place to start.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8de8f025a_0_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g3f8de8f025a_0_78: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rPr lang="en"/>
              <a:t>Machine learning makes up the backbone of this wonderful and rich field.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f8de8f025a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3f8de8f025a_0_33: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8de8f025a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3f8de8f025a_0_43: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8de8f025a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3f8de8f025a_0_47: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f8de8f025a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3f8de8f025a_0_59: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8de8f025a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g3f8de8f025a_0_51: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8de8f025a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3f8de8f025a_0_55: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8de8f025a_0_2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3f8de8f025a_0_226: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8de8f025a_0_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3f8de8f025a_0_95: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p11: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298450" lvl="0" marL="457200" rtl="0" algn="l">
              <a:lnSpc>
                <a:spcPct val="100000"/>
              </a:lnSpc>
              <a:spcBef>
                <a:spcPts val="0"/>
              </a:spcBef>
              <a:spcAft>
                <a:spcPts val="0"/>
              </a:spcAft>
              <a:buSzPts val="1100"/>
              <a:buChar char="-"/>
            </a:pPr>
            <a:r>
              <a:rPr lang="en"/>
              <a:t>Social media collecting your data to recommend advertisements</a:t>
            </a:r>
            <a:endParaRPr/>
          </a:p>
          <a:p>
            <a:pPr indent="-298450" lvl="0" marL="457200" rtl="0" algn="l">
              <a:lnSpc>
                <a:spcPct val="100000"/>
              </a:lnSpc>
              <a:spcBef>
                <a:spcPts val="0"/>
              </a:spcBef>
              <a:spcAft>
                <a:spcPts val="0"/>
              </a:spcAft>
              <a:buSzPts val="1100"/>
              <a:buChar char="-"/>
            </a:pPr>
            <a:r>
              <a:rPr lang="en"/>
              <a:t>Lot of information that can be gained from data and analysis</a:t>
            </a:r>
            <a:endParaRPr/>
          </a:p>
          <a:p>
            <a:pPr indent="-298450" lvl="0" marL="457200" rtl="0" algn="l">
              <a:lnSpc>
                <a:spcPct val="100000"/>
              </a:lnSpc>
              <a:spcBef>
                <a:spcPts val="0"/>
              </a:spcBef>
              <a:spcAft>
                <a:spcPts val="0"/>
              </a:spcAft>
              <a:buSzPts val="1100"/>
              <a:buChar char="-"/>
            </a:pPr>
            <a:r>
              <a:rPr lang="en"/>
              <a:t>How do you express the information you found? How can you communicate your results. (Final Project).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12: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13: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14: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p15: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16: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17: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Font typeface="Arial"/>
              <a:buNone/>
            </a:pPr>
            <a:r>
              <a:t/>
            </a:r>
            <a:endParaRPr sz="11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18: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p19: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Font typeface="Arial"/>
              <a:buNone/>
            </a:pPr>
            <a:r>
              <a:t/>
            </a:r>
            <a:endParaRPr sz="11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p21: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rPr lang="en"/>
              <a:t>Emphasize to only fill this out if you truly intend to take the class for credit</a:t>
            </a:r>
            <a:endParaRPr sz="11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p22: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p23: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24: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25: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3" name="Google Shape;483;p26: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sz="11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9" name="Google Shape;489;p27:notes"/>
          <p:cNvSpPr txBox="1"/>
          <p:nvPr>
            <p:ph idx="1" type="body"/>
          </p:nvPr>
        </p:nvSpPr>
        <p:spPr>
          <a:xfrm>
            <a:off x="685800" y="4343400"/>
            <a:ext cx="5486400" cy="4114800"/>
          </a:xfrm>
          <a:prstGeom prst="rect">
            <a:avLst/>
          </a:prstGeom>
          <a:noFill/>
          <a:ln>
            <a:noFill/>
          </a:ln>
        </p:spPr>
        <p:txBody>
          <a:bodyPr anchorCtr="0" anchor="t" bIns="91075" lIns="91075" spcFirstLastPara="1" rIns="91075" wrap="square" tIns="91075">
            <a:noAutofit/>
          </a:bodyPr>
          <a:lstStyle/>
          <a:p>
            <a:pPr indent="0" lvl="0" marL="0" rtl="0" algn="l">
              <a:lnSpc>
                <a:spcPct val="100000"/>
              </a:lnSpc>
              <a:spcBef>
                <a:spcPts val="0"/>
              </a:spcBef>
              <a:spcAft>
                <a:spcPts val="0"/>
              </a:spcAft>
              <a:buSzPts val="10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613CB0"/>
              </a:buClr>
              <a:buSzPts val="2800"/>
              <a:buFont typeface="Hind"/>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1"/>
              </a:buClr>
              <a:buSzPts val="1800"/>
              <a:buChar char="●"/>
              <a:defRPr/>
            </a:lvl1pPr>
            <a:lvl2pPr indent="-317500" lvl="1" marL="914400" algn="l">
              <a:lnSpc>
                <a:spcPct val="115000"/>
              </a:lnSpc>
              <a:spcBef>
                <a:spcPts val="0"/>
              </a:spcBef>
              <a:spcAft>
                <a:spcPts val="0"/>
              </a:spcAft>
              <a:buClr>
                <a:schemeClr val="dk1"/>
              </a:buClr>
              <a:buSzPts val="1400"/>
              <a:buChar char="○"/>
              <a:defRPr/>
            </a:lvl2pPr>
            <a:lvl3pPr indent="-317500" lvl="2" marL="1371600" algn="l">
              <a:lnSpc>
                <a:spcPct val="115000"/>
              </a:lnSpc>
              <a:spcBef>
                <a:spcPts val="0"/>
              </a:spcBef>
              <a:spcAft>
                <a:spcPts val="0"/>
              </a:spcAft>
              <a:buClr>
                <a:schemeClr val="dk1"/>
              </a:buClr>
              <a:buSzPts val="1400"/>
              <a:buChar char="■"/>
              <a:defRPr/>
            </a:lvl3pPr>
            <a:lvl4pPr indent="-317500" lvl="3" marL="1828800" algn="l">
              <a:lnSpc>
                <a:spcPct val="115000"/>
              </a:lnSpc>
              <a:spcBef>
                <a:spcPts val="0"/>
              </a:spcBef>
              <a:spcAft>
                <a:spcPts val="0"/>
              </a:spcAft>
              <a:buClr>
                <a:schemeClr val="dk1"/>
              </a:buClr>
              <a:buSzPts val="1400"/>
              <a:buChar char="●"/>
              <a:defRPr/>
            </a:lvl4pPr>
            <a:lvl5pPr indent="-317500" lvl="4" marL="2286000" algn="l">
              <a:lnSpc>
                <a:spcPct val="115000"/>
              </a:lnSpc>
              <a:spcBef>
                <a:spcPts val="0"/>
              </a:spcBef>
              <a:spcAft>
                <a:spcPts val="0"/>
              </a:spcAft>
              <a:buClr>
                <a:schemeClr val="dk1"/>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
        <p:nvSpPr>
          <p:cNvPr id="12" name="Google Shape;12;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41"/>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p41"/>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 name="Google Shape;16;p41"/>
          <p:cNvSpPr txBox="1"/>
          <p:nvPr>
            <p:ph idx="12" type="sldNum"/>
          </p:nvPr>
        </p:nvSpPr>
        <p:spPr>
          <a:xfrm>
            <a:off x="6982736" y="4819000"/>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42"/>
          <p:cNvSpPr txBox="1"/>
          <p:nvPr>
            <p:ph type="ctrTitle"/>
          </p:nvPr>
        </p:nvSpPr>
        <p:spPr>
          <a:xfrm>
            <a:off x="1143000" y="841375"/>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613CB0"/>
              </a:buClr>
              <a:buSzPts val="6000"/>
              <a:buFont typeface="Hind"/>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2"/>
          <p:cNvSpPr txBox="1"/>
          <p:nvPr>
            <p:ph idx="1" type="subTitle"/>
          </p:nvPr>
        </p:nvSpPr>
        <p:spPr>
          <a:xfrm>
            <a:off x="1143000" y="2701925"/>
            <a:ext cx="6858000" cy="1241425"/>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42"/>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1" name="Google Shape;21;p42"/>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p42"/>
          <p:cNvSpPr txBox="1"/>
          <p:nvPr>
            <p:ph idx="12" type="sldNum"/>
          </p:nvPr>
        </p:nvSpPr>
        <p:spPr>
          <a:xfrm>
            <a:off x="6982736" y="4819000"/>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3"/>
          <p:cNvSpPr txBox="1"/>
          <p:nvPr>
            <p:ph type="title"/>
          </p:nvPr>
        </p:nvSpPr>
        <p:spPr>
          <a:xfrm>
            <a:off x="628650" y="318053"/>
            <a:ext cx="7886700" cy="62435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613CB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3"/>
          <p:cNvSpPr txBox="1"/>
          <p:nvPr>
            <p:ph idx="1" type="body"/>
          </p:nvPr>
        </p:nvSpPr>
        <p:spPr>
          <a:xfrm>
            <a:off x="628650" y="1129085"/>
            <a:ext cx="7886700" cy="350324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3"/>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 name="Google Shape;27;p43"/>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 name="Google Shape;28;p43"/>
          <p:cNvSpPr txBox="1"/>
          <p:nvPr>
            <p:ph idx="12" type="sldNum"/>
          </p:nvPr>
        </p:nvSpPr>
        <p:spPr>
          <a:xfrm>
            <a:off x="6982736" y="4819000"/>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4"/>
          <p:cNvSpPr txBox="1"/>
          <p:nvPr>
            <p:ph type="title"/>
          </p:nvPr>
        </p:nvSpPr>
        <p:spPr>
          <a:xfrm>
            <a:off x="623888" y="1282700"/>
            <a:ext cx="7886700" cy="21399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613CB0"/>
              </a:buClr>
              <a:buSzPts val="6000"/>
              <a:buFont typeface="Hind"/>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4"/>
          <p:cNvSpPr txBox="1"/>
          <p:nvPr>
            <p:ph idx="1" type="body"/>
          </p:nvPr>
        </p:nvSpPr>
        <p:spPr>
          <a:xfrm>
            <a:off x="623888" y="3441700"/>
            <a:ext cx="7886700" cy="11255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2" name="Google Shape;32;p44"/>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3" name="Google Shape;33;p44"/>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4" name="Google Shape;34;p44"/>
          <p:cNvSpPr txBox="1"/>
          <p:nvPr>
            <p:ph idx="12" type="sldNum"/>
          </p:nvPr>
        </p:nvSpPr>
        <p:spPr>
          <a:xfrm>
            <a:off x="6982736" y="4819000"/>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45"/>
          <p:cNvSpPr txBox="1"/>
          <p:nvPr>
            <p:ph type="title"/>
          </p:nvPr>
        </p:nvSpPr>
        <p:spPr>
          <a:xfrm>
            <a:off x="628650" y="318053"/>
            <a:ext cx="7886700" cy="62435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613CB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5"/>
          <p:cNvSpPr txBox="1"/>
          <p:nvPr>
            <p:ph idx="1" type="body"/>
          </p:nvPr>
        </p:nvSpPr>
        <p:spPr>
          <a:xfrm>
            <a:off x="628650" y="1370013"/>
            <a:ext cx="3867150" cy="32623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45"/>
          <p:cNvSpPr txBox="1"/>
          <p:nvPr>
            <p:ph idx="2" type="body"/>
          </p:nvPr>
        </p:nvSpPr>
        <p:spPr>
          <a:xfrm>
            <a:off x="4648200" y="1370013"/>
            <a:ext cx="3867150" cy="32623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45"/>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0" name="Google Shape;40;p45"/>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1" name="Google Shape;41;p45"/>
          <p:cNvSpPr txBox="1"/>
          <p:nvPr>
            <p:ph idx="12" type="sldNum"/>
          </p:nvPr>
        </p:nvSpPr>
        <p:spPr>
          <a:xfrm>
            <a:off x="6982736" y="4819000"/>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46"/>
          <p:cNvSpPr txBox="1"/>
          <p:nvPr>
            <p:ph type="title"/>
          </p:nvPr>
        </p:nvSpPr>
        <p:spPr>
          <a:xfrm>
            <a:off x="630238" y="274638"/>
            <a:ext cx="7886700" cy="9937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613CB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6"/>
          <p:cNvSpPr txBox="1"/>
          <p:nvPr>
            <p:ph idx="1" type="body"/>
          </p:nvPr>
        </p:nvSpPr>
        <p:spPr>
          <a:xfrm>
            <a:off x="630238" y="1260475"/>
            <a:ext cx="3868737" cy="61912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6"/>
          <p:cNvSpPr txBox="1"/>
          <p:nvPr>
            <p:ph idx="2" type="body"/>
          </p:nvPr>
        </p:nvSpPr>
        <p:spPr>
          <a:xfrm>
            <a:off x="630238" y="1879600"/>
            <a:ext cx="3868737" cy="27622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6"/>
          <p:cNvSpPr txBox="1"/>
          <p:nvPr>
            <p:ph idx="3" type="body"/>
          </p:nvPr>
        </p:nvSpPr>
        <p:spPr>
          <a:xfrm>
            <a:off x="4629150" y="1260475"/>
            <a:ext cx="3887788" cy="61912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46"/>
          <p:cNvSpPr txBox="1"/>
          <p:nvPr>
            <p:ph idx="4" type="body"/>
          </p:nvPr>
        </p:nvSpPr>
        <p:spPr>
          <a:xfrm>
            <a:off x="4629150" y="1879600"/>
            <a:ext cx="3887788" cy="27622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46"/>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9" name="Google Shape;49;p46"/>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0" name="Google Shape;50;p46"/>
          <p:cNvSpPr txBox="1"/>
          <p:nvPr>
            <p:ph idx="12" type="sldNum"/>
          </p:nvPr>
        </p:nvSpPr>
        <p:spPr>
          <a:xfrm>
            <a:off x="6982736" y="4819000"/>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47"/>
          <p:cNvSpPr txBox="1"/>
          <p:nvPr>
            <p:ph type="title"/>
          </p:nvPr>
        </p:nvSpPr>
        <p:spPr>
          <a:xfrm>
            <a:off x="628650" y="318053"/>
            <a:ext cx="7886700" cy="62435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613CB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7"/>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p47"/>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5" name="Google Shape;55;p47"/>
          <p:cNvSpPr txBox="1"/>
          <p:nvPr>
            <p:ph idx="12" type="sldNum"/>
          </p:nvPr>
        </p:nvSpPr>
        <p:spPr>
          <a:xfrm>
            <a:off x="6982736" y="4819000"/>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48"/>
          <p:cNvSpPr txBox="1"/>
          <p:nvPr>
            <p:ph type="title"/>
          </p:nvPr>
        </p:nvSpPr>
        <p:spPr>
          <a:xfrm>
            <a:off x="630238" y="342900"/>
            <a:ext cx="2949575"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613CB0"/>
              </a:buClr>
              <a:buSzPts val="3200"/>
              <a:buFont typeface="Hi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8"/>
          <p:cNvSpPr txBox="1"/>
          <p:nvPr>
            <p:ph idx="1" type="body"/>
          </p:nvPr>
        </p:nvSpPr>
        <p:spPr>
          <a:xfrm>
            <a:off x="3887788" y="741363"/>
            <a:ext cx="4629150" cy="36544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9" name="Google Shape;59;p48"/>
          <p:cNvSpPr txBox="1"/>
          <p:nvPr>
            <p:ph idx="2" type="body"/>
          </p:nvPr>
        </p:nvSpPr>
        <p:spPr>
          <a:xfrm>
            <a:off x="630238" y="1543050"/>
            <a:ext cx="2949575" cy="28590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0" name="Google Shape;60;p48"/>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1" name="Google Shape;61;p48"/>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2" name="Google Shape;62;p48"/>
          <p:cNvSpPr txBox="1"/>
          <p:nvPr>
            <p:ph idx="12" type="sldNum"/>
          </p:nvPr>
        </p:nvSpPr>
        <p:spPr>
          <a:xfrm>
            <a:off x="6982736" y="4819000"/>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49"/>
          <p:cNvSpPr txBox="1"/>
          <p:nvPr>
            <p:ph type="title"/>
          </p:nvPr>
        </p:nvSpPr>
        <p:spPr>
          <a:xfrm>
            <a:off x="630238" y="342900"/>
            <a:ext cx="2949575"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613CB0"/>
              </a:buClr>
              <a:buSzPts val="3200"/>
              <a:buFont typeface="Hi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9"/>
          <p:cNvSpPr/>
          <p:nvPr>
            <p:ph idx="2" type="pic"/>
          </p:nvPr>
        </p:nvSpPr>
        <p:spPr>
          <a:xfrm>
            <a:off x="3887788" y="741363"/>
            <a:ext cx="4629150" cy="3654425"/>
          </a:xfrm>
          <a:prstGeom prst="rect">
            <a:avLst/>
          </a:prstGeom>
          <a:noFill/>
          <a:ln>
            <a:noFill/>
          </a:ln>
        </p:spPr>
      </p:sp>
      <p:sp>
        <p:nvSpPr>
          <p:cNvPr id="66" name="Google Shape;66;p49"/>
          <p:cNvSpPr txBox="1"/>
          <p:nvPr>
            <p:ph idx="1" type="body"/>
          </p:nvPr>
        </p:nvSpPr>
        <p:spPr>
          <a:xfrm>
            <a:off x="630238" y="1543050"/>
            <a:ext cx="2949575" cy="28590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49"/>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 name="Google Shape;68;p49"/>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9" name="Google Shape;69;p49"/>
          <p:cNvSpPr txBox="1"/>
          <p:nvPr>
            <p:ph idx="12" type="sldNum"/>
          </p:nvPr>
        </p:nvSpPr>
        <p:spPr>
          <a:xfrm>
            <a:off x="6982736" y="4819000"/>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50"/>
          <p:cNvSpPr txBox="1"/>
          <p:nvPr>
            <p:ph type="title"/>
          </p:nvPr>
        </p:nvSpPr>
        <p:spPr>
          <a:xfrm>
            <a:off x="628650" y="318053"/>
            <a:ext cx="7886700" cy="62435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613CB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0"/>
          <p:cNvSpPr txBox="1"/>
          <p:nvPr>
            <p:ph idx="1" type="body"/>
          </p:nvPr>
        </p:nvSpPr>
        <p:spPr>
          <a:xfrm rot="5400000">
            <a:off x="2820380" y="-1062645"/>
            <a:ext cx="3503240"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50"/>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4" name="Google Shape;74;p50"/>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5" name="Google Shape;75;p50"/>
          <p:cNvSpPr txBox="1"/>
          <p:nvPr>
            <p:ph idx="12" type="sldNum"/>
          </p:nvPr>
        </p:nvSpPr>
        <p:spPr>
          <a:xfrm>
            <a:off x="6982736" y="4819000"/>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51"/>
          <p:cNvSpPr txBox="1"/>
          <p:nvPr>
            <p:ph type="title"/>
          </p:nvPr>
        </p:nvSpPr>
        <p:spPr>
          <a:xfrm rot="5400000">
            <a:off x="5350669" y="1467644"/>
            <a:ext cx="4357687"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613CB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1"/>
          <p:cNvSpPr txBox="1"/>
          <p:nvPr>
            <p:ph idx="1" type="body"/>
          </p:nvPr>
        </p:nvSpPr>
        <p:spPr>
          <a:xfrm rot="5400000">
            <a:off x="1331119" y="-427831"/>
            <a:ext cx="4357687" cy="57626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51"/>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0" name="Google Shape;80;p51"/>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1" name="Google Shape;81;p51"/>
          <p:cNvSpPr txBox="1"/>
          <p:nvPr>
            <p:ph idx="12" type="sldNum"/>
          </p:nvPr>
        </p:nvSpPr>
        <p:spPr>
          <a:xfrm>
            <a:off x="6982736" y="4819000"/>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628650" y="318053"/>
            <a:ext cx="7886700" cy="624357"/>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613CB0"/>
              </a:buClr>
              <a:buSzPts val="2400"/>
              <a:buFont typeface="Hind"/>
              <a:buNone/>
              <a:defRPr b="1" i="0" sz="2400" u="none" cap="none" strike="noStrike">
                <a:solidFill>
                  <a:srgbClr val="613CB0"/>
                </a:solidFill>
                <a:latin typeface="Hind"/>
                <a:ea typeface="Hind"/>
                <a:cs typeface="Hind"/>
                <a:sym typeface="Hi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
          <p:cNvSpPr txBox="1"/>
          <p:nvPr>
            <p:ph idx="1" type="body"/>
          </p:nvPr>
        </p:nvSpPr>
        <p:spPr>
          <a:xfrm>
            <a:off x="628650" y="1129085"/>
            <a:ext cx="7886700" cy="3503240"/>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90000"/>
              </a:lnSpc>
              <a:spcBef>
                <a:spcPts val="1000"/>
              </a:spcBef>
              <a:spcAft>
                <a:spcPts val="0"/>
              </a:spcAft>
              <a:buClr>
                <a:schemeClr val="dk1"/>
              </a:buClr>
              <a:buSzPts val="1600"/>
              <a:buFont typeface="Arial"/>
              <a:buChar char="•"/>
              <a:defRPr b="0" i="0" sz="1600" u="none" cap="none" strike="noStrike">
                <a:solidFill>
                  <a:schemeClr val="dk1"/>
                </a:solidFill>
                <a:latin typeface="Helvetica Neue"/>
                <a:ea typeface="Helvetica Neue"/>
                <a:cs typeface="Helvetica Neue"/>
                <a:sym typeface="Helvetica Neue"/>
              </a:defRPr>
            </a:lvl1pPr>
            <a:lvl2pPr indent="-330200" lvl="1" marL="9144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Helvetica Neue"/>
                <a:ea typeface="Helvetica Neue"/>
                <a:cs typeface="Helvetica Neue"/>
                <a:sym typeface="Helvetica Neue"/>
              </a:defRPr>
            </a:lvl2pPr>
            <a:lvl3pPr indent="-330200" lvl="2" marL="13716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Helvetica Neue"/>
                <a:ea typeface="Helvetica Neue"/>
                <a:cs typeface="Helvetica Neue"/>
                <a:sym typeface="Helvetica Neue"/>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Helvetica Neue"/>
                <a:ea typeface="Helvetica Neue"/>
                <a:cs typeface="Helvetica Neue"/>
                <a:sym typeface="Helvetica Neue"/>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Helvetica Neue"/>
                <a:ea typeface="Helvetica Neue"/>
                <a:cs typeface="Helvetica Neue"/>
                <a:sym typeface="Helvetica Neue"/>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2"/>
          <p:cNvSpPr txBox="1"/>
          <p:nvPr>
            <p:ph idx="12" type="sldNum"/>
          </p:nvPr>
        </p:nvSpPr>
        <p:spPr>
          <a:xfrm>
            <a:off x="6982736" y="4819000"/>
            <a:ext cx="2057400" cy="27463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anaconda.com/distribution/" TargetMode="External"/><Relationship Id="rId4" Type="http://schemas.openxmlformats.org/officeDocument/2006/relationships/image" Target="../media/image3.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cornelldata.science/" TargetMode="External"/><Relationship Id="rId4" Type="http://schemas.openxmlformats.org/officeDocument/2006/relationships/hyperlink" Target="https://cornelldatascience.github.io/info1998/" TargetMode="External"/><Relationship Id="rId5"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www.jds-online.com/abou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edstem.org/us/join/355nCu" TargetMode="External"/><Relationship Id="rId4" Type="http://schemas.openxmlformats.org/officeDocument/2006/relationships/hyperlink" Target="https://edstem.org/us/join/355nCu" TargetMode="External"/><Relationship Id="rId5" Type="http://schemas.openxmlformats.org/officeDocument/2006/relationships/hyperlink" Target="https://forms.gle/R4jb2SHcxmtY349N9" TargetMode="External"/><Relationship Id="rId6" Type="http://schemas.openxmlformats.org/officeDocument/2006/relationships/hyperlink" Target="https://forms.gle/R4jb2SHcxmtY349N9" TargetMode="External"/><Relationship Id="rId7"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forms.gle/R4jb2SHcxmtY349N9" TargetMode="External"/><Relationship Id="rId4" Type="http://schemas.openxmlformats.org/officeDocument/2006/relationships/hyperlink" Target="https://forms.gle/R4jb2SHcxmtY349N9" TargetMode="External"/><Relationship Id="rId5" Type="http://schemas.openxmlformats.org/officeDocument/2006/relationships/hyperlink" Target="https://edstem.org/us/join/355nCu" TargetMode="External"/><Relationship Id="rId6" Type="http://schemas.openxmlformats.org/officeDocument/2006/relationships/hyperlink" Target="https://edstem.org/us/join/355nCu"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hyperlink" Target="https://edstem.org/us/join/355nCu" TargetMode="External"/><Relationship Id="rId4" Type="http://schemas.openxmlformats.org/officeDocument/2006/relationships/hyperlink" Target="https://edstem.org/us/join/355nCu" TargetMode="External"/><Relationship Id="rId5" Type="http://schemas.openxmlformats.org/officeDocument/2006/relationships/hyperlink" Target="https://cmsx.cs.cornell.edu/" TargetMode="External"/><Relationship Id="rId6" Type="http://schemas.openxmlformats.org/officeDocument/2006/relationships/hyperlink" Target="https://cornelldatascience.github.io/info1998/"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a:t>Welcome to INFO 1998!</a:t>
            </a:r>
            <a:endParaRPr i="0" sz="2400" u="none" cap="none" strike="noStrike">
              <a:solidFill>
                <a:srgbClr val="613CB0"/>
              </a:solidFill>
              <a:latin typeface="Hind"/>
              <a:ea typeface="Hind"/>
              <a:cs typeface="Hind"/>
              <a:sym typeface="Hind"/>
            </a:endParaRPr>
          </a:p>
        </p:txBody>
      </p:sp>
      <p:sp>
        <p:nvSpPr>
          <p:cNvPr id="87" name="Google Shape;87;p1"/>
          <p:cNvSpPr/>
          <p:nvPr/>
        </p:nvSpPr>
        <p:spPr>
          <a:xfrm>
            <a:off x="8465441" y="4955224"/>
            <a:ext cx="95400" cy="95400"/>
          </a:xfrm>
          <a:prstGeom prst="ellipse">
            <a:avLst/>
          </a:prstGeom>
          <a:solidFill>
            <a:srgbClr val="1C4D99"/>
          </a:solidFill>
          <a:ln cap="flat" cmpd="sng" w="9525">
            <a:solidFill>
              <a:srgbClr val="1A45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 name="Google Shape;88;p1"/>
          <p:cNvSpPr/>
          <p:nvPr/>
        </p:nvSpPr>
        <p:spPr>
          <a:xfrm>
            <a:off x="311700" y="863098"/>
            <a:ext cx="3417600" cy="154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1" lang="en" sz="900" u="none" cap="none" strike="noStrike">
                <a:solidFill>
                  <a:srgbClr val="595959"/>
                </a:solidFill>
                <a:latin typeface="Helvetica Neue"/>
                <a:ea typeface="Helvetica Neue"/>
                <a:cs typeface="Helvetica Neue"/>
                <a:sym typeface="Helvetica Neue"/>
              </a:rPr>
              <a:t>First Step: Get the required software</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4672223" y="2832110"/>
            <a:ext cx="35364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rgbClr val="000000"/>
                </a:solidFill>
                <a:latin typeface="Helvetica Neue"/>
                <a:ea typeface="Helvetica Neue"/>
                <a:cs typeface="Helvetica Neue"/>
                <a:sym typeface="Helvetica Neue"/>
                <a:hlinkClick r:id="rId3">
                  <a:extLst>
                    <a:ext uri="{A12FA001-AC4F-418D-AE19-62706E023703}">
                      <ahyp:hlinkClr val="tx"/>
                    </a:ext>
                  </a:extLst>
                </a:hlinkClick>
              </a:rPr>
              <a:t>https://www.anaconda.com/distribution/</a:t>
            </a:r>
            <a:endParaRPr b="0" i="0" sz="1400" u="none" cap="none" strike="noStrike">
              <a:solidFill>
                <a:srgbClr val="000000"/>
              </a:solidFill>
              <a:latin typeface="Helvetica Neue"/>
              <a:ea typeface="Helvetica Neue"/>
              <a:cs typeface="Helvetica Neue"/>
              <a:sym typeface="Helvetica Neue"/>
            </a:endParaRPr>
          </a:p>
        </p:txBody>
      </p:sp>
      <p:pic>
        <p:nvPicPr>
          <p:cNvPr id="90" name="Google Shape;90;p1"/>
          <p:cNvPicPr preferRelativeResize="0"/>
          <p:nvPr/>
        </p:nvPicPr>
        <p:blipFill rotWithShape="1">
          <a:blip r:embed="rId4">
            <a:alphaModFix/>
          </a:blip>
          <a:srcRect b="0" l="0" r="0" t="0"/>
          <a:stretch/>
        </p:blipFill>
        <p:spPr>
          <a:xfrm>
            <a:off x="4415552" y="1096763"/>
            <a:ext cx="3931137" cy="1769012"/>
          </a:xfrm>
          <a:prstGeom prst="rect">
            <a:avLst/>
          </a:prstGeom>
          <a:noFill/>
          <a:ln>
            <a:noFill/>
          </a:ln>
        </p:spPr>
      </p:pic>
      <p:pic>
        <p:nvPicPr>
          <p:cNvPr id="91" name="Google Shape;91;p1"/>
          <p:cNvPicPr preferRelativeResize="0"/>
          <p:nvPr/>
        </p:nvPicPr>
        <p:blipFill rotWithShape="1">
          <a:blip r:embed="rId5">
            <a:alphaModFix/>
          </a:blip>
          <a:srcRect b="0" l="0" r="0" t="0"/>
          <a:stretch/>
        </p:blipFill>
        <p:spPr>
          <a:xfrm>
            <a:off x="2325820" y="1175808"/>
            <a:ext cx="1610907" cy="1610907"/>
          </a:xfrm>
          <a:prstGeom prst="rect">
            <a:avLst/>
          </a:prstGeom>
          <a:noFill/>
          <a:ln>
            <a:noFill/>
          </a:ln>
        </p:spPr>
      </p:pic>
      <p:sp>
        <p:nvSpPr>
          <p:cNvPr id="92" name="Google Shape;92;p1"/>
          <p:cNvSpPr/>
          <p:nvPr/>
        </p:nvSpPr>
        <p:spPr>
          <a:xfrm>
            <a:off x="2533226" y="2659975"/>
            <a:ext cx="11961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595959"/>
                </a:solidFill>
                <a:latin typeface="Helvetica Neue"/>
                <a:ea typeface="Helvetica Neue"/>
                <a:cs typeface="Helvetica Neue"/>
                <a:sym typeface="Helvetica Neue"/>
              </a:rPr>
              <a:t>Anaconda</a:t>
            </a:r>
            <a:endParaRPr b="0" i="0" sz="1400" u="none" cap="none" strike="noStrike">
              <a:solidFill>
                <a:srgbClr val="000000"/>
              </a:solidFill>
              <a:latin typeface="Arial"/>
              <a:ea typeface="Arial"/>
              <a:cs typeface="Arial"/>
              <a:sym typeface="Arial"/>
            </a:endParaRPr>
          </a:p>
        </p:txBody>
      </p:sp>
      <p:sp>
        <p:nvSpPr>
          <p:cNvPr id="93" name="Google Shape;93;p1"/>
          <p:cNvSpPr txBox="1"/>
          <p:nvPr/>
        </p:nvSpPr>
        <p:spPr>
          <a:xfrm>
            <a:off x="797311" y="1292625"/>
            <a:ext cx="1049700" cy="98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7200" u="none" cap="none" strike="noStrike">
                <a:solidFill>
                  <a:srgbClr val="3F3F3F"/>
                </a:solidFill>
                <a:latin typeface="Hind"/>
                <a:ea typeface="Hind"/>
                <a:cs typeface="Hind"/>
                <a:sym typeface="Hind"/>
              </a:rPr>
              <a:t>1.</a:t>
            </a:r>
            <a:endParaRPr b="0" i="0" sz="1400" u="none" cap="none" strike="noStrike">
              <a:solidFill>
                <a:srgbClr val="000000"/>
              </a:solidFill>
              <a:latin typeface="Arial"/>
              <a:ea typeface="Arial"/>
              <a:cs typeface="Arial"/>
              <a:sym typeface="Arial"/>
            </a:endParaRPr>
          </a:p>
        </p:txBody>
      </p:sp>
      <p:sp>
        <p:nvSpPr>
          <p:cNvPr id="94" name="Google Shape;94;p1"/>
          <p:cNvSpPr txBox="1"/>
          <p:nvPr/>
        </p:nvSpPr>
        <p:spPr>
          <a:xfrm>
            <a:off x="797311" y="3280459"/>
            <a:ext cx="1049700" cy="98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7200" u="none" cap="none" strike="noStrike">
                <a:solidFill>
                  <a:srgbClr val="3F3F3F"/>
                </a:solidFill>
                <a:latin typeface="Hind"/>
                <a:ea typeface="Hind"/>
                <a:cs typeface="Hind"/>
                <a:sym typeface="Hind"/>
              </a:rPr>
              <a:t>2.</a:t>
            </a:r>
            <a:endParaRPr b="0" i="0" sz="1400" u="none" cap="none" strike="noStrike">
              <a:solidFill>
                <a:srgbClr val="000000"/>
              </a:solidFill>
              <a:latin typeface="Arial"/>
              <a:ea typeface="Arial"/>
              <a:cs typeface="Arial"/>
              <a:sym typeface="Arial"/>
            </a:endParaRPr>
          </a:p>
        </p:txBody>
      </p:sp>
      <p:sp>
        <p:nvSpPr>
          <p:cNvPr id="95" name="Google Shape;95;p1"/>
          <p:cNvSpPr/>
          <p:nvPr/>
        </p:nvSpPr>
        <p:spPr>
          <a:xfrm>
            <a:off x="2533217" y="3740659"/>
            <a:ext cx="48222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595959"/>
                </a:solidFill>
                <a:latin typeface="Helvetica Neue"/>
                <a:ea typeface="Helvetica Neue"/>
                <a:cs typeface="Helvetica Neue"/>
                <a:sym typeface="Helvetica Neue"/>
              </a:rPr>
              <a:t>Open </a:t>
            </a:r>
            <a:r>
              <a:rPr b="1" i="0" lang="en" sz="1400" u="none" cap="none" strike="noStrike">
                <a:solidFill>
                  <a:srgbClr val="595959"/>
                </a:solidFill>
                <a:latin typeface="Helvetica Neue"/>
                <a:ea typeface="Helvetica Neue"/>
                <a:cs typeface="Helvetica Neue"/>
                <a:sym typeface="Helvetica Neue"/>
              </a:rPr>
              <a:t>Terminal (</a:t>
            </a:r>
            <a:r>
              <a:rPr b="0" i="0" lang="en" sz="1400" u="none" cap="none" strike="noStrike">
                <a:solidFill>
                  <a:srgbClr val="595959"/>
                </a:solidFill>
                <a:latin typeface="Helvetica Neue"/>
                <a:ea typeface="Helvetica Neue"/>
                <a:cs typeface="Helvetica Neue"/>
                <a:sym typeface="Helvetica Neue"/>
              </a:rPr>
              <a:t>MacOS</a:t>
            </a:r>
            <a:r>
              <a:rPr b="1" i="0" lang="en" sz="1400" u="none" cap="none" strike="noStrike">
                <a:solidFill>
                  <a:srgbClr val="595959"/>
                </a:solidFill>
                <a:latin typeface="Helvetica Neue"/>
                <a:ea typeface="Helvetica Neue"/>
                <a:cs typeface="Helvetica Neue"/>
                <a:sym typeface="Helvetica Neue"/>
              </a:rPr>
              <a:t>) / Command Prompt (</a:t>
            </a:r>
            <a:r>
              <a:rPr b="0" i="0" lang="en" sz="1400" u="none" cap="none" strike="noStrike">
                <a:solidFill>
                  <a:srgbClr val="595959"/>
                </a:solidFill>
                <a:latin typeface="Helvetica Neue"/>
                <a:ea typeface="Helvetica Neue"/>
                <a:cs typeface="Helvetica Neue"/>
                <a:sym typeface="Helvetica Neue"/>
              </a:rPr>
              <a:t>Windows</a:t>
            </a:r>
            <a:r>
              <a:rPr b="1" i="0" lang="en" sz="1400" u="none" cap="none" strike="noStrike">
                <a:solidFill>
                  <a:srgbClr val="595959"/>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595959"/>
                </a:solidFill>
                <a:latin typeface="Helvetica Neue"/>
                <a:ea typeface="Helvetica Neue"/>
                <a:cs typeface="Helvetica Neue"/>
                <a:sym typeface="Helvetica Neue"/>
              </a:rPr>
              <a:t>Type and enter: </a:t>
            </a:r>
            <a:r>
              <a:rPr b="0" i="0" lang="en" sz="1400" u="none" cap="none" strike="noStrike">
                <a:solidFill>
                  <a:srgbClr val="595959"/>
                </a:solidFill>
                <a:latin typeface="Arial"/>
                <a:ea typeface="Arial"/>
                <a:cs typeface="Arial"/>
                <a:sym typeface="Arial"/>
              </a:rPr>
              <a:t>jupyter notebook</a:t>
            </a:r>
            <a:endParaRPr b="1" i="0" sz="1400" u="none" cap="none" strike="noStrike">
              <a:solidFill>
                <a:srgbClr val="595959"/>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idx="4294967295" type="ctrTitle"/>
          </p:nvPr>
        </p:nvSpPr>
        <p:spPr>
          <a:xfrm>
            <a:off x="1018498" y="1818809"/>
            <a:ext cx="7105650" cy="582613"/>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2400" u="none" cap="none" strike="noStrike">
                <a:solidFill>
                  <a:srgbClr val="613CB0"/>
                </a:solidFill>
                <a:latin typeface="Helvetica Neue"/>
                <a:ea typeface="Helvetica Neue"/>
                <a:cs typeface="Helvetica Neue"/>
                <a:sym typeface="Helvetica Neue"/>
              </a:rPr>
              <a:t>Lecture 1: Introduction</a:t>
            </a:r>
            <a:endParaRPr b="1" i="0" sz="2400" u="none" cap="none" strike="noStrike">
              <a:solidFill>
                <a:srgbClr val="613CB0"/>
              </a:solidFill>
              <a:latin typeface="Hind"/>
              <a:ea typeface="Hind"/>
              <a:cs typeface="Hind"/>
              <a:sym typeface="Hind"/>
            </a:endParaRPr>
          </a:p>
        </p:txBody>
      </p:sp>
      <p:sp>
        <p:nvSpPr>
          <p:cNvPr id="101" name="Google Shape;101;p3"/>
          <p:cNvSpPr txBox="1"/>
          <p:nvPr/>
        </p:nvSpPr>
        <p:spPr>
          <a:xfrm>
            <a:off x="1018498" y="2401422"/>
            <a:ext cx="7107000" cy="344541"/>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1200" u="none" cap="none" strike="noStrike">
                <a:solidFill>
                  <a:srgbClr val="3F3F3F"/>
                </a:solidFill>
                <a:latin typeface="Helvetica Neue"/>
                <a:ea typeface="Helvetica Neue"/>
                <a:cs typeface="Helvetica Neue"/>
                <a:sym typeface="Helvetica Neue"/>
              </a:rPr>
              <a:t>INFO 1998: Introduction to Machine Learning</a:t>
            </a:r>
            <a:endParaRPr b="0" i="0" sz="1400" u="none" cap="none" strike="noStrike">
              <a:solidFill>
                <a:srgbClr val="000000"/>
              </a:solidFill>
              <a:latin typeface="Arial"/>
              <a:ea typeface="Arial"/>
              <a:cs typeface="Arial"/>
              <a:sym typeface="Arial"/>
            </a:endParaRPr>
          </a:p>
        </p:txBody>
      </p:sp>
      <p:pic>
        <p:nvPicPr>
          <p:cNvPr descr="A black background with white text&#10;&#10;Description automatically generated" id="102" name="Google Shape;102;p3"/>
          <p:cNvPicPr preferRelativeResize="0"/>
          <p:nvPr/>
        </p:nvPicPr>
        <p:blipFill rotWithShape="1">
          <a:blip r:embed="rId3">
            <a:alphaModFix/>
          </a:blip>
          <a:srcRect b="0" l="0" r="0" t="0"/>
          <a:stretch/>
        </p:blipFill>
        <p:spPr>
          <a:xfrm>
            <a:off x="3012015" y="3987900"/>
            <a:ext cx="3119967" cy="90371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Agenda</a:t>
            </a:r>
            <a:endParaRPr i="0" sz="2400" u="none" cap="none" strike="noStrike">
              <a:solidFill>
                <a:srgbClr val="613CB0"/>
              </a:solidFill>
              <a:latin typeface="Hind"/>
              <a:ea typeface="Hind"/>
              <a:cs typeface="Hind"/>
              <a:sym typeface="Hind"/>
            </a:endParaRPr>
          </a:p>
        </p:txBody>
      </p:sp>
      <p:sp>
        <p:nvSpPr>
          <p:cNvPr id="108" name="Google Shape;108;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Arial"/>
              <a:buAutoNum type="arabicPeriod"/>
            </a:pPr>
            <a:r>
              <a:rPr b="1" lang="en" sz="1600">
                <a:latin typeface="Helvetica Neue"/>
                <a:ea typeface="Helvetica Neue"/>
                <a:cs typeface="Helvetica Neue"/>
                <a:sym typeface="Helvetica Neue"/>
              </a:rPr>
              <a:t>Meet</a:t>
            </a:r>
            <a:r>
              <a:rPr b="1" lang="en"/>
              <a:t> CDS</a:t>
            </a:r>
            <a:r>
              <a:rPr lang="en" sz="1600">
                <a:latin typeface="Helvetica Neue"/>
                <a:ea typeface="Helvetica Neue"/>
                <a:cs typeface="Helvetica Neue"/>
                <a:sym typeface="Helvetica Neue"/>
              </a:rPr>
              <a:t>: Who are we?</a:t>
            </a:r>
            <a:endParaRPr/>
          </a:p>
          <a:p>
            <a:pPr indent="-342900" lvl="0" marL="457200" rtl="0" algn="l">
              <a:lnSpc>
                <a:spcPct val="115000"/>
              </a:lnSpc>
              <a:spcBef>
                <a:spcPts val="0"/>
              </a:spcBef>
              <a:spcAft>
                <a:spcPts val="0"/>
              </a:spcAft>
              <a:buClr>
                <a:schemeClr val="dk1"/>
              </a:buClr>
              <a:buSzPts val="1800"/>
              <a:buFont typeface="Arial"/>
              <a:buAutoNum type="arabicPeriod"/>
            </a:pPr>
            <a:r>
              <a:rPr b="1" lang="en" sz="1600">
                <a:latin typeface="Helvetica Neue"/>
                <a:ea typeface="Helvetica Neue"/>
                <a:cs typeface="Helvetica Neue"/>
                <a:sym typeface="Helvetica Neue"/>
              </a:rPr>
              <a:t>Course Syllabus</a:t>
            </a:r>
            <a:r>
              <a:rPr lang="en" sz="1600">
                <a:latin typeface="Helvetica Neue"/>
                <a:ea typeface="Helvetica Neue"/>
                <a:cs typeface="Helvetica Neue"/>
                <a:sym typeface="Helvetica Neue"/>
              </a:rPr>
              <a:t>: What will we learn?</a:t>
            </a:r>
            <a:endParaRPr sz="1600">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AutoNum type="arabicPeriod"/>
            </a:pPr>
            <a:r>
              <a:rPr b="1" lang="en" sz="1600">
                <a:latin typeface="Helvetica Neue"/>
                <a:ea typeface="Helvetica Neue"/>
                <a:cs typeface="Helvetica Neue"/>
                <a:sym typeface="Helvetica Neue"/>
              </a:rPr>
              <a:t>Introduction</a:t>
            </a:r>
            <a:r>
              <a:rPr lang="en" sz="1600">
                <a:latin typeface="Helvetica Neue"/>
                <a:ea typeface="Helvetica Neue"/>
                <a:cs typeface="Helvetica Neue"/>
                <a:sym typeface="Helvetica Neue"/>
              </a:rPr>
              <a:t>: What is Data Science / Machine Learning?</a:t>
            </a:r>
            <a:endParaRPr sz="1600">
              <a:latin typeface="Helvetica Neue"/>
              <a:ea typeface="Helvetica Neue"/>
              <a:cs typeface="Helvetica Neue"/>
              <a:sym typeface="Helvetica Neue"/>
            </a:endParaRPr>
          </a:p>
          <a:p>
            <a:pPr indent="-342900" lvl="0" marL="457200" rtl="0" algn="l">
              <a:lnSpc>
                <a:spcPct val="115000"/>
              </a:lnSpc>
              <a:spcBef>
                <a:spcPts val="0"/>
              </a:spcBef>
              <a:spcAft>
                <a:spcPts val="0"/>
              </a:spcAft>
              <a:buClr>
                <a:schemeClr val="dk1"/>
              </a:buClr>
              <a:buSzPts val="1800"/>
              <a:buFont typeface="Arial"/>
              <a:buAutoNum type="arabicPeriod"/>
            </a:pPr>
            <a:r>
              <a:rPr b="1" lang="en" sz="1600">
                <a:latin typeface="Helvetica Neue"/>
                <a:ea typeface="Helvetica Neue"/>
                <a:cs typeface="Helvetica Neue"/>
                <a:sym typeface="Helvetica Neue"/>
              </a:rPr>
              <a:t>Course Logistics</a:t>
            </a:r>
            <a:r>
              <a:rPr lang="en" sz="1600">
                <a:latin typeface="Helvetica Neue"/>
                <a:ea typeface="Helvetica Neue"/>
                <a:cs typeface="Helvetica Neue"/>
                <a:sym typeface="Helvetica Neue"/>
              </a:rPr>
              <a:t>: How will we learn?</a:t>
            </a:r>
            <a:endParaRPr/>
          </a:p>
          <a:p>
            <a:pPr indent="-342900" lvl="0" marL="457200" rtl="0" algn="l">
              <a:lnSpc>
                <a:spcPct val="115000"/>
              </a:lnSpc>
              <a:spcBef>
                <a:spcPts val="0"/>
              </a:spcBef>
              <a:spcAft>
                <a:spcPts val="0"/>
              </a:spcAft>
              <a:buClr>
                <a:schemeClr val="dk1"/>
              </a:buClr>
              <a:buSzPts val="1800"/>
              <a:buFont typeface="Arial"/>
              <a:buAutoNum type="arabicPeriod"/>
            </a:pPr>
            <a:r>
              <a:rPr b="1" lang="en" sz="1600">
                <a:latin typeface="Helvetica Neue"/>
                <a:ea typeface="Helvetica Neue"/>
                <a:cs typeface="Helvetica Neue"/>
                <a:sym typeface="Helvetica Neue"/>
              </a:rPr>
              <a:t>Getting Started</a:t>
            </a:r>
            <a:r>
              <a:rPr lang="en" sz="1600">
                <a:latin typeface="Helvetica Neue"/>
                <a:ea typeface="Helvetica Neue"/>
                <a:cs typeface="Helvetica Neue"/>
                <a:sym typeface="Helvetica Neue"/>
              </a:rPr>
              <a:t>: Software</a:t>
            </a:r>
            <a:endParaRPr b="1" sz="1600">
              <a:latin typeface="Helvetica Neue"/>
              <a:ea typeface="Helvetica Neue"/>
              <a:cs typeface="Helvetica Neue"/>
              <a:sym typeface="Helvetica Neue"/>
            </a:endParaRPr>
          </a:p>
          <a:p>
            <a:pPr indent="-228600" lvl="0" marL="457200" rtl="0" algn="l">
              <a:lnSpc>
                <a:spcPct val="115000"/>
              </a:lnSpc>
              <a:spcBef>
                <a:spcPts val="0"/>
              </a:spcBef>
              <a:spcAft>
                <a:spcPts val="0"/>
              </a:spcAft>
              <a:buClr>
                <a:schemeClr val="dk1"/>
              </a:buClr>
              <a:buSzPts val="1800"/>
              <a:buFont typeface="Arial"/>
              <a:buNone/>
            </a:pPr>
            <a:r>
              <a:t/>
            </a:r>
            <a:endParaRPr sz="1600">
              <a:latin typeface="Helvetica Neue"/>
              <a:ea typeface="Helvetica Neue"/>
              <a:cs typeface="Helvetica Neue"/>
              <a:sym typeface="Helvetica Neue"/>
            </a:endParaRPr>
          </a:p>
          <a:p>
            <a:pPr indent="-228600" lvl="0" marL="457200" rtl="0" algn="l">
              <a:lnSpc>
                <a:spcPct val="115000"/>
              </a:lnSpc>
              <a:spcBef>
                <a:spcPts val="0"/>
              </a:spcBef>
              <a:spcAft>
                <a:spcPts val="0"/>
              </a:spcAft>
              <a:buClr>
                <a:schemeClr val="dk1"/>
              </a:buClr>
              <a:buSzPts val="1800"/>
              <a:buFont typeface="Arial"/>
              <a:buNone/>
            </a:pPr>
            <a:r>
              <a:t/>
            </a:r>
            <a:endParaRPr sz="1600">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ph type="title"/>
          </p:nvPr>
        </p:nvSpPr>
        <p:spPr>
          <a:xfrm>
            <a:off x="311700" y="445025"/>
            <a:ext cx="24441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Who are we?</a:t>
            </a:r>
            <a:endParaRPr i="0" sz="2400" u="none" cap="none" strike="noStrike">
              <a:solidFill>
                <a:srgbClr val="613CB0"/>
              </a:solidFill>
              <a:latin typeface="Hind"/>
              <a:ea typeface="Hind"/>
              <a:cs typeface="Hind"/>
              <a:sym typeface="Hind"/>
            </a:endParaRPr>
          </a:p>
        </p:txBody>
      </p:sp>
      <p:sp>
        <p:nvSpPr>
          <p:cNvPr id="114" name="Google Shape;114;p5"/>
          <p:cNvSpPr/>
          <p:nvPr/>
        </p:nvSpPr>
        <p:spPr>
          <a:xfrm>
            <a:off x="534900" y="1123950"/>
            <a:ext cx="8074200" cy="950700"/>
          </a:xfrm>
          <a:prstGeom prst="roundRect">
            <a:avLst>
              <a:gd fmla="val 16667" name="adj"/>
            </a:avLst>
          </a:prstGeom>
          <a:solidFill>
            <a:srgbClr val="595A89"/>
          </a:solidFill>
          <a:ln cap="flat" cmpd="sng" w="19050">
            <a:solidFill>
              <a:srgbClr val="595A8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chemeClr val="lt1"/>
                </a:solidFill>
                <a:latin typeface="Helvetica Neue"/>
                <a:ea typeface="Helvetica Neue"/>
                <a:cs typeface="Helvetica Neue"/>
                <a:sym typeface="Helvetica Neue"/>
              </a:rPr>
              <a:t>Cornell Data Science</a:t>
            </a:r>
            <a:endParaRPr b="1" i="0" sz="2400" u="none" cap="none" strike="noStrike">
              <a:solidFill>
                <a:schemeClr val="lt1"/>
              </a:solidFill>
              <a:latin typeface="Helvetica Neue"/>
              <a:ea typeface="Helvetica Neue"/>
              <a:cs typeface="Helvetica Neue"/>
              <a:sym typeface="Helvetica Neue"/>
            </a:endParaRPr>
          </a:p>
        </p:txBody>
      </p:sp>
      <p:sp>
        <p:nvSpPr>
          <p:cNvPr id="115" name="Google Shape;115;p5"/>
          <p:cNvSpPr/>
          <p:nvPr/>
        </p:nvSpPr>
        <p:spPr>
          <a:xfrm>
            <a:off x="5550375" y="2278550"/>
            <a:ext cx="3058800" cy="471600"/>
          </a:xfrm>
          <a:prstGeom prst="roundRect">
            <a:avLst>
              <a:gd fmla="val 16667" name="adj"/>
            </a:avLst>
          </a:prstGeom>
          <a:solidFill>
            <a:srgbClr val="3F3F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000" u="none" cap="none" strike="noStrike">
                <a:solidFill>
                  <a:schemeClr val="lt1"/>
                </a:solidFill>
                <a:latin typeface="Helvetica Neue"/>
                <a:ea typeface="Helvetica Neue"/>
                <a:cs typeface="Helvetica Neue"/>
                <a:sym typeface="Helvetica Neue"/>
              </a:rPr>
              <a:t>Community Outreach</a:t>
            </a:r>
            <a:endParaRPr b="0" i="0" sz="2000" u="none" cap="none" strike="noStrike">
              <a:solidFill>
                <a:schemeClr val="lt1"/>
              </a:solidFill>
              <a:latin typeface="Helvetica Neue"/>
              <a:ea typeface="Helvetica Neue"/>
              <a:cs typeface="Helvetica Neue"/>
              <a:sym typeface="Helvetica Neue"/>
            </a:endParaRPr>
          </a:p>
        </p:txBody>
      </p:sp>
      <p:sp>
        <p:nvSpPr>
          <p:cNvPr id="116" name="Google Shape;116;p5"/>
          <p:cNvSpPr/>
          <p:nvPr/>
        </p:nvSpPr>
        <p:spPr>
          <a:xfrm>
            <a:off x="534900" y="2278550"/>
            <a:ext cx="4777500" cy="471600"/>
          </a:xfrm>
          <a:prstGeom prst="roundRect">
            <a:avLst>
              <a:gd fmla="val 16667" name="adj"/>
            </a:avLst>
          </a:prstGeom>
          <a:solidFill>
            <a:srgbClr val="3F3F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000" u="none" cap="none" strike="noStrike">
                <a:solidFill>
                  <a:schemeClr val="lt1"/>
                </a:solidFill>
                <a:latin typeface="Helvetica Neue"/>
                <a:ea typeface="Helvetica Neue"/>
                <a:cs typeface="Helvetica Neue"/>
                <a:sym typeface="Helvetica Neue"/>
              </a:rPr>
              <a:t>Project Team</a:t>
            </a:r>
            <a:endParaRPr b="0" i="0" sz="2000" u="none" cap="none" strike="noStrike">
              <a:solidFill>
                <a:schemeClr val="lt1"/>
              </a:solidFill>
              <a:latin typeface="Helvetica Neue"/>
              <a:ea typeface="Helvetica Neue"/>
              <a:cs typeface="Helvetica Neue"/>
              <a:sym typeface="Helvetica Neue"/>
            </a:endParaRPr>
          </a:p>
        </p:txBody>
      </p:sp>
      <p:sp>
        <p:nvSpPr>
          <p:cNvPr id="117" name="Google Shape;117;p5"/>
          <p:cNvSpPr/>
          <p:nvPr/>
        </p:nvSpPr>
        <p:spPr>
          <a:xfrm>
            <a:off x="534900" y="2834451"/>
            <a:ext cx="4777500" cy="306300"/>
          </a:xfrm>
          <a:prstGeom prst="roundRect">
            <a:avLst>
              <a:gd fmla="val 16667" name="adj"/>
            </a:avLst>
          </a:prstGeom>
          <a:noFill/>
          <a:ln cap="flat" cmpd="sng" w="1905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Data Science</a:t>
            </a:r>
            <a:endParaRPr b="0" i="0" sz="1600" u="none" cap="none" strike="noStrike">
              <a:solidFill>
                <a:schemeClr val="dk2"/>
              </a:solidFill>
              <a:latin typeface="Helvetica Neue"/>
              <a:ea typeface="Helvetica Neue"/>
              <a:cs typeface="Helvetica Neue"/>
              <a:sym typeface="Helvetica Neue"/>
            </a:endParaRPr>
          </a:p>
        </p:txBody>
      </p:sp>
      <p:sp>
        <p:nvSpPr>
          <p:cNvPr id="118" name="Google Shape;118;p5"/>
          <p:cNvSpPr/>
          <p:nvPr/>
        </p:nvSpPr>
        <p:spPr>
          <a:xfrm>
            <a:off x="534900" y="3206151"/>
            <a:ext cx="4777500" cy="306300"/>
          </a:xfrm>
          <a:prstGeom prst="roundRect">
            <a:avLst>
              <a:gd fmla="val 16667" name="adj"/>
            </a:avLst>
          </a:prstGeom>
          <a:noFill/>
          <a:ln cap="flat" cmpd="sng" w="1905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Machine Learning Engineering</a:t>
            </a:r>
            <a:endParaRPr b="0" i="0" sz="1600" u="none" cap="none" strike="noStrike">
              <a:solidFill>
                <a:schemeClr val="dk2"/>
              </a:solidFill>
              <a:latin typeface="Helvetica Neue"/>
              <a:ea typeface="Helvetica Neue"/>
              <a:cs typeface="Helvetica Neue"/>
              <a:sym typeface="Helvetica Neue"/>
            </a:endParaRPr>
          </a:p>
        </p:txBody>
      </p:sp>
      <p:sp>
        <p:nvSpPr>
          <p:cNvPr id="119" name="Google Shape;119;p5"/>
          <p:cNvSpPr/>
          <p:nvPr/>
        </p:nvSpPr>
        <p:spPr>
          <a:xfrm>
            <a:off x="534900" y="3575897"/>
            <a:ext cx="4777500" cy="306300"/>
          </a:xfrm>
          <a:prstGeom prst="roundRect">
            <a:avLst>
              <a:gd fmla="val 16667" name="adj"/>
            </a:avLst>
          </a:prstGeom>
          <a:noFill/>
          <a:ln cap="flat" cmpd="sng" w="1905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Data Engineering</a:t>
            </a:r>
            <a:endParaRPr b="0" i="0" sz="1600" u="none" cap="none" strike="noStrike">
              <a:solidFill>
                <a:schemeClr val="dk2"/>
              </a:solidFill>
              <a:latin typeface="Helvetica Neue"/>
              <a:ea typeface="Helvetica Neue"/>
              <a:cs typeface="Helvetica Neue"/>
              <a:sym typeface="Helvetica Neue"/>
            </a:endParaRPr>
          </a:p>
        </p:txBody>
      </p:sp>
      <p:sp>
        <p:nvSpPr>
          <p:cNvPr id="120" name="Google Shape;120;p5"/>
          <p:cNvSpPr/>
          <p:nvPr/>
        </p:nvSpPr>
        <p:spPr>
          <a:xfrm>
            <a:off x="534900" y="3950300"/>
            <a:ext cx="4777500" cy="306300"/>
          </a:xfrm>
          <a:prstGeom prst="roundRect">
            <a:avLst>
              <a:gd fmla="val 16667" name="adj"/>
            </a:avLst>
          </a:prstGeom>
          <a:noFill/>
          <a:ln cap="flat" cmpd="sng" w="1905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Quantitative Finance</a:t>
            </a:r>
            <a:endParaRPr b="0" i="0" sz="1600" u="none" cap="none" strike="noStrike">
              <a:solidFill>
                <a:schemeClr val="dk2"/>
              </a:solidFill>
              <a:latin typeface="Helvetica Neue"/>
              <a:ea typeface="Helvetica Neue"/>
              <a:cs typeface="Helvetica Neue"/>
              <a:sym typeface="Helvetica Neue"/>
            </a:endParaRPr>
          </a:p>
        </p:txBody>
      </p:sp>
      <p:sp>
        <p:nvSpPr>
          <p:cNvPr id="121" name="Google Shape;121;p5"/>
          <p:cNvSpPr/>
          <p:nvPr/>
        </p:nvSpPr>
        <p:spPr>
          <a:xfrm>
            <a:off x="6221100" y="2826236"/>
            <a:ext cx="1717200" cy="306300"/>
          </a:xfrm>
          <a:prstGeom prst="roundRect">
            <a:avLst>
              <a:gd fmla="val 16667" name="adj"/>
            </a:avLst>
          </a:prstGeom>
          <a:noFill/>
          <a:ln cap="flat" cmpd="sng" w="19050">
            <a:solidFill>
              <a:srgbClr val="7F7F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INFO 1998</a:t>
            </a:r>
            <a:endParaRPr b="0" i="0" sz="1600" u="none" cap="none" strike="noStrike">
              <a:solidFill>
                <a:schemeClr val="dk2"/>
              </a:solidFill>
              <a:latin typeface="Helvetica Neue"/>
              <a:ea typeface="Helvetica Neue"/>
              <a:cs typeface="Helvetica Neue"/>
              <a:sym typeface="Helvetica Neue"/>
            </a:endParaRPr>
          </a:p>
        </p:txBody>
      </p:sp>
      <p:sp>
        <p:nvSpPr>
          <p:cNvPr id="122" name="Google Shape;122;p5"/>
          <p:cNvSpPr/>
          <p:nvPr/>
        </p:nvSpPr>
        <p:spPr>
          <a:xfrm>
            <a:off x="6221100" y="3194896"/>
            <a:ext cx="1717200" cy="306300"/>
          </a:xfrm>
          <a:prstGeom prst="roundRect">
            <a:avLst>
              <a:gd fmla="val 16667" name="adj"/>
            </a:avLst>
          </a:prstGeom>
          <a:noFill/>
          <a:ln cap="flat" cmpd="sng" w="19050">
            <a:solidFill>
              <a:srgbClr val="7F7F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Tech Talks</a:t>
            </a:r>
            <a:endParaRPr b="0" i="0" sz="16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6"/>
          <p:cNvSpPr txBox="1"/>
          <p:nvPr>
            <p:ph type="title"/>
          </p:nvPr>
        </p:nvSpPr>
        <p:spPr>
          <a:xfrm>
            <a:off x="311700" y="445025"/>
            <a:ext cx="32652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a:t>Nice to meet you!</a:t>
            </a:r>
            <a:endParaRPr i="0" sz="2400" u="none" cap="none" strike="noStrike">
              <a:solidFill>
                <a:srgbClr val="613CB0"/>
              </a:solidFill>
              <a:latin typeface="Hind"/>
              <a:ea typeface="Hind"/>
              <a:cs typeface="Hind"/>
              <a:sym typeface="Hind"/>
            </a:endParaRPr>
          </a:p>
        </p:txBody>
      </p:sp>
      <p:sp>
        <p:nvSpPr>
          <p:cNvPr id="128" name="Google Shape;128;p6"/>
          <p:cNvSpPr/>
          <p:nvPr/>
        </p:nvSpPr>
        <p:spPr>
          <a:xfrm>
            <a:off x="311700" y="863100"/>
            <a:ext cx="24024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1" lang="en" sz="1100" u="none" cap="none" strike="noStrike">
                <a:solidFill>
                  <a:srgbClr val="595959"/>
                </a:solidFill>
                <a:latin typeface="Helvetica Neue"/>
                <a:ea typeface="Helvetica Neue"/>
                <a:cs typeface="Helvetica Neue"/>
                <a:sym typeface="Helvetica Neue"/>
              </a:rPr>
              <a:t>Who you</a:t>
            </a:r>
            <a:r>
              <a:rPr i="1" lang="en" sz="1100">
                <a:solidFill>
                  <a:srgbClr val="595959"/>
                </a:solidFill>
                <a:latin typeface="Helvetica Neue"/>
                <a:ea typeface="Helvetica Neue"/>
                <a:cs typeface="Helvetica Neue"/>
                <a:sym typeface="Helvetica Neue"/>
              </a:rPr>
              <a:t> have to deal </a:t>
            </a:r>
            <a:r>
              <a:rPr b="0" i="1" lang="en" sz="1100" u="none" cap="none" strike="noStrike">
                <a:solidFill>
                  <a:srgbClr val="595959"/>
                </a:solidFill>
                <a:latin typeface="Helvetica Neue"/>
                <a:ea typeface="Helvetica Neue"/>
                <a:cs typeface="Helvetica Neue"/>
                <a:sym typeface="Helvetica Neue"/>
              </a:rPr>
              <a:t>with</a:t>
            </a:r>
            <a:endParaRPr b="0" i="0" sz="1100" u="none" cap="none" strike="noStrike">
              <a:solidFill>
                <a:srgbClr val="000000"/>
              </a:solidFill>
              <a:latin typeface="Arial"/>
              <a:ea typeface="Arial"/>
              <a:cs typeface="Arial"/>
              <a:sym typeface="Arial"/>
            </a:endParaRPr>
          </a:p>
        </p:txBody>
      </p:sp>
      <p:sp>
        <p:nvSpPr>
          <p:cNvPr id="129" name="Google Shape;129;p6"/>
          <p:cNvSpPr/>
          <p:nvPr/>
        </p:nvSpPr>
        <p:spPr>
          <a:xfrm>
            <a:off x="410406" y="2081723"/>
            <a:ext cx="23037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
                <a:solidFill>
                  <a:srgbClr val="3F3F3F"/>
                </a:solidFill>
                <a:latin typeface="Helvetica Neue"/>
                <a:ea typeface="Helvetica Neue"/>
                <a:cs typeface="Helvetica Neue"/>
                <a:sym typeface="Helvetica Neue"/>
              </a:rPr>
              <a:t>Laerdon Kim</a:t>
            </a:r>
            <a:endParaRPr b="1" i="0" sz="1400" u="none" cap="none" strike="noStrike">
              <a:solidFill>
                <a:srgbClr val="3F3F3F"/>
              </a:solidFill>
              <a:latin typeface="Arial"/>
              <a:ea typeface="Arial"/>
              <a:cs typeface="Arial"/>
              <a:sym typeface="Arial"/>
            </a:endParaRPr>
          </a:p>
        </p:txBody>
      </p:sp>
      <p:sp>
        <p:nvSpPr>
          <p:cNvPr id="130" name="Google Shape;130;p6"/>
          <p:cNvSpPr/>
          <p:nvPr/>
        </p:nvSpPr>
        <p:spPr>
          <a:xfrm>
            <a:off x="410413" y="2331038"/>
            <a:ext cx="13533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CS ‘28</a:t>
            </a:r>
            <a:endParaRPr b="0" i="0" sz="1200" u="none" cap="none" strike="noStrike">
              <a:solidFill>
                <a:srgbClr val="595959"/>
              </a:solidFill>
              <a:latin typeface="Arial"/>
              <a:ea typeface="Arial"/>
              <a:cs typeface="Arial"/>
              <a:sym typeface="Arial"/>
            </a:endParaRPr>
          </a:p>
        </p:txBody>
      </p:sp>
      <p:sp>
        <p:nvSpPr>
          <p:cNvPr id="131" name="Google Shape;131;p6"/>
          <p:cNvSpPr/>
          <p:nvPr/>
        </p:nvSpPr>
        <p:spPr>
          <a:xfrm>
            <a:off x="410414" y="2569163"/>
            <a:ext cx="17772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lang="en" sz="1200">
                <a:solidFill>
                  <a:srgbClr val="595959"/>
                </a:solidFill>
                <a:latin typeface="Helvetica Neue"/>
                <a:ea typeface="Helvetica Neue"/>
                <a:cs typeface="Helvetica Neue"/>
                <a:sym typeface="Helvetica Neue"/>
              </a:rPr>
              <a:t>lyk25@cornell.edu</a:t>
            </a:r>
            <a:endParaRPr b="0" i="0" sz="1200" u="none" cap="none" strike="noStrike">
              <a:solidFill>
                <a:srgbClr val="595959"/>
              </a:solidFill>
              <a:latin typeface="Arial"/>
              <a:ea typeface="Arial"/>
              <a:cs typeface="Arial"/>
              <a:sym typeface="Arial"/>
            </a:endParaRPr>
          </a:p>
        </p:txBody>
      </p:sp>
      <p:sp>
        <p:nvSpPr>
          <p:cNvPr id="132" name="Google Shape;132;p6"/>
          <p:cNvSpPr txBox="1"/>
          <p:nvPr/>
        </p:nvSpPr>
        <p:spPr>
          <a:xfrm>
            <a:off x="2449275" y="1507025"/>
            <a:ext cx="62730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Helvetica Neue"/>
                <a:ea typeface="Helvetica Neue"/>
                <a:cs typeface="Helvetica Neue"/>
                <a:sym typeface="Helvetica Neue"/>
              </a:rPr>
              <a:t>You can talk to me any time about:</a:t>
            </a:r>
            <a:endParaRPr sz="2400">
              <a:solidFill>
                <a:schemeClr val="dk1"/>
              </a:solidFill>
              <a:latin typeface="Helvetica Neue"/>
              <a:ea typeface="Helvetica Neue"/>
              <a:cs typeface="Helvetica Neue"/>
              <a:sym typeface="Helvetica Neue"/>
            </a:endParaRPr>
          </a:p>
          <a:p>
            <a:pPr indent="-381000" lvl="0" marL="457200" rtl="0" algn="l">
              <a:spcBef>
                <a:spcPts val="0"/>
              </a:spcBef>
              <a:spcAft>
                <a:spcPts val="0"/>
              </a:spcAft>
              <a:buClr>
                <a:schemeClr val="dk1"/>
              </a:buClr>
              <a:buSzPts val="2400"/>
              <a:buFont typeface="Helvetica Neue"/>
              <a:buChar char="●"/>
            </a:pPr>
            <a:r>
              <a:rPr lang="en" sz="2400">
                <a:solidFill>
                  <a:schemeClr val="dk1"/>
                </a:solidFill>
                <a:latin typeface="Helvetica Neue"/>
                <a:ea typeface="Helvetica Neue"/>
                <a:cs typeface="Helvetica Neue"/>
                <a:sym typeface="Helvetica Neue"/>
              </a:rPr>
              <a:t>Cooking</a:t>
            </a:r>
            <a:endParaRPr sz="2400">
              <a:solidFill>
                <a:schemeClr val="dk1"/>
              </a:solidFill>
              <a:latin typeface="Helvetica Neue"/>
              <a:ea typeface="Helvetica Neue"/>
              <a:cs typeface="Helvetica Neue"/>
              <a:sym typeface="Helvetica Neue"/>
            </a:endParaRPr>
          </a:p>
          <a:p>
            <a:pPr indent="-381000" lvl="0" marL="457200" rtl="0" algn="l">
              <a:spcBef>
                <a:spcPts val="0"/>
              </a:spcBef>
              <a:spcAft>
                <a:spcPts val="0"/>
              </a:spcAft>
              <a:buClr>
                <a:schemeClr val="dk1"/>
              </a:buClr>
              <a:buSzPts val="2400"/>
              <a:buFont typeface="Helvetica Neue"/>
              <a:buChar char="●"/>
            </a:pPr>
            <a:r>
              <a:rPr lang="en" sz="2400">
                <a:solidFill>
                  <a:schemeClr val="dk1"/>
                </a:solidFill>
                <a:latin typeface="Helvetica Neue"/>
                <a:ea typeface="Helvetica Neue"/>
                <a:cs typeface="Helvetica Neue"/>
                <a:sym typeface="Helvetica Neue"/>
              </a:rPr>
              <a:t>Research</a:t>
            </a:r>
            <a:endParaRPr sz="2400">
              <a:solidFill>
                <a:schemeClr val="dk1"/>
              </a:solidFill>
              <a:latin typeface="Helvetica Neue"/>
              <a:ea typeface="Helvetica Neue"/>
              <a:cs typeface="Helvetica Neue"/>
              <a:sym typeface="Helvetica Neue"/>
            </a:endParaRPr>
          </a:p>
          <a:p>
            <a:pPr indent="-381000" lvl="0" marL="457200" rtl="0" algn="l">
              <a:spcBef>
                <a:spcPts val="0"/>
              </a:spcBef>
              <a:spcAft>
                <a:spcPts val="0"/>
              </a:spcAft>
              <a:buClr>
                <a:schemeClr val="dk1"/>
              </a:buClr>
              <a:buSzPts val="2400"/>
              <a:buFont typeface="Helvetica Neue"/>
              <a:buChar char="●"/>
            </a:pPr>
            <a:r>
              <a:rPr lang="en" sz="2400">
                <a:solidFill>
                  <a:schemeClr val="dk1"/>
                </a:solidFill>
                <a:latin typeface="Helvetica Neue"/>
                <a:ea typeface="Helvetica Neue"/>
                <a:cs typeface="Helvetica Neue"/>
                <a:sym typeface="Helvetica Neue"/>
              </a:rPr>
              <a:t>Multi-turn interactions in {human,LLM} x {human,LLM} communication</a:t>
            </a:r>
            <a:endParaRPr sz="2400">
              <a:solidFill>
                <a:schemeClr val="dk1"/>
              </a:solidFill>
              <a:latin typeface="Helvetica Neue"/>
              <a:ea typeface="Helvetica Neue"/>
              <a:cs typeface="Helvetica Neue"/>
              <a:sym typeface="Helvetica Neue"/>
            </a:endParaRPr>
          </a:p>
          <a:p>
            <a:pPr indent="-381000" lvl="0" marL="457200" rtl="0" algn="l">
              <a:spcBef>
                <a:spcPts val="0"/>
              </a:spcBef>
              <a:spcAft>
                <a:spcPts val="0"/>
              </a:spcAft>
              <a:buClr>
                <a:schemeClr val="dk1"/>
              </a:buClr>
              <a:buSzPts val="2400"/>
              <a:buFont typeface="Helvetica Neue"/>
              <a:buChar char="●"/>
            </a:pPr>
            <a:r>
              <a:rPr lang="en" sz="2400">
                <a:solidFill>
                  <a:schemeClr val="dk1"/>
                </a:solidFill>
                <a:latin typeface="Helvetica Neue"/>
                <a:ea typeface="Helvetica Neue"/>
                <a:cs typeface="Helvetica Neue"/>
                <a:sym typeface="Helvetica Neue"/>
              </a:rPr>
              <a:t>This course!!!</a:t>
            </a:r>
            <a:endParaRPr sz="2400">
              <a:solidFill>
                <a:schemeClr val="dk1"/>
              </a:solidFill>
              <a:latin typeface="Helvetica Neue"/>
              <a:ea typeface="Helvetica Neue"/>
              <a:cs typeface="Helvetica Neue"/>
              <a:sym typeface="Helvetica Neue"/>
            </a:endParaRPr>
          </a:p>
        </p:txBody>
      </p:sp>
      <p:sp>
        <p:nvSpPr>
          <p:cNvPr id="133" name="Google Shape;133;p6"/>
          <p:cNvSpPr/>
          <p:nvPr/>
        </p:nvSpPr>
        <p:spPr>
          <a:xfrm>
            <a:off x="393312" y="2800188"/>
            <a:ext cx="22446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1" lang="en" sz="1100" u="none" cap="none" strike="noStrike">
                <a:solidFill>
                  <a:srgbClr val="595959"/>
                </a:solidFill>
                <a:latin typeface="Arial"/>
                <a:ea typeface="Arial"/>
                <a:cs typeface="Arial"/>
                <a:sym typeface="Arial"/>
              </a:rPr>
              <a:t>DS Subteam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txBox="1"/>
          <p:nvPr>
            <p:ph idx="1" type="body"/>
          </p:nvPr>
        </p:nvSpPr>
        <p:spPr>
          <a:xfrm>
            <a:off x="311700" y="1329267"/>
            <a:ext cx="8520600" cy="3239608"/>
          </a:xfrm>
          <a:prstGeom prst="rect">
            <a:avLst/>
          </a:prstGeom>
          <a:noFill/>
          <a:ln>
            <a:noFill/>
          </a:ln>
        </p:spPr>
        <p:txBody>
          <a:bodyPr anchorCtr="0" anchor="t" bIns="91425" lIns="91425" spcFirstLastPara="1" rIns="91425" wrap="square" tIns="91425">
            <a:normAutofit/>
          </a:bodyPr>
          <a:lstStyle/>
          <a:p>
            <a:pPr indent="-342896" lvl="0" marL="457200" rtl="0" algn="l">
              <a:lnSpc>
                <a:spcPct val="115000"/>
              </a:lnSpc>
              <a:spcBef>
                <a:spcPts val="0"/>
              </a:spcBef>
              <a:spcAft>
                <a:spcPts val="0"/>
              </a:spcAft>
              <a:buSzPts val="1800"/>
              <a:buChar char="•"/>
            </a:pPr>
            <a:r>
              <a:rPr lang="en"/>
              <a:t>Ethan Li (QF ‘29)</a:t>
            </a:r>
            <a:endParaRPr/>
          </a:p>
          <a:p>
            <a:pPr indent="-342896" lvl="0" marL="457200" rtl="0" algn="l">
              <a:lnSpc>
                <a:spcPct val="115000"/>
              </a:lnSpc>
              <a:spcBef>
                <a:spcPts val="0"/>
              </a:spcBef>
              <a:spcAft>
                <a:spcPts val="0"/>
              </a:spcAft>
              <a:buSzPts val="1800"/>
              <a:buChar char="•"/>
            </a:pPr>
            <a:r>
              <a:rPr lang="en"/>
              <a:t>Joy Wang (DE ‘29)</a:t>
            </a:r>
            <a:endParaRPr/>
          </a:p>
          <a:p>
            <a:pPr indent="-342896" lvl="0" marL="457200" rtl="0" algn="l">
              <a:lnSpc>
                <a:spcPct val="115000"/>
              </a:lnSpc>
              <a:spcBef>
                <a:spcPts val="0"/>
              </a:spcBef>
              <a:spcAft>
                <a:spcPts val="0"/>
              </a:spcAft>
              <a:buSzPts val="1800"/>
              <a:buChar char="•"/>
            </a:pPr>
            <a:r>
              <a:rPr lang="en"/>
              <a:t>Sophia Lu (QF ‘29)</a:t>
            </a:r>
            <a:endParaRPr/>
          </a:p>
          <a:p>
            <a:pPr indent="-342896" lvl="0" marL="457200" rtl="0" algn="l">
              <a:lnSpc>
                <a:spcPct val="115000"/>
              </a:lnSpc>
              <a:spcBef>
                <a:spcPts val="0"/>
              </a:spcBef>
              <a:spcAft>
                <a:spcPts val="0"/>
              </a:spcAft>
              <a:buSzPts val="1800"/>
              <a:buChar char="•"/>
            </a:pPr>
            <a:r>
              <a:rPr lang="en"/>
              <a:t>Vivian Kahm (QF ‘29)</a:t>
            </a:r>
            <a:endParaRPr/>
          </a:p>
          <a:p>
            <a:pPr indent="-342896" lvl="0" marL="457200" rtl="0" algn="l">
              <a:lnSpc>
                <a:spcPct val="115000"/>
              </a:lnSpc>
              <a:spcBef>
                <a:spcPts val="0"/>
              </a:spcBef>
              <a:spcAft>
                <a:spcPts val="0"/>
              </a:spcAft>
              <a:buSzPts val="1800"/>
              <a:buChar char="•"/>
            </a:pPr>
            <a:r>
              <a:rPr lang="en"/>
              <a:t>Weiyun Hsu (QF ‘29)</a:t>
            </a:r>
            <a:endParaRPr/>
          </a:p>
          <a:p>
            <a:pPr indent="-342896" lvl="0" marL="457200" rtl="0" algn="l">
              <a:lnSpc>
                <a:spcPct val="115000"/>
              </a:lnSpc>
              <a:spcBef>
                <a:spcPts val="0"/>
              </a:spcBef>
              <a:spcAft>
                <a:spcPts val="0"/>
              </a:spcAft>
              <a:buSzPts val="1800"/>
              <a:buChar char="•"/>
            </a:pPr>
            <a:r>
              <a:rPr lang="en"/>
              <a:t>Rohan Anne (DS ‘29)</a:t>
            </a:r>
            <a:endParaRPr/>
          </a:p>
          <a:p>
            <a:pPr indent="-342896" lvl="0" marL="457200" rtl="0" algn="l">
              <a:lnSpc>
                <a:spcPct val="115000"/>
              </a:lnSpc>
              <a:spcBef>
                <a:spcPts val="0"/>
              </a:spcBef>
              <a:spcAft>
                <a:spcPts val="0"/>
              </a:spcAft>
              <a:buSzPts val="1800"/>
              <a:buChar char="•"/>
            </a:pPr>
            <a:r>
              <a:rPr lang="en"/>
              <a:t>Mihir Kulshreshtha (DS ‘28)</a:t>
            </a:r>
            <a:endParaRPr/>
          </a:p>
          <a:p>
            <a:pPr indent="-342900" lvl="0" marL="457200" rtl="0" algn="l">
              <a:spcBef>
                <a:spcPts val="0"/>
              </a:spcBef>
              <a:spcAft>
                <a:spcPts val="0"/>
              </a:spcAft>
              <a:buSzPts val="1800"/>
              <a:buChar char="•"/>
            </a:pPr>
            <a:r>
              <a:rPr lang="en"/>
              <a:t>Bryan Chung </a:t>
            </a:r>
            <a:r>
              <a:rPr lang="en"/>
              <a:t>(DS ‘28)</a:t>
            </a:r>
            <a:endParaRPr/>
          </a:p>
          <a:p>
            <a:pPr indent="-342896" lvl="0" marL="457200" rtl="0" algn="l">
              <a:lnSpc>
                <a:spcPct val="115000"/>
              </a:lnSpc>
              <a:spcBef>
                <a:spcPts val="0"/>
              </a:spcBef>
              <a:spcAft>
                <a:spcPts val="0"/>
              </a:spcAft>
              <a:buSzPts val="1800"/>
              <a:buChar char="•"/>
            </a:pPr>
            <a:r>
              <a:rPr lang="en"/>
              <a:t>Naijei Jiang (Tech Chair)</a:t>
            </a:r>
            <a:endParaRPr/>
          </a:p>
        </p:txBody>
      </p:sp>
      <p:sp>
        <p:nvSpPr>
          <p:cNvPr id="139" name="Google Shape;139;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Course Staff</a:t>
            </a:r>
            <a:endParaRPr i="0" sz="2400" u="none" cap="none" strike="noStrike">
              <a:solidFill>
                <a:srgbClr val="613CB0"/>
              </a:solidFill>
              <a:latin typeface="Hind"/>
              <a:ea typeface="Hind"/>
              <a:cs typeface="Hind"/>
              <a:sym typeface="Hind"/>
            </a:endParaRPr>
          </a:p>
        </p:txBody>
      </p:sp>
      <p:sp>
        <p:nvSpPr>
          <p:cNvPr id="140" name="Google Shape;140;p7"/>
          <p:cNvSpPr/>
          <p:nvPr/>
        </p:nvSpPr>
        <p:spPr>
          <a:xfrm>
            <a:off x="311701" y="863775"/>
            <a:ext cx="24735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Backbone of INFO 1998</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2400" u="none" cap="none" strike="noStrike">
                <a:solidFill>
                  <a:srgbClr val="613CB0"/>
                </a:solidFill>
                <a:latin typeface="Hind"/>
                <a:ea typeface="Hind"/>
                <a:cs typeface="Hind"/>
                <a:sym typeface="Hind"/>
              </a:rPr>
              <a:t>Getting to know your classmates</a:t>
            </a:r>
            <a:endParaRPr i="0" sz="2400" u="none" cap="none" strike="noStrike">
              <a:solidFill>
                <a:srgbClr val="613CB0"/>
              </a:solidFill>
              <a:latin typeface="Hind"/>
              <a:ea typeface="Hind"/>
              <a:cs typeface="Hind"/>
              <a:sym typeface="Hind"/>
            </a:endParaRPr>
          </a:p>
        </p:txBody>
      </p:sp>
      <p:sp>
        <p:nvSpPr>
          <p:cNvPr id="146" name="Google Shape;146;p8"/>
          <p:cNvSpPr txBox="1"/>
          <p:nvPr/>
        </p:nvSpPr>
        <p:spPr>
          <a:xfrm>
            <a:off x="4235825" y="1181925"/>
            <a:ext cx="46593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613CB0"/>
                </a:solidFill>
                <a:latin typeface="Hind"/>
                <a:ea typeface="Hind"/>
                <a:cs typeface="Hind"/>
                <a:sym typeface="Hind"/>
              </a:rPr>
              <a:t>Spend 5 minutes going over the following:</a:t>
            </a:r>
            <a:endParaRPr b="0" i="0" sz="1400" u="none" cap="none" strike="noStrike">
              <a:solidFill>
                <a:srgbClr val="613CB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 sz="1800" u="none" cap="none" strike="noStrike">
                <a:solidFill>
                  <a:schemeClr val="dk1"/>
                </a:solidFill>
                <a:latin typeface="Hind"/>
                <a:ea typeface="Hind"/>
                <a:cs typeface="Hind"/>
                <a:sym typeface="Hind"/>
              </a:rPr>
              <a:t>Name</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 sz="1800" u="none" cap="none" strike="noStrike">
                <a:solidFill>
                  <a:schemeClr val="dk1"/>
                </a:solidFill>
                <a:latin typeface="Hind"/>
                <a:ea typeface="Hind"/>
                <a:cs typeface="Hind"/>
                <a:sym typeface="Hind"/>
              </a:rPr>
              <a:t>Major</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 sz="1800" u="none" cap="none" strike="noStrike">
                <a:solidFill>
                  <a:schemeClr val="dk1"/>
                </a:solidFill>
                <a:latin typeface="Hind"/>
                <a:ea typeface="Hind"/>
                <a:cs typeface="Hind"/>
                <a:sym typeface="Hind"/>
              </a:rPr>
              <a:t>Why you are taking this course</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 sz="1800" u="none" cap="none" strike="noStrike">
                <a:solidFill>
                  <a:schemeClr val="dk1"/>
                </a:solidFill>
                <a:latin typeface="Hind"/>
                <a:ea typeface="Hind"/>
                <a:cs typeface="Hind"/>
                <a:sym typeface="Hind"/>
              </a:rPr>
              <a:t>If you were a baseball player</a:t>
            </a:r>
            <a:r>
              <a:rPr lang="en" sz="1800">
                <a:solidFill>
                  <a:schemeClr val="dk1"/>
                </a:solidFill>
                <a:latin typeface="Hind"/>
                <a:ea typeface="Hind"/>
                <a:cs typeface="Hind"/>
                <a:sym typeface="Hind"/>
              </a:rPr>
              <a:t>/UFC fighter</a:t>
            </a:r>
            <a:r>
              <a:rPr b="0" i="0" lang="en" sz="1800" u="none" cap="none" strike="noStrike">
                <a:solidFill>
                  <a:schemeClr val="dk1"/>
                </a:solidFill>
                <a:latin typeface="Hind"/>
                <a:ea typeface="Hind"/>
                <a:cs typeface="Hind"/>
                <a:sym typeface="Hind"/>
              </a:rPr>
              <a:t>, what would your walk up song be?</a:t>
            </a:r>
            <a:endParaRPr b="0" i="0" sz="1800" u="none" cap="none" strike="noStrike">
              <a:solidFill>
                <a:schemeClr val="dk1"/>
              </a:solidFill>
              <a:latin typeface="Hind"/>
              <a:ea typeface="Hind"/>
              <a:cs typeface="Hind"/>
              <a:sym typeface="Hind"/>
            </a:endParaRPr>
          </a:p>
          <a:p>
            <a:pPr indent="-342900" lvl="1" marL="914400" marR="0" rtl="0" algn="l">
              <a:lnSpc>
                <a:spcPct val="100000"/>
              </a:lnSpc>
              <a:spcBef>
                <a:spcPts val="0"/>
              </a:spcBef>
              <a:spcAft>
                <a:spcPts val="0"/>
              </a:spcAft>
              <a:buClr>
                <a:schemeClr val="dk1"/>
              </a:buClr>
              <a:buSzPts val="1800"/>
              <a:buFont typeface="Hind"/>
              <a:buChar char="○"/>
            </a:pPr>
            <a:r>
              <a:rPr lang="en" sz="1800">
                <a:solidFill>
                  <a:schemeClr val="dk1"/>
                </a:solidFill>
                <a:latin typeface="Hind"/>
                <a:ea typeface="Hind"/>
                <a:cs typeface="Hind"/>
                <a:sym typeface="Hind"/>
              </a:rPr>
              <a:t>Alternatively, something funny that happened to you recently</a:t>
            </a:r>
            <a:endParaRPr sz="1800">
              <a:solidFill>
                <a:schemeClr val="dk1"/>
              </a:solidFill>
              <a:latin typeface="Hind"/>
              <a:ea typeface="Hind"/>
              <a:cs typeface="Hind"/>
              <a:sym typeface="Hind"/>
            </a:endParaRPr>
          </a:p>
        </p:txBody>
      </p:sp>
      <p:sp>
        <p:nvSpPr>
          <p:cNvPr id="147" name="Google Shape;147;p8"/>
          <p:cNvSpPr txBox="1"/>
          <p:nvPr/>
        </p:nvSpPr>
        <p:spPr>
          <a:xfrm>
            <a:off x="515475" y="4032275"/>
            <a:ext cx="7128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Project Team Website: </a:t>
            </a:r>
            <a:r>
              <a:rPr b="0" i="0" lang="en" sz="1400" u="sng" cap="none" strike="noStrike">
                <a:solidFill>
                  <a:schemeClr val="hlink"/>
                </a:solidFill>
                <a:latin typeface="Hind"/>
                <a:ea typeface="Hind"/>
                <a:cs typeface="Hind"/>
                <a:sym typeface="Hind"/>
                <a:hlinkClick r:id="rId3"/>
              </a:rPr>
              <a:t>cornelldata.science</a:t>
            </a:r>
            <a:endParaRPr b="0" i="0" sz="1400" u="none" cap="none" strike="noStrike">
              <a:solidFill>
                <a:srgbClr val="000000"/>
              </a:solidFill>
              <a:latin typeface="Hind"/>
              <a:ea typeface="Hind"/>
              <a:cs typeface="Hind"/>
              <a:sym typeface="Hind"/>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Hind"/>
                <a:ea typeface="Hind"/>
                <a:cs typeface="Hind"/>
                <a:sym typeface="Hind"/>
              </a:rPr>
              <a:t>Course Website: </a:t>
            </a:r>
            <a:r>
              <a:rPr b="0" i="0" lang="en" sz="1400" u="sng" cap="none" strike="noStrike">
                <a:solidFill>
                  <a:schemeClr val="hlink"/>
                </a:solidFill>
                <a:latin typeface="Hind"/>
                <a:ea typeface="Hind"/>
                <a:cs typeface="Hind"/>
                <a:sym typeface="Hind"/>
                <a:hlinkClick r:id="rId4"/>
              </a:rPr>
              <a:t>cornelldatascience.github.io/info1998/</a:t>
            </a:r>
            <a:endParaRPr b="0" i="0" sz="1400" u="none" cap="none" strike="noStrike">
              <a:solidFill>
                <a:srgbClr val="000000"/>
              </a:solidFill>
              <a:latin typeface="Hind"/>
              <a:ea typeface="Hind"/>
              <a:cs typeface="Hind"/>
              <a:sym typeface="Hind"/>
            </a:endParaRPr>
          </a:p>
        </p:txBody>
      </p:sp>
      <p:pic>
        <p:nvPicPr>
          <p:cNvPr id="148" name="Google Shape;148;p8" title="DSC06817.jpg"/>
          <p:cNvPicPr preferRelativeResize="0"/>
          <p:nvPr/>
        </p:nvPicPr>
        <p:blipFill rotWithShape="1">
          <a:blip r:embed="rId5">
            <a:alphaModFix/>
          </a:blip>
          <a:srcRect b="0" l="11478" r="8866" t="10362"/>
          <a:stretch/>
        </p:blipFill>
        <p:spPr>
          <a:xfrm>
            <a:off x="515475" y="1181925"/>
            <a:ext cx="3530153" cy="264761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What Do You Get Out of This?</a:t>
            </a:r>
            <a:endParaRPr i="0" sz="2400" u="none" cap="none" strike="noStrike">
              <a:solidFill>
                <a:srgbClr val="613CB0"/>
              </a:solidFill>
              <a:latin typeface="Hind"/>
              <a:ea typeface="Hind"/>
              <a:cs typeface="Hind"/>
              <a:sym typeface="Hind"/>
            </a:endParaRPr>
          </a:p>
        </p:txBody>
      </p:sp>
      <p:sp>
        <p:nvSpPr>
          <p:cNvPr id="154" name="Google Shape;154;p9"/>
          <p:cNvSpPr/>
          <p:nvPr/>
        </p:nvSpPr>
        <p:spPr>
          <a:xfrm>
            <a:off x="311700" y="863093"/>
            <a:ext cx="33009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1" lang="en" sz="900" u="none" cap="none" strike="noStrike">
                <a:solidFill>
                  <a:srgbClr val="595959"/>
                </a:solidFill>
                <a:latin typeface="Helvetica Neue"/>
                <a:ea typeface="Helvetica Neue"/>
                <a:cs typeface="Helvetica Neue"/>
                <a:sym typeface="Helvetica Neue"/>
              </a:rPr>
              <a:t>What you will have accomplished by the end of this?</a:t>
            </a:r>
            <a:endParaRPr b="0" i="0" sz="1400" u="none" cap="none" strike="noStrike">
              <a:solidFill>
                <a:srgbClr val="000000"/>
              </a:solidFill>
              <a:latin typeface="Arial"/>
              <a:ea typeface="Arial"/>
              <a:cs typeface="Arial"/>
              <a:sym typeface="Arial"/>
            </a:endParaRPr>
          </a:p>
        </p:txBody>
      </p:sp>
      <p:sp>
        <p:nvSpPr>
          <p:cNvPr id="155" name="Google Shape;155;p9"/>
          <p:cNvSpPr txBox="1"/>
          <p:nvPr/>
        </p:nvSpPr>
        <p:spPr>
          <a:xfrm>
            <a:off x="1382250" y="1925250"/>
            <a:ext cx="6379500" cy="12930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Helvetica Neue"/>
              <a:buAutoNum type="arabicPeriod"/>
            </a:pPr>
            <a:r>
              <a:rPr lang="en" sz="2400">
                <a:solidFill>
                  <a:schemeClr val="dk1"/>
                </a:solidFill>
                <a:latin typeface="Helvetica Neue"/>
                <a:ea typeface="Helvetica Neue"/>
                <a:cs typeface="Helvetica Neue"/>
                <a:sym typeface="Helvetica Neue"/>
              </a:rPr>
              <a:t>An excuse to learn the stuff you said you wanted to learn</a:t>
            </a:r>
            <a:endParaRPr sz="2400">
              <a:solidFill>
                <a:schemeClr val="dk1"/>
              </a:solidFill>
              <a:latin typeface="Helvetica Neue"/>
              <a:ea typeface="Helvetica Neue"/>
              <a:cs typeface="Helvetica Neue"/>
              <a:sym typeface="Helvetica Neue"/>
            </a:endParaRPr>
          </a:p>
          <a:p>
            <a:pPr indent="-381000" lvl="0" marL="457200" rtl="0" algn="l">
              <a:spcBef>
                <a:spcPts val="0"/>
              </a:spcBef>
              <a:spcAft>
                <a:spcPts val="0"/>
              </a:spcAft>
              <a:buClr>
                <a:schemeClr val="dk1"/>
              </a:buClr>
              <a:buSzPts val="2400"/>
              <a:buFont typeface="Helvetica Neue"/>
              <a:buAutoNum type="arabicPeriod"/>
            </a:pPr>
            <a:r>
              <a:rPr lang="en" sz="2400">
                <a:solidFill>
                  <a:schemeClr val="dk1"/>
                </a:solidFill>
                <a:latin typeface="Helvetica Neue"/>
                <a:ea typeface="Helvetica Neue"/>
                <a:cs typeface="Helvetica Neue"/>
                <a:sym typeface="Helvetica Neue"/>
              </a:rPr>
              <a:t>Friends</a:t>
            </a:r>
            <a:endParaRPr sz="2400">
              <a:solidFill>
                <a:schemeClr val="dk1"/>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0"/>
          <p:cNvSpPr txBox="1"/>
          <p:nvPr>
            <p:ph type="title"/>
          </p:nvPr>
        </p:nvSpPr>
        <p:spPr>
          <a:xfrm>
            <a:off x="2159550" y="1517550"/>
            <a:ext cx="4824900" cy="929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a:t>What is machine learning?</a:t>
            </a:r>
            <a:endParaRPr i="0" sz="2400" u="none" cap="none" strike="noStrike">
              <a:solidFill>
                <a:srgbClr val="613CB0"/>
              </a:solidFill>
              <a:latin typeface="Hind"/>
              <a:ea typeface="Hind"/>
              <a:cs typeface="Hind"/>
              <a:sym typeface="Hind"/>
            </a:endParaRPr>
          </a:p>
        </p:txBody>
      </p:sp>
      <p:sp>
        <p:nvSpPr>
          <p:cNvPr id="161" name="Google Shape;161;p10"/>
          <p:cNvSpPr txBox="1"/>
          <p:nvPr>
            <p:ph type="title"/>
          </p:nvPr>
        </p:nvSpPr>
        <p:spPr>
          <a:xfrm>
            <a:off x="2159553" y="3048475"/>
            <a:ext cx="48249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a:t>Why is it interesting, and why is it important?</a:t>
            </a:r>
            <a:endParaRPr i="0" sz="2400" u="none" cap="none" strike="noStrike">
              <a:solidFill>
                <a:srgbClr val="613CB0"/>
              </a:solidFill>
              <a:latin typeface="Hind"/>
              <a:ea typeface="Hind"/>
              <a:cs typeface="Hind"/>
              <a:sym typeface="Hi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f8de8f025a_0_2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Traditional Computer Science</a:t>
            </a:r>
            <a:endParaRPr i="0" sz="2400" u="none" cap="none" strike="noStrike">
              <a:solidFill>
                <a:srgbClr val="613CB0"/>
              </a:solidFill>
              <a:latin typeface="Hind"/>
              <a:ea typeface="Hind"/>
              <a:cs typeface="Hind"/>
              <a:sym typeface="Hind"/>
            </a:endParaRPr>
          </a:p>
        </p:txBody>
      </p:sp>
      <p:grpSp>
        <p:nvGrpSpPr>
          <p:cNvPr id="167" name="Google Shape;167;g3f8de8f025a_0_200"/>
          <p:cNvGrpSpPr/>
          <p:nvPr/>
        </p:nvGrpSpPr>
        <p:grpSpPr>
          <a:xfrm>
            <a:off x="1010700" y="1771350"/>
            <a:ext cx="7122600" cy="1600800"/>
            <a:chOff x="902025" y="1529000"/>
            <a:chExt cx="7122600" cy="1600800"/>
          </a:xfrm>
        </p:grpSpPr>
        <p:sp>
          <p:nvSpPr>
            <p:cNvPr id="168" name="Google Shape;168;g3f8de8f025a_0_200"/>
            <p:cNvSpPr txBox="1"/>
            <p:nvPr/>
          </p:nvSpPr>
          <p:spPr>
            <a:xfrm>
              <a:off x="1367375" y="1657050"/>
              <a:ext cx="8643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Data</a:t>
              </a:r>
              <a:endParaRPr b="1" i="0" sz="2400" u="none" cap="none" strike="noStrike">
                <a:solidFill>
                  <a:srgbClr val="000000"/>
                </a:solidFill>
                <a:latin typeface="Arial"/>
                <a:ea typeface="Arial"/>
                <a:cs typeface="Arial"/>
                <a:sym typeface="Arial"/>
              </a:endParaRPr>
            </a:p>
          </p:txBody>
        </p:sp>
        <p:sp>
          <p:nvSpPr>
            <p:cNvPr id="169" name="Google Shape;169;g3f8de8f025a_0_200"/>
            <p:cNvSpPr txBox="1"/>
            <p:nvPr/>
          </p:nvSpPr>
          <p:spPr>
            <a:xfrm>
              <a:off x="902025" y="2437800"/>
              <a:ext cx="1803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Program</a:t>
              </a:r>
              <a:endParaRPr b="1"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(Function)</a:t>
              </a:r>
              <a:endParaRPr b="1" i="0" sz="2400" u="none" cap="none" strike="noStrike">
                <a:solidFill>
                  <a:srgbClr val="000000"/>
                </a:solidFill>
                <a:latin typeface="Arial"/>
                <a:ea typeface="Arial"/>
                <a:cs typeface="Arial"/>
                <a:sym typeface="Arial"/>
              </a:endParaRPr>
            </a:p>
          </p:txBody>
        </p:sp>
        <p:sp>
          <p:nvSpPr>
            <p:cNvPr id="170" name="Google Shape;170;g3f8de8f025a_0_200"/>
            <p:cNvSpPr/>
            <p:nvPr/>
          </p:nvSpPr>
          <p:spPr>
            <a:xfrm>
              <a:off x="2550275" y="1783350"/>
              <a:ext cx="643500" cy="3201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3f8de8f025a_0_200"/>
            <p:cNvSpPr/>
            <p:nvPr/>
          </p:nvSpPr>
          <p:spPr>
            <a:xfrm>
              <a:off x="2638650" y="2564100"/>
              <a:ext cx="555000" cy="3201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g3f8de8f025a_0_200"/>
            <p:cNvSpPr/>
            <p:nvPr/>
          </p:nvSpPr>
          <p:spPr>
            <a:xfrm>
              <a:off x="3692225" y="1529000"/>
              <a:ext cx="2004000" cy="1600800"/>
            </a:xfrm>
            <a:prstGeom prst="cube">
              <a:avLst>
                <a:gd fmla="val 25000" name="adj"/>
              </a:avLst>
            </a:prstGeom>
            <a:solidFill>
              <a:srgbClr val="EFEFE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g3f8de8f025a_0_200"/>
            <p:cNvSpPr txBox="1"/>
            <p:nvPr/>
          </p:nvSpPr>
          <p:spPr>
            <a:xfrm>
              <a:off x="3659188" y="2298188"/>
              <a:ext cx="171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Computer</a:t>
              </a:r>
              <a:endParaRPr b="1" i="0" sz="2400" u="none" cap="none" strike="noStrike">
                <a:solidFill>
                  <a:srgbClr val="000000"/>
                </a:solidFill>
                <a:latin typeface="Arial"/>
                <a:ea typeface="Arial"/>
                <a:cs typeface="Arial"/>
                <a:sym typeface="Arial"/>
              </a:endParaRPr>
            </a:p>
          </p:txBody>
        </p:sp>
        <p:sp>
          <p:nvSpPr>
            <p:cNvPr id="174" name="Google Shape;174;g3f8de8f025a_0_200"/>
            <p:cNvSpPr/>
            <p:nvPr/>
          </p:nvSpPr>
          <p:spPr>
            <a:xfrm>
              <a:off x="5947500" y="2169350"/>
              <a:ext cx="555000" cy="3201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3f8de8f025a_0_200"/>
            <p:cNvSpPr txBox="1"/>
            <p:nvPr/>
          </p:nvSpPr>
          <p:spPr>
            <a:xfrm>
              <a:off x="6681225" y="2043050"/>
              <a:ext cx="1343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Output</a:t>
              </a:r>
              <a:endParaRPr b="1" i="0" sz="2400"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f8de8f025a_0_2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Machine Learning</a:t>
            </a:r>
            <a:endParaRPr i="0" sz="2400" u="none" cap="none" strike="noStrike">
              <a:solidFill>
                <a:srgbClr val="613CB0"/>
              </a:solidFill>
              <a:latin typeface="Hind"/>
              <a:ea typeface="Hind"/>
              <a:cs typeface="Hind"/>
              <a:sym typeface="Hind"/>
            </a:endParaRPr>
          </a:p>
        </p:txBody>
      </p:sp>
      <p:grpSp>
        <p:nvGrpSpPr>
          <p:cNvPr id="181" name="Google Shape;181;g3f8de8f025a_0_213"/>
          <p:cNvGrpSpPr/>
          <p:nvPr/>
        </p:nvGrpSpPr>
        <p:grpSpPr>
          <a:xfrm>
            <a:off x="828413" y="1771350"/>
            <a:ext cx="7487175" cy="1600800"/>
            <a:chOff x="1137925" y="3394775"/>
            <a:chExt cx="7487175" cy="1600800"/>
          </a:xfrm>
        </p:grpSpPr>
        <p:sp>
          <p:nvSpPr>
            <p:cNvPr id="182" name="Google Shape;182;g3f8de8f025a_0_213"/>
            <p:cNvSpPr txBox="1"/>
            <p:nvPr/>
          </p:nvSpPr>
          <p:spPr>
            <a:xfrm>
              <a:off x="1377475" y="3522825"/>
              <a:ext cx="8643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Data</a:t>
              </a:r>
              <a:endParaRPr b="1" i="0" sz="2400" u="none" cap="none" strike="noStrike">
                <a:solidFill>
                  <a:srgbClr val="000000"/>
                </a:solidFill>
                <a:latin typeface="Arial"/>
                <a:ea typeface="Arial"/>
                <a:cs typeface="Arial"/>
                <a:sym typeface="Arial"/>
              </a:endParaRPr>
            </a:p>
          </p:txBody>
        </p:sp>
        <p:sp>
          <p:nvSpPr>
            <p:cNvPr id="183" name="Google Shape;183;g3f8de8f025a_0_213"/>
            <p:cNvSpPr txBox="1"/>
            <p:nvPr/>
          </p:nvSpPr>
          <p:spPr>
            <a:xfrm>
              <a:off x="6822100" y="3908825"/>
              <a:ext cx="1803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Program</a:t>
              </a:r>
              <a:endParaRPr b="1"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(Function)</a:t>
              </a:r>
              <a:endParaRPr b="1" i="0" sz="2400" u="none" cap="none" strike="noStrike">
                <a:solidFill>
                  <a:srgbClr val="000000"/>
                </a:solidFill>
                <a:latin typeface="Arial"/>
                <a:ea typeface="Arial"/>
                <a:cs typeface="Arial"/>
                <a:sym typeface="Arial"/>
              </a:endParaRPr>
            </a:p>
          </p:txBody>
        </p:sp>
        <p:sp>
          <p:nvSpPr>
            <p:cNvPr id="184" name="Google Shape;184;g3f8de8f025a_0_213"/>
            <p:cNvSpPr/>
            <p:nvPr/>
          </p:nvSpPr>
          <p:spPr>
            <a:xfrm>
              <a:off x="2560375" y="3649125"/>
              <a:ext cx="643500" cy="3201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g3f8de8f025a_0_213"/>
            <p:cNvSpPr/>
            <p:nvPr/>
          </p:nvSpPr>
          <p:spPr>
            <a:xfrm>
              <a:off x="2648750" y="4429875"/>
              <a:ext cx="555000" cy="3201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g3f8de8f025a_0_213"/>
            <p:cNvSpPr/>
            <p:nvPr/>
          </p:nvSpPr>
          <p:spPr>
            <a:xfrm>
              <a:off x="3702325" y="3394775"/>
              <a:ext cx="2004000" cy="1600800"/>
            </a:xfrm>
            <a:prstGeom prst="cube">
              <a:avLst>
                <a:gd fmla="val 25000" name="adj"/>
              </a:avLst>
            </a:prstGeom>
            <a:solidFill>
              <a:srgbClr val="EFEFE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g3f8de8f025a_0_213"/>
            <p:cNvSpPr txBox="1"/>
            <p:nvPr/>
          </p:nvSpPr>
          <p:spPr>
            <a:xfrm>
              <a:off x="3669288" y="4163963"/>
              <a:ext cx="171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Computer</a:t>
              </a:r>
              <a:endParaRPr b="1" i="0" sz="2400" u="none" cap="none" strike="noStrike">
                <a:solidFill>
                  <a:srgbClr val="000000"/>
                </a:solidFill>
                <a:latin typeface="Arial"/>
                <a:ea typeface="Arial"/>
                <a:cs typeface="Arial"/>
                <a:sym typeface="Arial"/>
              </a:endParaRPr>
            </a:p>
          </p:txBody>
        </p:sp>
        <p:sp>
          <p:nvSpPr>
            <p:cNvPr id="188" name="Google Shape;188;g3f8de8f025a_0_213"/>
            <p:cNvSpPr/>
            <p:nvPr/>
          </p:nvSpPr>
          <p:spPr>
            <a:xfrm>
              <a:off x="5957600" y="4035125"/>
              <a:ext cx="555000" cy="3201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g3f8de8f025a_0_213"/>
            <p:cNvSpPr txBox="1"/>
            <p:nvPr/>
          </p:nvSpPr>
          <p:spPr>
            <a:xfrm>
              <a:off x="1137925" y="4303575"/>
              <a:ext cx="1343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Output</a:t>
              </a:r>
              <a:endParaRPr b="1" i="0" sz="24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g3f8de8f025a_0_3"/>
          <p:cNvPicPr preferRelativeResize="0"/>
          <p:nvPr/>
        </p:nvPicPr>
        <p:blipFill>
          <a:blip r:embed="rId3">
            <a:alphaModFix/>
          </a:blip>
          <a:stretch>
            <a:fillRect/>
          </a:stretch>
        </p:blipFill>
        <p:spPr>
          <a:xfrm>
            <a:off x="645075" y="1887575"/>
            <a:ext cx="1335475" cy="1335475"/>
          </a:xfrm>
          <a:prstGeom prst="rect">
            <a:avLst/>
          </a:prstGeom>
          <a:noFill/>
          <a:ln>
            <a:noFill/>
          </a:ln>
        </p:spPr>
      </p:pic>
      <p:pic>
        <p:nvPicPr>
          <p:cNvPr id="195" name="Google Shape;195;g3f8de8f025a_0_3"/>
          <p:cNvPicPr preferRelativeResize="0"/>
          <p:nvPr/>
        </p:nvPicPr>
        <p:blipFill>
          <a:blip r:embed="rId4">
            <a:alphaModFix/>
          </a:blip>
          <a:stretch>
            <a:fillRect/>
          </a:stretch>
        </p:blipFill>
        <p:spPr>
          <a:xfrm>
            <a:off x="2288963" y="1679512"/>
            <a:ext cx="1751600" cy="1751600"/>
          </a:xfrm>
          <a:prstGeom prst="rect">
            <a:avLst/>
          </a:prstGeom>
          <a:noFill/>
          <a:ln>
            <a:noFill/>
          </a:ln>
        </p:spPr>
      </p:pic>
      <p:pic>
        <p:nvPicPr>
          <p:cNvPr id="196" name="Google Shape;196;g3f8de8f025a_0_3"/>
          <p:cNvPicPr preferRelativeResize="0"/>
          <p:nvPr/>
        </p:nvPicPr>
        <p:blipFill>
          <a:blip r:embed="rId5">
            <a:alphaModFix/>
          </a:blip>
          <a:stretch>
            <a:fillRect/>
          </a:stretch>
        </p:blipFill>
        <p:spPr>
          <a:xfrm>
            <a:off x="4348975" y="1679525"/>
            <a:ext cx="1751600" cy="1751600"/>
          </a:xfrm>
          <a:prstGeom prst="rect">
            <a:avLst/>
          </a:prstGeom>
          <a:noFill/>
          <a:ln>
            <a:noFill/>
          </a:ln>
        </p:spPr>
      </p:pic>
      <p:sp>
        <p:nvSpPr>
          <p:cNvPr id="197" name="Google Shape;197;g3f8de8f025a_0_3"/>
          <p:cNvSpPr txBox="1"/>
          <p:nvPr/>
        </p:nvSpPr>
        <p:spPr>
          <a:xfrm>
            <a:off x="2430525" y="3399425"/>
            <a:ext cx="1121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(ish!)</a:t>
            </a:r>
            <a:endParaRPr sz="1600">
              <a:solidFill>
                <a:schemeClr val="dk1"/>
              </a:solidFill>
              <a:latin typeface="Helvetica Neue"/>
              <a:ea typeface="Helvetica Neue"/>
              <a:cs typeface="Helvetica Neue"/>
              <a:sym typeface="Helvetica Neue"/>
            </a:endParaRPr>
          </a:p>
        </p:txBody>
      </p:sp>
      <p:pic>
        <p:nvPicPr>
          <p:cNvPr id="198" name="Google Shape;198;g3f8de8f025a_0_3"/>
          <p:cNvPicPr preferRelativeResize="0"/>
          <p:nvPr/>
        </p:nvPicPr>
        <p:blipFill>
          <a:blip r:embed="rId6">
            <a:alphaModFix/>
          </a:blip>
          <a:stretch>
            <a:fillRect/>
          </a:stretch>
        </p:blipFill>
        <p:spPr>
          <a:xfrm>
            <a:off x="6408975" y="1679525"/>
            <a:ext cx="1867475" cy="1867475"/>
          </a:xfrm>
          <a:prstGeom prst="rect">
            <a:avLst/>
          </a:prstGeom>
          <a:noFill/>
          <a:ln>
            <a:noFill/>
          </a:ln>
        </p:spPr>
      </p:pic>
      <p:sp>
        <p:nvSpPr>
          <p:cNvPr id="199" name="Google Shape;199;g3f8de8f025a_0_3"/>
          <p:cNvSpPr txBox="1"/>
          <p:nvPr/>
        </p:nvSpPr>
        <p:spPr>
          <a:xfrm>
            <a:off x="645075" y="489875"/>
            <a:ext cx="6971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AI is taking over the world—</a:t>
            </a:r>
            <a:endParaRPr sz="1600">
              <a:solidFill>
                <a:schemeClr val="dk1"/>
              </a:solidFill>
              <a:latin typeface="Helvetica Neue"/>
              <a:ea typeface="Helvetica Neue"/>
              <a:cs typeface="Helvetica Neue"/>
              <a:sym typeface="Helvetica Neue"/>
            </a:endParaRPr>
          </a:p>
        </p:txBody>
      </p:sp>
      <p:sp>
        <p:nvSpPr>
          <p:cNvPr id="200" name="Google Shape;200;g3f8de8f025a_0_3"/>
          <p:cNvSpPr txBox="1"/>
          <p:nvPr/>
        </p:nvSpPr>
        <p:spPr>
          <a:xfrm>
            <a:off x="756650" y="1084688"/>
            <a:ext cx="6971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A non exhaustive list of frontier labs</a:t>
            </a:r>
            <a:endParaRPr sz="1600">
              <a:solidFill>
                <a:schemeClr val="dk1"/>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g3f8de8f025a_0_14" title="Screenshot 2026-09-16 at 4.20.28 PM.png"/>
          <p:cNvPicPr preferRelativeResize="0"/>
          <p:nvPr/>
        </p:nvPicPr>
        <p:blipFill>
          <a:blip r:embed="rId3">
            <a:alphaModFix/>
          </a:blip>
          <a:stretch>
            <a:fillRect/>
          </a:stretch>
        </p:blipFill>
        <p:spPr>
          <a:xfrm>
            <a:off x="152400" y="971088"/>
            <a:ext cx="8839200" cy="2112729"/>
          </a:xfrm>
          <a:prstGeom prst="rect">
            <a:avLst/>
          </a:prstGeom>
          <a:noFill/>
          <a:ln>
            <a:noFill/>
          </a:ln>
        </p:spPr>
      </p:pic>
      <p:sp>
        <p:nvSpPr>
          <p:cNvPr id="206" name="Google Shape;206;g3f8de8f025a_0_14"/>
          <p:cNvSpPr txBox="1"/>
          <p:nvPr/>
        </p:nvSpPr>
        <p:spPr>
          <a:xfrm>
            <a:off x="966100" y="394600"/>
            <a:ext cx="7647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As a result, there’s a big spotlight on AI, and a big spotlight on language models</a:t>
            </a:r>
            <a:endParaRPr sz="1600">
              <a:solidFill>
                <a:schemeClr val="dk1"/>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f8de8f025a_0_24"/>
          <p:cNvSpPr/>
          <p:nvPr/>
        </p:nvSpPr>
        <p:spPr>
          <a:xfrm>
            <a:off x="6447875" y="1846812"/>
            <a:ext cx="2555400" cy="25554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ctr">
              <a:spcBef>
                <a:spcPts val="0"/>
              </a:spcBef>
              <a:spcAft>
                <a:spcPts val="0"/>
              </a:spcAft>
              <a:buNone/>
            </a:pPr>
            <a:r>
              <a:rPr lang="en" sz="1500">
                <a:solidFill>
                  <a:schemeClr val="dk1"/>
                </a:solidFill>
                <a:latin typeface="Helvetica Neue"/>
                <a:ea typeface="Helvetica Neue"/>
                <a:cs typeface="Helvetica Neue"/>
                <a:sym typeface="Helvetica Neue"/>
              </a:rPr>
              <a:t>Robotics</a:t>
            </a:r>
            <a:endParaRPr sz="1002">
              <a:latin typeface="Helvetica Neue"/>
              <a:ea typeface="Helvetica Neue"/>
              <a:cs typeface="Helvetica Neue"/>
              <a:sym typeface="Helvetica Neue"/>
            </a:endParaRPr>
          </a:p>
        </p:txBody>
      </p:sp>
      <p:sp>
        <p:nvSpPr>
          <p:cNvPr id="212" name="Google Shape;212;g3f8de8f025a_0_24"/>
          <p:cNvSpPr/>
          <p:nvPr/>
        </p:nvSpPr>
        <p:spPr>
          <a:xfrm>
            <a:off x="1467020" y="851488"/>
            <a:ext cx="3662100" cy="36621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l">
              <a:spcBef>
                <a:spcPts val="0"/>
              </a:spcBef>
              <a:spcAft>
                <a:spcPts val="0"/>
              </a:spcAft>
              <a:buNone/>
            </a:pPr>
            <a:r>
              <a:t/>
            </a:r>
            <a:endParaRPr sz="24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2400">
                <a:solidFill>
                  <a:schemeClr val="dk1"/>
                </a:solidFill>
                <a:latin typeface="Helvetica Neue"/>
                <a:ea typeface="Helvetica Neue"/>
                <a:cs typeface="Helvetica Neue"/>
                <a:sym typeface="Helvetica Neue"/>
              </a:rPr>
              <a:t>Machine learning</a:t>
            </a:r>
            <a:endParaRPr sz="2400">
              <a:latin typeface="Helvetica Neue"/>
              <a:ea typeface="Helvetica Neue"/>
              <a:cs typeface="Helvetica Neue"/>
              <a:sym typeface="Helvetica Neue"/>
            </a:endParaRPr>
          </a:p>
        </p:txBody>
      </p:sp>
      <p:sp>
        <p:nvSpPr>
          <p:cNvPr id="213" name="Google Shape;213;g3f8de8f025a_0_24"/>
          <p:cNvSpPr/>
          <p:nvPr/>
        </p:nvSpPr>
        <p:spPr>
          <a:xfrm>
            <a:off x="653175" y="969277"/>
            <a:ext cx="1884600" cy="18846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Computer</a:t>
            </a:r>
            <a:endParaRPr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vision</a:t>
            </a:r>
            <a:endParaRPr sz="1600">
              <a:solidFill>
                <a:schemeClr val="dk1"/>
              </a:solidFill>
              <a:latin typeface="Helvetica Neue"/>
              <a:ea typeface="Helvetica Neue"/>
              <a:cs typeface="Helvetica Neue"/>
              <a:sym typeface="Helvetica Neue"/>
            </a:endParaRPr>
          </a:p>
          <a:p>
            <a:pPr indent="0" lvl="0" marL="0" rtl="0" algn="ctr">
              <a:spcBef>
                <a:spcPts val="0"/>
              </a:spcBef>
              <a:spcAft>
                <a:spcPts val="0"/>
              </a:spcAft>
              <a:buNone/>
            </a:pPr>
            <a:r>
              <a:t/>
            </a:r>
            <a:endParaRPr sz="1102">
              <a:latin typeface="Helvetica Neue"/>
              <a:ea typeface="Helvetica Neue"/>
              <a:cs typeface="Helvetica Neue"/>
              <a:sym typeface="Helvetica Neue"/>
            </a:endParaRPr>
          </a:p>
        </p:txBody>
      </p:sp>
      <p:sp>
        <p:nvSpPr>
          <p:cNvPr id="214" name="Google Shape;214;g3f8de8f025a_0_24"/>
          <p:cNvSpPr/>
          <p:nvPr/>
        </p:nvSpPr>
        <p:spPr>
          <a:xfrm>
            <a:off x="4474250" y="537650"/>
            <a:ext cx="2785800" cy="22245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Natural language</a:t>
            </a:r>
            <a:endParaRPr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processing</a:t>
            </a:r>
            <a:endParaRPr sz="1600">
              <a:solidFill>
                <a:schemeClr val="dk1"/>
              </a:solidFill>
              <a:latin typeface="Helvetica Neue"/>
              <a:ea typeface="Helvetica Neue"/>
              <a:cs typeface="Helvetica Neue"/>
              <a:sym typeface="Helvetica Neue"/>
            </a:endParaRPr>
          </a:p>
          <a:p>
            <a:pPr indent="0" lvl="0" marL="0" rtl="0" algn="ctr">
              <a:spcBef>
                <a:spcPts val="0"/>
              </a:spcBef>
              <a:spcAft>
                <a:spcPts val="0"/>
              </a:spcAft>
              <a:buNone/>
            </a:pPr>
            <a:r>
              <a:t/>
            </a:r>
            <a:endParaRPr sz="1102">
              <a:latin typeface="Helvetica Neue"/>
              <a:ea typeface="Helvetica Neue"/>
              <a:cs typeface="Helvetica Neue"/>
              <a:sym typeface="Helvetica Neue"/>
            </a:endParaRPr>
          </a:p>
        </p:txBody>
      </p:sp>
      <p:sp>
        <p:nvSpPr>
          <p:cNvPr id="215" name="Google Shape;215;g3f8de8f025a_0_24"/>
          <p:cNvSpPr/>
          <p:nvPr/>
        </p:nvSpPr>
        <p:spPr>
          <a:xfrm>
            <a:off x="3735325" y="1846800"/>
            <a:ext cx="3186300" cy="27216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457200" rtl="0" algn="l">
              <a:spcBef>
                <a:spcPts val="0"/>
              </a:spcBef>
              <a:spcAft>
                <a:spcPts val="0"/>
              </a:spcAft>
              <a:buNone/>
            </a:pPr>
            <a:r>
              <a:rPr lang="en" sz="1900">
                <a:solidFill>
                  <a:schemeClr val="dk1"/>
                </a:solidFill>
                <a:latin typeface="Helvetica Neue"/>
                <a:ea typeface="Helvetica Neue"/>
                <a:cs typeface="Helvetica Neue"/>
                <a:sym typeface="Helvetica Neue"/>
              </a:rPr>
              <a:t>Reinforcement learning</a:t>
            </a:r>
            <a:endParaRPr sz="1900">
              <a:latin typeface="Helvetica Neue"/>
              <a:ea typeface="Helvetica Neue"/>
              <a:cs typeface="Helvetica Neue"/>
              <a:sym typeface="Helvetica Neue"/>
            </a:endParaRPr>
          </a:p>
        </p:txBody>
      </p:sp>
      <p:sp>
        <p:nvSpPr>
          <p:cNvPr id="216" name="Google Shape;216;g3f8de8f025a_0_24"/>
          <p:cNvSpPr/>
          <p:nvPr/>
        </p:nvSpPr>
        <p:spPr>
          <a:xfrm>
            <a:off x="1467025" y="384002"/>
            <a:ext cx="4364100" cy="17301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ctr">
              <a:spcBef>
                <a:spcPts val="0"/>
              </a:spcBef>
              <a:spcAft>
                <a:spcPts val="0"/>
              </a:spcAft>
              <a:buNone/>
            </a:pPr>
            <a:r>
              <a:rPr lang="en" sz="2400">
                <a:latin typeface="Helvetica Neue"/>
                <a:ea typeface="Helvetica Neue"/>
                <a:cs typeface="Helvetica Neue"/>
                <a:sym typeface="Helvetica Neue"/>
              </a:rPr>
              <a:t>Deep learning</a:t>
            </a:r>
            <a:endParaRPr sz="2400">
              <a:latin typeface="Helvetica Neue"/>
              <a:ea typeface="Helvetica Neue"/>
              <a:cs typeface="Helvetica Neue"/>
              <a:sym typeface="Helvetica Neue"/>
            </a:endParaRPr>
          </a:p>
        </p:txBody>
      </p:sp>
      <p:sp>
        <p:nvSpPr>
          <p:cNvPr id="217" name="Google Shape;217;g3f8de8f025a_0_24"/>
          <p:cNvSpPr/>
          <p:nvPr/>
        </p:nvSpPr>
        <p:spPr>
          <a:xfrm>
            <a:off x="3473400" y="3700913"/>
            <a:ext cx="2013000" cy="20130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l">
              <a:spcBef>
                <a:spcPts val="0"/>
              </a:spcBef>
              <a:spcAft>
                <a:spcPts val="0"/>
              </a:spcAft>
              <a:buNone/>
            </a:pPr>
            <a:r>
              <a:rPr lang="en" sz="1500">
                <a:solidFill>
                  <a:schemeClr val="dk1"/>
                </a:solidFill>
                <a:latin typeface="Helvetica Neue"/>
                <a:ea typeface="Helvetica Neue"/>
                <a:cs typeface="Helvetica Neue"/>
                <a:sym typeface="Helvetica Neue"/>
              </a:rPr>
              <a:t>ML theory</a:t>
            </a:r>
            <a:endParaRPr sz="1002">
              <a:latin typeface="Helvetica Neue"/>
              <a:ea typeface="Helvetica Neue"/>
              <a:cs typeface="Helvetica Neue"/>
              <a:sym typeface="Helvetica Neue"/>
            </a:endParaRPr>
          </a:p>
        </p:txBody>
      </p:sp>
      <p:sp>
        <p:nvSpPr>
          <p:cNvPr id="218" name="Google Shape;218;g3f8de8f025a_0_24"/>
          <p:cNvSpPr/>
          <p:nvPr/>
        </p:nvSpPr>
        <p:spPr>
          <a:xfrm>
            <a:off x="6218799" y="-309375"/>
            <a:ext cx="2854800" cy="20133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ctr">
              <a:spcBef>
                <a:spcPts val="0"/>
              </a:spcBef>
              <a:spcAft>
                <a:spcPts val="0"/>
              </a:spcAft>
              <a:buNone/>
            </a:pPr>
            <a:r>
              <a:rPr lang="en" sz="1600">
                <a:solidFill>
                  <a:schemeClr val="dk1"/>
                </a:solidFill>
                <a:latin typeface="Helvetica Neue"/>
                <a:ea typeface="Helvetica Neue"/>
                <a:cs typeface="Helvetica Neue"/>
                <a:sym typeface="Helvetica Neue"/>
              </a:rPr>
              <a:t>Computational social science</a:t>
            </a:r>
            <a:endParaRPr sz="1102">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f8de8f025a_0_78"/>
          <p:cNvSpPr/>
          <p:nvPr/>
        </p:nvSpPr>
        <p:spPr>
          <a:xfrm>
            <a:off x="6447875" y="1846812"/>
            <a:ext cx="2555400" cy="25554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ctr">
              <a:spcBef>
                <a:spcPts val="0"/>
              </a:spcBef>
              <a:spcAft>
                <a:spcPts val="0"/>
              </a:spcAft>
              <a:buNone/>
            </a:pPr>
            <a:r>
              <a:rPr lang="en" sz="1500">
                <a:solidFill>
                  <a:schemeClr val="dk1"/>
                </a:solidFill>
                <a:latin typeface="Helvetica Neue"/>
                <a:ea typeface="Helvetica Neue"/>
                <a:cs typeface="Helvetica Neue"/>
                <a:sym typeface="Helvetica Neue"/>
              </a:rPr>
              <a:t>Robotics</a:t>
            </a:r>
            <a:endParaRPr sz="1002">
              <a:latin typeface="Helvetica Neue"/>
              <a:ea typeface="Helvetica Neue"/>
              <a:cs typeface="Helvetica Neue"/>
              <a:sym typeface="Helvetica Neue"/>
            </a:endParaRPr>
          </a:p>
        </p:txBody>
      </p:sp>
      <p:sp>
        <p:nvSpPr>
          <p:cNvPr id="224" name="Google Shape;224;g3f8de8f025a_0_78"/>
          <p:cNvSpPr/>
          <p:nvPr/>
        </p:nvSpPr>
        <p:spPr>
          <a:xfrm>
            <a:off x="1467020" y="851488"/>
            <a:ext cx="3662100" cy="36621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l">
              <a:spcBef>
                <a:spcPts val="0"/>
              </a:spcBef>
              <a:spcAft>
                <a:spcPts val="0"/>
              </a:spcAft>
              <a:buNone/>
            </a:pPr>
            <a:r>
              <a:t/>
            </a:r>
            <a:endParaRPr sz="24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2400">
                <a:solidFill>
                  <a:schemeClr val="dk1"/>
                </a:solidFill>
                <a:latin typeface="Helvetica Neue"/>
                <a:ea typeface="Helvetica Neue"/>
                <a:cs typeface="Helvetica Neue"/>
                <a:sym typeface="Helvetica Neue"/>
              </a:rPr>
              <a:t>Machine learning</a:t>
            </a:r>
            <a:endParaRPr sz="2400">
              <a:latin typeface="Helvetica Neue"/>
              <a:ea typeface="Helvetica Neue"/>
              <a:cs typeface="Helvetica Neue"/>
              <a:sym typeface="Helvetica Neue"/>
            </a:endParaRPr>
          </a:p>
        </p:txBody>
      </p:sp>
      <p:sp>
        <p:nvSpPr>
          <p:cNvPr id="225" name="Google Shape;225;g3f8de8f025a_0_78"/>
          <p:cNvSpPr/>
          <p:nvPr/>
        </p:nvSpPr>
        <p:spPr>
          <a:xfrm>
            <a:off x="653175" y="969277"/>
            <a:ext cx="1884600" cy="18846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Computer</a:t>
            </a:r>
            <a:endParaRPr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vision</a:t>
            </a:r>
            <a:endParaRPr sz="1600">
              <a:solidFill>
                <a:schemeClr val="dk1"/>
              </a:solidFill>
              <a:latin typeface="Helvetica Neue"/>
              <a:ea typeface="Helvetica Neue"/>
              <a:cs typeface="Helvetica Neue"/>
              <a:sym typeface="Helvetica Neue"/>
            </a:endParaRPr>
          </a:p>
          <a:p>
            <a:pPr indent="0" lvl="0" marL="0" rtl="0" algn="ctr">
              <a:spcBef>
                <a:spcPts val="0"/>
              </a:spcBef>
              <a:spcAft>
                <a:spcPts val="0"/>
              </a:spcAft>
              <a:buNone/>
            </a:pPr>
            <a:r>
              <a:t/>
            </a:r>
            <a:endParaRPr sz="1102">
              <a:latin typeface="Helvetica Neue"/>
              <a:ea typeface="Helvetica Neue"/>
              <a:cs typeface="Helvetica Neue"/>
              <a:sym typeface="Helvetica Neue"/>
            </a:endParaRPr>
          </a:p>
        </p:txBody>
      </p:sp>
      <p:sp>
        <p:nvSpPr>
          <p:cNvPr id="226" name="Google Shape;226;g3f8de8f025a_0_78"/>
          <p:cNvSpPr/>
          <p:nvPr/>
        </p:nvSpPr>
        <p:spPr>
          <a:xfrm>
            <a:off x="4474250" y="537650"/>
            <a:ext cx="2785800" cy="22245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Natural language</a:t>
            </a:r>
            <a:endParaRPr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processing</a:t>
            </a:r>
            <a:endParaRPr sz="1600">
              <a:solidFill>
                <a:schemeClr val="dk1"/>
              </a:solidFill>
              <a:latin typeface="Helvetica Neue"/>
              <a:ea typeface="Helvetica Neue"/>
              <a:cs typeface="Helvetica Neue"/>
              <a:sym typeface="Helvetica Neue"/>
            </a:endParaRPr>
          </a:p>
          <a:p>
            <a:pPr indent="0" lvl="0" marL="0" rtl="0" algn="ctr">
              <a:spcBef>
                <a:spcPts val="0"/>
              </a:spcBef>
              <a:spcAft>
                <a:spcPts val="0"/>
              </a:spcAft>
              <a:buNone/>
            </a:pPr>
            <a:r>
              <a:t/>
            </a:r>
            <a:endParaRPr sz="1102">
              <a:latin typeface="Helvetica Neue"/>
              <a:ea typeface="Helvetica Neue"/>
              <a:cs typeface="Helvetica Neue"/>
              <a:sym typeface="Helvetica Neue"/>
            </a:endParaRPr>
          </a:p>
        </p:txBody>
      </p:sp>
      <p:sp>
        <p:nvSpPr>
          <p:cNvPr id="227" name="Google Shape;227;g3f8de8f025a_0_78"/>
          <p:cNvSpPr/>
          <p:nvPr/>
        </p:nvSpPr>
        <p:spPr>
          <a:xfrm>
            <a:off x="3735325" y="1846800"/>
            <a:ext cx="3186300" cy="27216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457200" rtl="0" algn="l">
              <a:spcBef>
                <a:spcPts val="0"/>
              </a:spcBef>
              <a:spcAft>
                <a:spcPts val="0"/>
              </a:spcAft>
              <a:buNone/>
            </a:pPr>
            <a:r>
              <a:rPr lang="en" sz="1900">
                <a:solidFill>
                  <a:schemeClr val="dk1"/>
                </a:solidFill>
                <a:latin typeface="Helvetica Neue"/>
                <a:ea typeface="Helvetica Neue"/>
                <a:cs typeface="Helvetica Neue"/>
                <a:sym typeface="Helvetica Neue"/>
              </a:rPr>
              <a:t>Reinforcement learning</a:t>
            </a:r>
            <a:endParaRPr sz="1900">
              <a:latin typeface="Helvetica Neue"/>
              <a:ea typeface="Helvetica Neue"/>
              <a:cs typeface="Helvetica Neue"/>
              <a:sym typeface="Helvetica Neue"/>
            </a:endParaRPr>
          </a:p>
        </p:txBody>
      </p:sp>
      <p:sp>
        <p:nvSpPr>
          <p:cNvPr id="228" name="Google Shape;228;g3f8de8f025a_0_78"/>
          <p:cNvSpPr/>
          <p:nvPr/>
        </p:nvSpPr>
        <p:spPr>
          <a:xfrm>
            <a:off x="1467025" y="384002"/>
            <a:ext cx="4364100" cy="17301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ctr">
              <a:spcBef>
                <a:spcPts val="0"/>
              </a:spcBef>
              <a:spcAft>
                <a:spcPts val="0"/>
              </a:spcAft>
              <a:buNone/>
            </a:pPr>
            <a:r>
              <a:rPr lang="en" sz="2400">
                <a:latin typeface="Helvetica Neue"/>
                <a:ea typeface="Helvetica Neue"/>
                <a:cs typeface="Helvetica Neue"/>
                <a:sym typeface="Helvetica Neue"/>
              </a:rPr>
              <a:t>Deep learning</a:t>
            </a:r>
            <a:endParaRPr sz="2400">
              <a:latin typeface="Helvetica Neue"/>
              <a:ea typeface="Helvetica Neue"/>
              <a:cs typeface="Helvetica Neue"/>
              <a:sym typeface="Helvetica Neue"/>
            </a:endParaRPr>
          </a:p>
        </p:txBody>
      </p:sp>
      <p:sp>
        <p:nvSpPr>
          <p:cNvPr id="229" name="Google Shape;229;g3f8de8f025a_0_78"/>
          <p:cNvSpPr/>
          <p:nvPr/>
        </p:nvSpPr>
        <p:spPr>
          <a:xfrm>
            <a:off x="3473400" y="3700913"/>
            <a:ext cx="2013000" cy="20130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l">
              <a:spcBef>
                <a:spcPts val="0"/>
              </a:spcBef>
              <a:spcAft>
                <a:spcPts val="0"/>
              </a:spcAft>
              <a:buNone/>
            </a:pPr>
            <a:r>
              <a:rPr lang="en" sz="1500">
                <a:solidFill>
                  <a:schemeClr val="dk1"/>
                </a:solidFill>
                <a:latin typeface="Helvetica Neue"/>
                <a:ea typeface="Helvetica Neue"/>
                <a:cs typeface="Helvetica Neue"/>
                <a:sym typeface="Helvetica Neue"/>
              </a:rPr>
              <a:t>ML theory</a:t>
            </a:r>
            <a:endParaRPr sz="1002">
              <a:latin typeface="Helvetica Neue"/>
              <a:ea typeface="Helvetica Neue"/>
              <a:cs typeface="Helvetica Neue"/>
              <a:sym typeface="Helvetica Neue"/>
            </a:endParaRPr>
          </a:p>
        </p:txBody>
      </p:sp>
      <p:sp>
        <p:nvSpPr>
          <p:cNvPr id="230" name="Google Shape;230;g3f8de8f025a_0_78"/>
          <p:cNvSpPr/>
          <p:nvPr/>
        </p:nvSpPr>
        <p:spPr>
          <a:xfrm>
            <a:off x="6218799" y="-309375"/>
            <a:ext cx="2854800" cy="2013300"/>
          </a:xfrm>
          <a:prstGeom prst="ellipse">
            <a:avLst/>
          </a:prstGeom>
          <a:noFill/>
          <a:ln cap="flat" cmpd="sng" w="38100">
            <a:solidFill>
              <a:schemeClr val="dk2"/>
            </a:solidFill>
            <a:prstDash val="solid"/>
            <a:round/>
            <a:headEnd len="sm" w="sm" type="none"/>
            <a:tailEnd len="sm" w="sm" type="none"/>
          </a:ln>
        </p:spPr>
        <p:txBody>
          <a:bodyPr anchorCtr="0" anchor="ctr" bIns="71950" lIns="71950" spcFirstLastPara="1" rIns="71950" wrap="square" tIns="71950">
            <a:noAutofit/>
          </a:bodyPr>
          <a:lstStyle/>
          <a:p>
            <a:pPr indent="0" lvl="0" marL="0" rtl="0" algn="ctr">
              <a:spcBef>
                <a:spcPts val="0"/>
              </a:spcBef>
              <a:spcAft>
                <a:spcPts val="0"/>
              </a:spcAft>
              <a:buNone/>
            </a:pPr>
            <a:r>
              <a:rPr lang="en" sz="1600">
                <a:solidFill>
                  <a:schemeClr val="dk1"/>
                </a:solidFill>
                <a:latin typeface="Helvetica Neue"/>
                <a:ea typeface="Helvetica Neue"/>
                <a:cs typeface="Helvetica Neue"/>
                <a:sym typeface="Helvetica Neue"/>
              </a:rPr>
              <a:t>Computational social science</a:t>
            </a:r>
            <a:endParaRPr sz="1102">
              <a:latin typeface="Helvetica Neue"/>
              <a:ea typeface="Helvetica Neue"/>
              <a:cs typeface="Helvetica Neue"/>
              <a:sym typeface="Helvetica Neue"/>
            </a:endParaRPr>
          </a:p>
        </p:txBody>
      </p:sp>
      <p:sp>
        <p:nvSpPr>
          <p:cNvPr id="231" name="Google Shape;231;g3f8de8f025a_0_78"/>
          <p:cNvSpPr/>
          <p:nvPr/>
        </p:nvSpPr>
        <p:spPr>
          <a:xfrm>
            <a:off x="2112600" y="3102425"/>
            <a:ext cx="1360800" cy="2721600"/>
          </a:xfrm>
          <a:prstGeom prst="up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232" name="Google Shape;232;g3f8de8f025a_0_78"/>
          <p:cNvSpPr txBox="1"/>
          <p:nvPr/>
        </p:nvSpPr>
        <p:spPr>
          <a:xfrm>
            <a:off x="435450" y="3046825"/>
            <a:ext cx="17688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solidFill>
                  <a:srgbClr val="FF0000"/>
                </a:solidFill>
                <a:latin typeface="Helvetica Neue"/>
                <a:ea typeface="Helvetica Neue"/>
                <a:cs typeface="Helvetica Neue"/>
                <a:sym typeface="Helvetica Neue"/>
              </a:rPr>
              <a:t>YOU ARE HERE</a:t>
            </a:r>
            <a:endParaRPr b="1" sz="3600">
              <a:solidFill>
                <a:srgbClr val="FF0000"/>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f8de8f025a_0_33"/>
          <p:cNvSpPr txBox="1"/>
          <p:nvPr/>
        </p:nvSpPr>
        <p:spPr>
          <a:xfrm>
            <a:off x="843650" y="612325"/>
            <a:ext cx="6971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Helvetica Neue"/>
                <a:ea typeface="Helvetica Neue"/>
                <a:cs typeface="Helvetica Neue"/>
                <a:sym typeface="Helvetica Neue"/>
              </a:rPr>
              <a:t>AI is more than:</a:t>
            </a:r>
            <a:endParaRPr sz="3600">
              <a:solidFill>
                <a:schemeClr val="dk1"/>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f8de8f025a_0_43"/>
          <p:cNvSpPr txBox="1"/>
          <p:nvPr/>
        </p:nvSpPr>
        <p:spPr>
          <a:xfrm>
            <a:off x="843650" y="612325"/>
            <a:ext cx="69711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Helvetica Neue"/>
                <a:ea typeface="Helvetica Neue"/>
                <a:cs typeface="Helvetica Neue"/>
                <a:sym typeface="Helvetica Neue"/>
              </a:rPr>
              <a:t>AI is more than:</a:t>
            </a:r>
            <a:endParaRPr sz="3600">
              <a:solidFill>
                <a:schemeClr val="dk1"/>
              </a:solidFill>
              <a:latin typeface="Helvetica Neue"/>
              <a:ea typeface="Helvetica Neue"/>
              <a:cs typeface="Helvetica Neue"/>
              <a:sym typeface="Helvetica Neue"/>
            </a:endParaRPr>
          </a:p>
          <a:p>
            <a:pPr indent="-457200" lvl="0" marL="457200" rtl="0" algn="l">
              <a:spcBef>
                <a:spcPts val="0"/>
              </a:spcBef>
              <a:spcAft>
                <a:spcPts val="0"/>
              </a:spcAft>
              <a:buClr>
                <a:schemeClr val="dk1"/>
              </a:buClr>
              <a:buSzPts val="3600"/>
              <a:buFont typeface="Helvetica Neue"/>
              <a:buChar char="●"/>
            </a:pPr>
            <a:r>
              <a:rPr lang="en" sz="3600">
                <a:solidFill>
                  <a:schemeClr val="dk1"/>
                </a:solidFill>
                <a:latin typeface="Helvetica Neue"/>
                <a:ea typeface="Helvetica Neue"/>
                <a:cs typeface="Helvetica Neue"/>
                <a:sym typeface="Helvetica Neue"/>
              </a:rPr>
              <a:t>ChatGPT</a:t>
            </a:r>
            <a:endParaRPr sz="3600">
              <a:solidFill>
                <a:schemeClr val="dk1"/>
              </a:solidFill>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f8de8f025a_0_47"/>
          <p:cNvSpPr txBox="1"/>
          <p:nvPr/>
        </p:nvSpPr>
        <p:spPr>
          <a:xfrm>
            <a:off x="843650" y="612325"/>
            <a:ext cx="69711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Helvetica Neue"/>
                <a:ea typeface="Helvetica Neue"/>
                <a:cs typeface="Helvetica Neue"/>
                <a:sym typeface="Helvetica Neue"/>
              </a:rPr>
              <a:t>AI is more than:</a:t>
            </a:r>
            <a:endParaRPr sz="3600">
              <a:solidFill>
                <a:schemeClr val="dk1"/>
              </a:solidFill>
              <a:latin typeface="Helvetica Neue"/>
              <a:ea typeface="Helvetica Neue"/>
              <a:cs typeface="Helvetica Neue"/>
              <a:sym typeface="Helvetica Neue"/>
            </a:endParaRPr>
          </a:p>
          <a:p>
            <a:pPr indent="-457200" lvl="0" marL="457200" rtl="0" algn="l">
              <a:spcBef>
                <a:spcPts val="0"/>
              </a:spcBef>
              <a:spcAft>
                <a:spcPts val="0"/>
              </a:spcAft>
              <a:buClr>
                <a:schemeClr val="dk1"/>
              </a:buClr>
              <a:buSzPts val="3600"/>
              <a:buFont typeface="Helvetica Neue"/>
              <a:buChar char="●"/>
            </a:pPr>
            <a:r>
              <a:rPr lang="en" sz="3600">
                <a:solidFill>
                  <a:schemeClr val="dk1"/>
                </a:solidFill>
                <a:latin typeface="Helvetica Neue"/>
                <a:ea typeface="Helvetica Neue"/>
                <a:cs typeface="Helvetica Neue"/>
                <a:sym typeface="Helvetica Neue"/>
              </a:rPr>
              <a:t>ChatGPT wrappers</a:t>
            </a:r>
            <a:endParaRPr sz="3600">
              <a:solidFill>
                <a:schemeClr val="dk1"/>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f8de8f025a_0_59"/>
          <p:cNvSpPr txBox="1"/>
          <p:nvPr/>
        </p:nvSpPr>
        <p:spPr>
          <a:xfrm>
            <a:off x="843650" y="612325"/>
            <a:ext cx="69711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Helvetica Neue"/>
                <a:ea typeface="Helvetica Neue"/>
                <a:cs typeface="Helvetica Neue"/>
                <a:sym typeface="Helvetica Neue"/>
              </a:rPr>
              <a:t>AI is more than:</a:t>
            </a:r>
            <a:endParaRPr sz="3600">
              <a:solidFill>
                <a:schemeClr val="dk1"/>
              </a:solidFill>
              <a:latin typeface="Helvetica Neue"/>
              <a:ea typeface="Helvetica Neue"/>
              <a:cs typeface="Helvetica Neue"/>
              <a:sym typeface="Helvetica Neue"/>
            </a:endParaRPr>
          </a:p>
          <a:p>
            <a:pPr indent="-457200" lvl="0" marL="457200" rtl="0" algn="l">
              <a:spcBef>
                <a:spcPts val="0"/>
              </a:spcBef>
              <a:spcAft>
                <a:spcPts val="0"/>
              </a:spcAft>
              <a:buClr>
                <a:schemeClr val="dk1"/>
              </a:buClr>
              <a:buSzPts val="3600"/>
              <a:buFont typeface="Helvetica Neue"/>
              <a:buChar char="●"/>
            </a:pPr>
            <a:r>
              <a:rPr lang="en" sz="3600">
                <a:solidFill>
                  <a:schemeClr val="dk1"/>
                </a:solidFill>
                <a:latin typeface="Helvetica Neue"/>
                <a:ea typeface="Helvetica Neue"/>
                <a:cs typeface="Helvetica Neue"/>
                <a:sym typeface="Helvetica Neue"/>
              </a:rPr>
              <a:t>ChatGPT wrappers</a:t>
            </a:r>
            <a:endParaRPr sz="3600">
              <a:solidFill>
                <a:schemeClr val="dk1"/>
              </a:solidFill>
              <a:latin typeface="Helvetica Neue"/>
              <a:ea typeface="Helvetica Neue"/>
              <a:cs typeface="Helvetica Neue"/>
              <a:sym typeface="Helvetica Neue"/>
            </a:endParaRPr>
          </a:p>
          <a:p>
            <a:pPr indent="-457200" lvl="0" marL="457200" rtl="0" algn="l">
              <a:spcBef>
                <a:spcPts val="0"/>
              </a:spcBef>
              <a:spcAft>
                <a:spcPts val="0"/>
              </a:spcAft>
              <a:buClr>
                <a:schemeClr val="dk1"/>
              </a:buClr>
              <a:buSzPts val="3600"/>
              <a:buFont typeface="Helvetica Neue"/>
              <a:buChar char="●"/>
            </a:pPr>
            <a:r>
              <a:rPr lang="en" sz="3600">
                <a:solidFill>
                  <a:schemeClr val="dk1"/>
                </a:solidFill>
                <a:latin typeface="Helvetica Neue"/>
                <a:ea typeface="Helvetica Neue"/>
                <a:cs typeface="Helvetica Neue"/>
                <a:sym typeface="Helvetica Neue"/>
              </a:rPr>
              <a:t>Transformers </a:t>
            </a:r>
            <a:r>
              <a:rPr lang="en" sz="2400">
                <a:solidFill>
                  <a:schemeClr val="dk1"/>
                </a:solidFill>
                <a:latin typeface="Helvetica Neue"/>
                <a:ea typeface="Helvetica Neue"/>
                <a:cs typeface="Helvetica Neue"/>
                <a:sym typeface="Helvetica Neue"/>
              </a:rPr>
              <a:t>(the architecture of large language models)</a:t>
            </a:r>
            <a:endParaRPr sz="2400">
              <a:solidFill>
                <a:schemeClr val="dk1"/>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f8de8f025a_0_51"/>
          <p:cNvSpPr txBox="1"/>
          <p:nvPr/>
        </p:nvSpPr>
        <p:spPr>
          <a:xfrm>
            <a:off x="843650" y="612325"/>
            <a:ext cx="69711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Helvetica Neue"/>
                <a:ea typeface="Helvetica Neue"/>
                <a:cs typeface="Helvetica Neue"/>
                <a:sym typeface="Helvetica Neue"/>
              </a:rPr>
              <a:t>AI is more than:</a:t>
            </a:r>
            <a:endParaRPr sz="3600">
              <a:solidFill>
                <a:schemeClr val="dk1"/>
              </a:solidFill>
              <a:latin typeface="Helvetica Neue"/>
              <a:ea typeface="Helvetica Neue"/>
              <a:cs typeface="Helvetica Neue"/>
              <a:sym typeface="Helvetica Neue"/>
            </a:endParaRPr>
          </a:p>
          <a:p>
            <a:pPr indent="-457200" lvl="0" marL="457200" rtl="0" algn="l">
              <a:spcBef>
                <a:spcPts val="0"/>
              </a:spcBef>
              <a:spcAft>
                <a:spcPts val="0"/>
              </a:spcAft>
              <a:buClr>
                <a:schemeClr val="dk1"/>
              </a:buClr>
              <a:buSzPts val="3600"/>
              <a:buFont typeface="Helvetica Neue"/>
              <a:buChar char="●"/>
            </a:pPr>
            <a:r>
              <a:rPr lang="en" sz="3600">
                <a:solidFill>
                  <a:schemeClr val="dk1"/>
                </a:solidFill>
                <a:latin typeface="Helvetica Neue"/>
                <a:ea typeface="Helvetica Neue"/>
                <a:cs typeface="Helvetica Neue"/>
                <a:sym typeface="Helvetica Neue"/>
              </a:rPr>
              <a:t>ChatGPT wrappers</a:t>
            </a:r>
            <a:endParaRPr sz="3600">
              <a:solidFill>
                <a:schemeClr val="dk1"/>
              </a:solidFill>
              <a:latin typeface="Helvetica Neue"/>
              <a:ea typeface="Helvetica Neue"/>
              <a:cs typeface="Helvetica Neue"/>
              <a:sym typeface="Helvetica Neue"/>
            </a:endParaRPr>
          </a:p>
          <a:p>
            <a:pPr indent="-457200" lvl="0" marL="457200" rtl="0" algn="l">
              <a:spcBef>
                <a:spcPts val="0"/>
              </a:spcBef>
              <a:spcAft>
                <a:spcPts val="0"/>
              </a:spcAft>
              <a:buClr>
                <a:schemeClr val="dk1"/>
              </a:buClr>
              <a:buSzPts val="3600"/>
              <a:buFont typeface="Helvetica Neue"/>
              <a:buChar char="●"/>
            </a:pPr>
            <a:r>
              <a:rPr lang="en" sz="3600">
                <a:solidFill>
                  <a:schemeClr val="dk1"/>
                </a:solidFill>
                <a:latin typeface="Helvetica Neue"/>
                <a:ea typeface="Helvetica Neue"/>
                <a:cs typeface="Helvetica Neue"/>
                <a:sym typeface="Helvetica Neue"/>
              </a:rPr>
              <a:t>Transformers</a:t>
            </a:r>
            <a:endParaRPr sz="3600">
              <a:solidFill>
                <a:schemeClr val="dk1"/>
              </a:solidFill>
              <a:latin typeface="Helvetica Neue"/>
              <a:ea typeface="Helvetica Neue"/>
              <a:cs typeface="Helvetica Neue"/>
              <a:sym typeface="Helvetica Neue"/>
            </a:endParaRPr>
          </a:p>
          <a:p>
            <a:pPr indent="-457200" lvl="0" marL="457200" rtl="0" algn="l">
              <a:spcBef>
                <a:spcPts val="0"/>
              </a:spcBef>
              <a:spcAft>
                <a:spcPts val="0"/>
              </a:spcAft>
              <a:buClr>
                <a:schemeClr val="dk1"/>
              </a:buClr>
              <a:buSzPts val="3600"/>
              <a:buFont typeface="Helvetica Neue"/>
              <a:buChar char="●"/>
            </a:pPr>
            <a:r>
              <a:rPr lang="en" sz="3600">
                <a:solidFill>
                  <a:schemeClr val="dk1"/>
                </a:solidFill>
                <a:latin typeface="Helvetica Neue"/>
                <a:ea typeface="Helvetica Neue"/>
                <a:cs typeface="Helvetica Neue"/>
                <a:sym typeface="Helvetica Neue"/>
              </a:rPr>
              <a:t>Neural networks</a:t>
            </a:r>
            <a:endParaRPr sz="3600">
              <a:solidFill>
                <a:schemeClr val="dk1"/>
              </a:solidFill>
              <a:latin typeface="Helvetica Neue"/>
              <a:ea typeface="Helvetica Neue"/>
              <a:cs typeface="Helvetica Neue"/>
              <a:sym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f8de8f025a_0_55"/>
          <p:cNvSpPr txBox="1"/>
          <p:nvPr/>
        </p:nvSpPr>
        <p:spPr>
          <a:xfrm>
            <a:off x="843650" y="612325"/>
            <a:ext cx="72933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Helvetica Neue"/>
                <a:ea typeface="Helvetica Neue"/>
                <a:cs typeface="Helvetica Neue"/>
                <a:sym typeface="Helvetica Neue"/>
              </a:rPr>
              <a:t>AI is more than:</a:t>
            </a:r>
            <a:endParaRPr sz="3600">
              <a:solidFill>
                <a:schemeClr val="dk1"/>
              </a:solidFill>
              <a:latin typeface="Helvetica Neue"/>
              <a:ea typeface="Helvetica Neue"/>
              <a:cs typeface="Helvetica Neue"/>
              <a:sym typeface="Helvetica Neue"/>
            </a:endParaRPr>
          </a:p>
          <a:p>
            <a:pPr indent="-457200" lvl="0" marL="457200" rtl="0" algn="l">
              <a:spcBef>
                <a:spcPts val="0"/>
              </a:spcBef>
              <a:spcAft>
                <a:spcPts val="0"/>
              </a:spcAft>
              <a:buClr>
                <a:schemeClr val="dk1"/>
              </a:buClr>
              <a:buSzPts val="3600"/>
              <a:buFont typeface="Helvetica Neue"/>
              <a:buChar char="●"/>
            </a:pPr>
            <a:r>
              <a:rPr lang="en" sz="3600">
                <a:solidFill>
                  <a:schemeClr val="dk1"/>
                </a:solidFill>
                <a:latin typeface="Helvetica Neue"/>
                <a:ea typeface="Helvetica Neue"/>
                <a:cs typeface="Helvetica Neue"/>
                <a:sym typeface="Helvetica Neue"/>
              </a:rPr>
              <a:t>ChatGPT wrappers</a:t>
            </a:r>
            <a:endParaRPr sz="3600">
              <a:solidFill>
                <a:schemeClr val="dk1"/>
              </a:solidFill>
              <a:latin typeface="Helvetica Neue"/>
              <a:ea typeface="Helvetica Neue"/>
              <a:cs typeface="Helvetica Neue"/>
              <a:sym typeface="Helvetica Neue"/>
            </a:endParaRPr>
          </a:p>
          <a:p>
            <a:pPr indent="-457200" lvl="0" marL="457200" rtl="0" algn="l">
              <a:spcBef>
                <a:spcPts val="0"/>
              </a:spcBef>
              <a:spcAft>
                <a:spcPts val="0"/>
              </a:spcAft>
              <a:buClr>
                <a:schemeClr val="dk1"/>
              </a:buClr>
              <a:buSzPts val="3600"/>
              <a:buFont typeface="Helvetica Neue"/>
              <a:buChar char="●"/>
            </a:pPr>
            <a:r>
              <a:rPr lang="en" sz="3600">
                <a:solidFill>
                  <a:schemeClr val="dk1"/>
                </a:solidFill>
                <a:latin typeface="Helvetica Neue"/>
                <a:ea typeface="Helvetica Neue"/>
                <a:cs typeface="Helvetica Neue"/>
                <a:sym typeface="Helvetica Neue"/>
              </a:rPr>
              <a:t>Transformers</a:t>
            </a:r>
            <a:endParaRPr sz="3600">
              <a:solidFill>
                <a:schemeClr val="dk1"/>
              </a:solidFill>
              <a:latin typeface="Helvetica Neue"/>
              <a:ea typeface="Helvetica Neue"/>
              <a:cs typeface="Helvetica Neue"/>
              <a:sym typeface="Helvetica Neue"/>
            </a:endParaRPr>
          </a:p>
          <a:p>
            <a:pPr indent="-457200" lvl="0" marL="457200" rtl="0" algn="l">
              <a:spcBef>
                <a:spcPts val="0"/>
              </a:spcBef>
              <a:spcAft>
                <a:spcPts val="0"/>
              </a:spcAft>
              <a:buClr>
                <a:schemeClr val="dk1"/>
              </a:buClr>
              <a:buSzPts val="3600"/>
              <a:buFont typeface="Helvetica Neue"/>
              <a:buChar char="●"/>
            </a:pPr>
            <a:r>
              <a:rPr lang="en" sz="3600">
                <a:solidFill>
                  <a:schemeClr val="dk1"/>
                </a:solidFill>
                <a:latin typeface="Helvetica Neue"/>
                <a:ea typeface="Helvetica Neue"/>
                <a:cs typeface="Helvetica Neue"/>
                <a:sym typeface="Helvetica Neue"/>
              </a:rPr>
              <a:t>Neural networks</a:t>
            </a:r>
            <a:endParaRPr sz="3600">
              <a:solidFill>
                <a:schemeClr val="dk1"/>
              </a:solidFill>
              <a:latin typeface="Helvetica Neue"/>
              <a:ea typeface="Helvetica Neue"/>
              <a:cs typeface="Helvetica Neue"/>
              <a:sym typeface="Helvetica Neue"/>
            </a:endParaRPr>
          </a:p>
          <a:p>
            <a:pPr indent="-457200" lvl="0" marL="457200" rtl="0" algn="l">
              <a:spcBef>
                <a:spcPts val="0"/>
              </a:spcBef>
              <a:spcAft>
                <a:spcPts val="0"/>
              </a:spcAft>
              <a:buClr>
                <a:schemeClr val="dk1"/>
              </a:buClr>
              <a:buSzPts val="3600"/>
              <a:buFont typeface="Helvetica Neue"/>
              <a:buChar char="●"/>
            </a:pPr>
            <a:r>
              <a:rPr lang="en" sz="3600">
                <a:solidFill>
                  <a:schemeClr val="dk1"/>
                </a:solidFill>
                <a:latin typeface="Helvetica Neue"/>
                <a:ea typeface="Helvetica Neue"/>
                <a:cs typeface="Helvetica Neue"/>
                <a:sym typeface="Helvetica Neue"/>
              </a:rPr>
              <a:t>Machine learning (symbolic AI!)</a:t>
            </a:r>
            <a:endParaRPr sz="3600">
              <a:solidFill>
                <a:schemeClr val="dk1"/>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f8de8f025a_0_226"/>
          <p:cNvSpPr txBox="1"/>
          <p:nvPr/>
        </p:nvSpPr>
        <p:spPr>
          <a:xfrm>
            <a:off x="831750" y="1115375"/>
            <a:ext cx="74805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Helvetica Neue"/>
                <a:ea typeface="Helvetica Neue"/>
                <a:cs typeface="Helvetica Neue"/>
                <a:sym typeface="Helvetica Neue"/>
              </a:rPr>
              <a:t>What makes someone broadly </a:t>
            </a:r>
            <a:r>
              <a:rPr lang="en" sz="2400">
                <a:solidFill>
                  <a:schemeClr val="dk1"/>
                </a:solidFill>
                <a:latin typeface="Helvetica Neue"/>
                <a:ea typeface="Helvetica Neue"/>
                <a:cs typeface="Helvetica Neue"/>
                <a:sym typeface="Helvetica Neue"/>
              </a:rPr>
              <a:t>successful in machine learning? In my opinion:</a:t>
            </a:r>
            <a:endParaRPr sz="24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2400">
              <a:solidFill>
                <a:schemeClr val="dk1"/>
              </a:solidFill>
              <a:latin typeface="Helvetica Neue"/>
              <a:ea typeface="Helvetica Neue"/>
              <a:cs typeface="Helvetica Neue"/>
              <a:sym typeface="Helvetica Neue"/>
            </a:endParaRPr>
          </a:p>
          <a:p>
            <a:pPr indent="-381000" lvl="0" marL="457200" rtl="0" algn="l">
              <a:spcBef>
                <a:spcPts val="0"/>
              </a:spcBef>
              <a:spcAft>
                <a:spcPts val="0"/>
              </a:spcAft>
              <a:buClr>
                <a:schemeClr val="dk1"/>
              </a:buClr>
              <a:buSzPts val="2400"/>
              <a:buFont typeface="Helvetica Neue"/>
              <a:buChar char="●"/>
            </a:pPr>
            <a:r>
              <a:rPr lang="en" sz="2400">
                <a:solidFill>
                  <a:schemeClr val="dk1"/>
                </a:solidFill>
                <a:latin typeface="Helvetica Neue"/>
                <a:ea typeface="Helvetica Neue"/>
                <a:cs typeface="Helvetica Neue"/>
                <a:sym typeface="Helvetica Neue"/>
              </a:rPr>
              <a:t>Understanding of how to manage a lot of + messy data</a:t>
            </a:r>
            <a:endParaRPr sz="2400">
              <a:solidFill>
                <a:schemeClr val="dk1"/>
              </a:solidFill>
              <a:latin typeface="Helvetica Neue"/>
              <a:ea typeface="Helvetica Neue"/>
              <a:cs typeface="Helvetica Neue"/>
              <a:sym typeface="Helvetica Neue"/>
            </a:endParaRPr>
          </a:p>
          <a:p>
            <a:pPr indent="-381000" lvl="0" marL="457200" rtl="0" algn="l">
              <a:spcBef>
                <a:spcPts val="0"/>
              </a:spcBef>
              <a:spcAft>
                <a:spcPts val="0"/>
              </a:spcAft>
              <a:buClr>
                <a:schemeClr val="dk1"/>
              </a:buClr>
              <a:buSzPts val="2400"/>
              <a:buFont typeface="Helvetica Neue"/>
              <a:buChar char="●"/>
            </a:pPr>
            <a:r>
              <a:rPr lang="en" sz="2400">
                <a:solidFill>
                  <a:schemeClr val="dk1"/>
                </a:solidFill>
                <a:latin typeface="Helvetica Neue"/>
                <a:ea typeface="Helvetica Neue"/>
                <a:cs typeface="Helvetica Neue"/>
                <a:sym typeface="Helvetica Neue"/>
              </a:rPr>
              <a:t>Mathematical diligence</a:t>
            </a:r>
            <a:endParaRPr sz="2400">
              <a:solidFill>
                <a:schemeClr val="dk1"/>
              </a:solidFill>
              <a:latin typeface="Helvetica Neue"/>
              <a:ea typeface="Helvetica Neue"/>
              <a:cs typeface="Helvetica Neue"/>
              <a:sym typeface="Helvetica Neue"/>
            </a:endParaRPr>
          </a:p>
          <a:p>
            <a:pPr indent="-381000" lvl="0" marL="457200" rtl="0" algn="l">
              <a:spcBef>
                <a:spcPts val="0"/>
              </a:spcBef>
              <a:spcAft>
                <a:spcPts val="0"/>
              </a:spcAft>
              <a:buClr>
                <a:schemeClr val="dk1"/>
              </a:buClr>
              <a:buSzPts val="2400"/>
              <a:buFont typeface="Helvetica Neue"/>
              <a:buChar char="●"/>
            </a:pPr>
            <a:r>
              <a:rPr lang="en" sz="2400">
                <a:solidFill>
                  <a:schemeClr val="dk1"/>
                </a:solidFill>
                <a:latin typeface="Helvetica Neue"/>
                <a:ea typeface="Helvetica Neue"/>
                <a:cs typeface="Helvetica Neue"/>
                <a:sym typeface="Helvetica Neue"/>
              </a:rPr>
              <a:t>Most importantly: genuine interest</a:t>
            </a:r>
            <a:endParaRPr sz="2400">
              <a:solidFill>
                <a:schemeClr val="dk1"/>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f8de8f025a_0_95"/>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2400" u="none" cap="none" strike="noStrike">
                <a:solidFill>
                  <a:srgbClr val="613CB0"/>
                </a:solidFill>
                <a:latin typeface="Hind"/>
                <a:ea typeface="Hind"/>
                <a:cs typeface="Hind"/>
                <a:sym typeface="Hind"/>
              </a:rPr>
              <a:t>Course Objectives and Syllabus</a:t>
            </a:r>
            <a:endParaRPr i="0" sz="2400" u="none" cap="none" strike="noStrike">
              <a:solidFill>
                <a:srgbClr val="613CB0"/>
              </a:solidFill>
              <a:latin typeface="Hind"/>
              <a:ea typeface="Hind"/>
              <a:cs typeface="Hind"/>
              <a:sym typeface="Hind"/>
            </a:endParaRPr>
          </a:p>
        </p:txBody>
      </p:sp>
      <p:sp>
        <p:nvSpPr>
          <p:cNvPr id="273" name="Google Shape;273;g3f8de8f025a_0_95"/>
          <p:cNvSpPr/>
          <p:nvPr/>
        </p:nvSpPr>
        <p:spPr>
          <a:xfrm>
            <a:off x="311700" y="863100"/>
            <a:ext cx="47301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What you should aim to understand by the end of the course</a:t>
            </a:r>
            <a:endParaRPr b="0" i="0" sz="1200" u="none" cap="none" strike="noStrike">
              <a:solidFill>
                <a:srgbClr val="000000"/>
              </a:solidFill>
              <a:latin typeface="Arial"/>
              <a:ea typeface="Arial"/>
              <a:cs typeface="Arial"/>
              <a:sym typeface="Arial"/>
            </a:endParaRPr>
          </a:p>
        </p:txBody>
      </p:sp>
      <p:sp>
        <p:nvSpPr>
          <p:cNvPr id="274" name="Google Shape;274;g3f8de8f025a_0_95"/>
          <p:cNvSpPr/>
          <p:nvPr/>
        </p:nvSpPr>
        <p:spPr>
          <a:xfrm>
            <a:off x="1479223" y="1714625"/>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Manipulating Data</a:t>
            </a:r>
            <a:endParaRPr b="0" i="0" sz="1400" u="none" cap="none" strike="noStrike">
              <a:solidFill>
                <a:srgbClr val="000000"/>
              </a:solidFill>
              <a:latin typeface="Arial"/>
              <a:ea typeface="Arial"/>
              <a:cs typeface="Arial"/>
              <a:sym typeface="Arial"/>
            </a:endParaRPr>
          </a:p>
        </p:txBody>
      </p:sp>
      <p:sp>
        <p:nvSpPr>
          <p:cNvPr id="275" name="Google Shape;275;g3f8de8f025a_0_95"/>
          <p:cNvSpPr/>
          <p:nvPr/>
        </p:nvSpPr>
        <p:spPr>
          <a:xfrm>
            <a:off x="1479223" y="2056492"/>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Communicating Data</a:t>
            </a:r>
            <a:endParaRPr b="0" i="0" sz="1400" u="none" cap="none" strike="noStrike">
              <a:solidFill>
                <a:srgbClr val="000000"/>
              </a:solidFill>
              <a:latin typeface="Arial"/>
              <a:ea typeface="Arial"/>
              <a:cs typeface="Arial"/>
              <a:sym typeface="Arial"/>
            </a:endParaRPr>
          </a:p>
        </p:txBody>
      </p:sp>
      <p:sp>
        <p:nvSpPr>
          <p:cNvPr id="276" name="Google Shape;276;g3f8de8f025a_0_95"/>
          <p:cNvSpPr/>
          <p:nvPr/>
        </p:nvSpPr>
        <p:spPr>
          <a:xfrm>
            <a:off x="1479223" y="2398359"/>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Understanding of ML as a concept</a:t>
            </a:r>
            <a:endParaRPr b="0" i="0" sz="1400" u="none" cap="none" strike="noStrike">
              <a:solidFill>
                <a:srgbClr val="000000"/>
              </a:solidFill>
              <a:latin typeface="Arial"/>
              <a:ea typeface="Arial"/>
              <a:cs typeface="Arial"/>
              <a:sym typeface="Arial"/>
            </a:endParaRPr>
          </a:p>
        </p:txBody>
      </p:sp>
      <p:sp>
        <p:nvSpPr>
          <p:cNvPr id="277" name="Google Shape;277;g3f8de8f025a_0_95"/>
          <p:cNvSpPr/>
          <p:nvPr/>
        </p:nvSpPr>
        <p:spPr>
          <a:xfrm>
            <a:off x="1479223" y="2753391"/>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Intuitive understanding of ML models </a:t>
            </a:r>
            <a:endParaRPr b="0" i="0" sz="1400" u="none" cap="none" strike="noStrike">
              <a:solidFill>
                <a:srgbClr val="000000"/>
              </a:solidFill>
              <a:latin typeface="Arial"/>
              <a:ea typeface="Arial"/>
              <a:cs typeface="Arial"/>
              <a:sym typeface="Arial"/>
            </a:endParaRPr>
          </a:p>
        </p:txBody>
      </p:sp>
      <p:sp>
        <p:nvSpPr>
          <p:cNvPr id="278" name="Google Shape;278;g3f8de8f025a_0_95"/>
          <p:cNvSpPr/>
          <p:nvPr/>
        </p:nvSpPr>
        <p:spPr>
          <a:xfrm>
            <a:off x="1479223" y="3108423"/>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Implementation of ML models</a:t>
            </a:r>
            <a:endParaRPr b="0" i="0" sz="1400" u="none" cap="none" strike="noStrike">
              <a:solidFill>
                <a:srgbClr val="000000"/>
              </a:solidFill>
              <a:latin typeface="Arial"/>
              <a:ea typeface="Arial"/>
              <a:cs typeface="Arial"/>
              <a:sym typeface="Arial"/>
            </a:endParaRPr>
          </a:p>
        </p:txBody>
      </p:sp>
      <p:sp>
        <p:nvSpPr>
          <p:cNvPr id="279" name="Google Shape;279;g3f8de8f025a_0_95"/>
          <p:cNvSpPr/>
          <p:nvPr/>
        </p:nvSpPr>
        <p:spPr>
          <a:xfrm>
            <a:off x="1479223" y="3463455"/>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Comfort Using Python</a:t>
            </a:r>
            <a:endParaRPr b="0" i="0" sz="1400" u="none" cap="none" strike="noStrike">
              <a:solidFill>
                <a:srgbClr val="000000"/>
              </a:solidFill>
              <a:latin typeface="Arial"/>
              <a:ea typeface="Arial"/>
              <a:cs typeface="Arial"/>
              <a:sym typeface="Arial"/>
            </a:endParaRPr>
          </a:p>
        </p:txBody>
      </p:sp>
      <p:sp>
        <p:nvSpPr>
          <p:cNvPr id="280" name="Google Shape;280;g3f8de8f025a_0_95"/>
          <p:cNvSpPr/>
          <p:nvPr/>
        </p:nvSpPr>
        <p:spPr>
          <a:xfrm>
            <a:off x="1479223" y="3818487"/>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Applications in Industry</a:t>
            </a:r>
            <a:endParaRPr b="0" i="0" sz="1400" u="none" cap="none" strike="noStrike">
              <a:solidFill>
                <a:srgbClr val="000000"/>
              </a:solidFill>
              <a:latin typeface="Arial"/>
              <a:ea typeface="Arial"/>
              <a:cs typeface="Arial"/>
              <a:sym typeface="Arial"/>
            </a:endParaRPr>
          </a:p>
        </p:txBody>
      </p:sp>
      <p:sp>
        <p:nvSpPr>
          <p:cNvPr id="281" name="Google Shape;281;g3f8de8f025a_0_95"/>
          <p:cNvSpPr/>
          <p:nvPr/>
        </p:nvSpPr>
        <p:spPr>
          <a:xfrm>
            <a:off x="1479223" y="1359593"/>
            <a:ext cx="2948400" cy="3078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595959"/>
                </a:solidFill>
                <a:latin typeface="Helvetica Neue"/>
                <a:ea typeface="Helvetica Neue"/>
                <a:cs typeface="Helvetica Neue"/>
                <a:sym typeface="Helvetica Neue"/>
              </a:rPr>
              <a:t>OBJECTIVES</a:t>
            </a:r>
            <a:endParaRPr b="0" i="0" sz="1400" u="none" cap="none" strike="noStrike">
              <a:solidFill>
                <a:srgbClr val="000000"/>
              </a:solidFill>
              <a:latin typeface="Arial"/>
              <a:ea typeface="Arial"/>
              <a:cs typeface="Arial"/>
              <a:sym typeface="Arial"/>
            </a:endParaRPr>
          </a:p>
        </p:txBody>
      </p:sp>
      <p:sp>
        <p:nvSpPr>
          <p:cNvPr id="282" name="Google Shape;282;g3f8de8f025a_0_95"/>
          <p:cNvSpPr/>
          <p:nvPr/>
        </p:nvSpPr>
        <p:spPr>
          <a:xfrm>
            <a:off x="4572000" y="1714625"/>
            <a:ext cx="2948400" cy="6495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Data Manipulation / Visualization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1" lang="en" sz="1100" u="none" cap="none" strike="noStrike">
                <a:solidFill>
                  <a:srgbClr val="595959"/>
                </a:solidFill>
                <a:latin typeface="Helvetica Neue"/>
                <a:ea typeface="Helvetica Neue"/>
                <a:cs typeface="Helvetica Neue"/>
                <a:sym typeface="Helvetica Neue"/>
              </a:rPr>
              <a:t>Lectures 1-3</a:t>
            </a:r>
            <a:endParaRPr b="0" i="0" sz="1400" u="none" cap="none" strike="noStrike">
              <a:solidFill>
                <a:srgbClr val="000000"/>
              </a:solidFill>
              <a:latin typeface="Arial"/>
              <a:ea typeface="Arial"/>
              <a:cs typeface="Arial"/>
              <a:sym typeface="Arial"/>
            </a:endParaRPr>
          </a:p>
        </p:txBody>
      </p:sp>
      <p:sp>
        <p:nvSpPr>
          <p:cNvPr id="283" name="Google Shape;283;g3f8de8f025a_0_95"/>
          <p:cNvSpPr/>
          <p:nvPr/>
        </p:nvSpPr>
        <p:spPr>
          <a:xfrm>
            <a:off x="4572000" y="2411525"/>
            <a:ext cx="2948400" cy="6495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Fundamentals of Machine Learning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1" lang="en" sz="1100" u="none" cap="none" strike="noStrike">
                <a:solidFill>
                  <a:srgbClr val="595959"/>
                </a:solidFill>
                <a:latin typeface="Helvetica Neue"/>
                <a:ea typeface="Helvetica Neue"/>
                <a:cs typeface="Helvetica Neue"/>
                <a:sym typeface="Helvetica Neue"/>
              </a:rPr>
              <a:t>Lectures 4-5</a:t>
            </a:r>
            <a:endParaRPr b="0" i="0" sz="1400" u="none" cap="none" strike="noStrike">
              <a:solidFill>
                <a:srgbClr val="000000"/>
              </a:solidFill>
              <a:latin typeface="Arial"/>
              <a:ea typeface="Arial"/>
              <a:cs typeface="Arial"/>
              <a:sym typeface="Arial"/>
            </a:endParaRPr>
          </a:p>
        </p:txBody>
      </p:sp>
      <p:sp>
        <p:nvSpPr>
          <p:cNvPr id="284" name="Google Shape;284;g3f8de8f025a_0_95"/>
          <p:cNvSpPr/>
          <p:nvPr/>
        </p:nvSpPr>
        <p:spPr>
          <a:xfrm>
            <a:off x="4572000" y="1359593"/>
            <a:ext cx="2948400" cy="3078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595959"/>
                </a:solidFill>
                <a:latin typeface="Helvetica Neue"/>
                <a:ea typeface="Helvetica Neue"/>
                <a:cs typeface="Helvetica Neue"/>
                <a:sym typeface="Helvetica Neue"/>
              </a:rPr>
              <a:t>SYLLABUS</a:t>
            </a:r>
            <a:endParaRPr b="0" i="0" sz="1400" u="none" cap="none" strike="noStrike">
              <a:solidFill>
                <a:srgbClr val="000000"/>
              </a:solidFill>
              <a:latin typeface="Arial"/>
              <a:ea typeface="Arial"/>
              <a:cs typeface="Arial"/>
              <a:sym typeface="Arial"/>
            </a:endParaRPr>
          </a:p>
        </p:txBody>
      </p:sp>
      <p:sp>
        <p:nvSpPr>
          <p:cNvPr id="285" name="Google Shape;285;g3f8de8f025a_0_95"/>
          <p:cNvSpPr/>
          <p:nvPr/>
        </p:nvSpPr>
        <p:spPr>
          <a:xfrm>
            <a:off x="4572000" y="3108423"/>
            <a:ext cx="2948400" cy="6495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Supervised Learning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1" lang="en" sz="1100" u="none" cap="none" strike="noStrike">
                <a:solidFill>
                  <a:srgbClr val="595959"/>
                </a:solidFill>
                <a:latin typeface="Helvetica Neue"/>
                <a:ea typeface="Helvetica Neue"/>
                <a:cs typeface="Helvetica Neue"/>
                <a:sym typeface="Helvetica Neue"/>
              </a:rPr>
              <a:t>Lectures 6-8</a:t>
            </a:r>
            <a:endParaRPr b="0" i="0" sz="1400" u="none" cap="none" strike="noStrike">
              <a:solidFill>
                <a:srgbClr val="000000"/>
              </a:solidFill>
              <a:latin typeface="Arial"/>
              <a:ea typeface="Arial"/>
              <a:cs typeface="Arial"/>
              <a:sym typeface="Arial"/>
            </a:endParaRPr>
          </a:p>
        </p:txBody>
      </p:sp>
      <p:sp>
        <p:nvSpPr>
          <p:cNvPr id="286" name="Google Shape;286;g3f8de8f025a_0_95"/>
          <p:cNvSpPr/>
          <p:nvPr/>
        </p:nvSpPr>
        <p:spPr>
          <a:xfrm>
            <a:off x="4572000" y="3815470"/>
            <a:ext cx="2948400" cy="6495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Unsupervised Learning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1" lang="en" sz="1100" u="none" cap="none" strike="noStrike">
                <a:solidFill>
                  <a:srgbClr val="595959"/>
                </a:solidFill>
                <a:latin typeface="Helvetica Neue"/>
                <a:ea typeface="Helvetica Neue"/>
                <a:cs typeface="Helvetica Neue"/>
                <a:sym typeface="Helvetica Neue"/>
              </a:rPr>
              <a:t>Lecture 9</a:t>
            </a:r>
            <a:endParaRPr b="0" i="0" sz="1400" u="none" cap="none" strike="noStrike">
              <a:solidFill>
                <a:srgbClr val="000000"/>
              </a:solidFill>
              <a:latin typeface="Arial"/>
              <a:ea typeface="Arial"/>
              <a:cs typeface="Arial"/>
              <a:sym typeface="Arial"/>
            </a:endParaRPr>
          </a:p>
        </p:txBody>
      </p:sp>
      <p:sp>
        <p:nvSpPr>
          <p:cNvPr id="287" name="Google Shape;287;g3f8de8f025a_0_95"/>
          <p:cNvSpPr/>
          <p:nvPr/>
        </p:nvSpPr>
        <p:spPr>
          <a:xfrm>
            <a:off x="1479223" y="4173519"/>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Project Experience</a:t>
            </a:r>
            <a:endParaRPr b="0" i="0" sz="1400" u="none" cap="none" strike="noStrike">
              <a:solidFill>
                <a:srgbClr val="000000"/>
              </a:solidFill>
              <a:latin typeface="Arial"/>
              <a:ea typeface="Arial"/>
              <a:cs typeface="Arial"/>
              <a:sym typeface="Arial"/>
            </a:endParaRPr>
          </a:p>
        </p:txBody>
      </p:sp>
      <p:sp>
        <p:nvSpPr>
          <p:cNvPr id="288" name="Google Shape;288;g3f8de8f025a_0_95"/>
          <p:cNvSpPr txBox="1"/>
          <p:nvPr/>
        </p:nvSpPr>
        <p:spPr>
          <a:xfrm>
            <a:off x="3213600" y="4638980"/>
            <a:ext cx="2948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13CB0"/>
                </a:solidFill>
                <a:latin typeface="Hind"/>
                <a:ea typeface="Hind"/>
                <a:cs typeface="Hind"/>
                <a:sym typeface="Hind"/>
              </a:rPr>
              <a:t>Syllabus is posted on our website.</a:t>
            </a:r>
            <a:endParaRPr b="1" i="0" sz="1400" u="none" cap="none" strike="noStrike">
              <a:solidFill>
                <a:srgbClr val="613CB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2" name="Shape 292"/>
        <p:cNvGrpSpPr/>
        <p:nvPr/>
      </p:nvGrpSpPr>
      <p:grpSpPr>
        <a:xfrm>
          <a:off x="0" y="0"/>
          <a:ext cx="0" cy="0"/>
          <a:chOff x="0" y="0"/>
          <a:chExt cx="0" cy="0"/>
        </a:xfrm>
      </p:grpSpPr>
      <p:sp>
        <p:nvSpPr>
          <p:cNvPr id="293" name="Google Shape;293;p11"/>
          <p:cNvSpPr txBox="1"/>
          <p:nvPr>
            <p:ph type="title"/>
          </p:nvPr>
        </p:nvSpPr>
        <p:spPr>
          <a:xfrm>
            <a:off x="311699" y="445025"/>
            <a:ext cx="48249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What is Data Science?</a:t>
            </a:r>
            <a:endParaRPr i="0" sz="2400" u="none" cap="none" strike="noStrike">
              <a:solidFill>
                <a:srgbClr val="613CB0"/>
              </a:solidFill>
              <a:latin typeface="Hind"/>
              <a:ea typeface="Hind"/>
              <a:cs typeface="Hind"/>
              <a:sym typeface="Hind"/>
            </a:endParaRPr>
          </a:p>
        </p:txBody>
      </p:sp>
      <p:sp>
        <p:nvSpPr>
          <p:cNvPr id="294" name="Google Shape;294;p11"/>
          <p:cNvSpPr/>
          <p:nvPr/>
        </p:nvSpPr>
        <p:spPr>
          <a:xfrm>
            <a:off x="636630" y="2048530"/>
            <a:ext cx="7997100" cy="5232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Helvetica Neue"/>
                <a:ea typeface="Helvetica Neue"/>
                <a:cs typeface="Helvetica Neue"/>
                <a:sym typeface="Helvetica Neue"/>
              </a:rPr>
              <a:t>“By "Data Science", we mean almost everything that has something to do with data: Collecting, analyzing, modeling...... yet the most important part is its applications --- all sorts of applications.”</a:t>
            </a:r>
            <a:endParaRPr b="0" i="1" sz="1800" u="none" cap="none" strike="noStrike">
              <a:solidFill>
                <a:srgbClr val="595959"/>
              </a:solidFill>
              <a:latin typeface="Helvetica Neue"/>
              <a:ea typeface="Helvetica Neue"/>
              <a:cs typeface="Helvetica Neue"/>
              <a:sym typeface="Helvetica Neue"/>
            </a:endParaRPr>
          </a:p>
        </p:txBody>
      </p:sp>
      <p:sp>
        <p:nvSpPr>
          <p:cNvPr id="295" name="Google Shape;295;p11"/>
          <p:cNvSpPr/>
          <p:nvPr/>
        </p:nvSpPr>
        <p:spPr>
          <a:xfrm>
            <a:off x="639888" y="2647950"/>
            <a:ext cx="7997100" cy="261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750"/>
              <a:buFont typeface="Arial"/>
              <a:buNone/>
            </a:pPr>
            <a:r>
              <a:rPr b="0" i="1" lang="en" sz="1750" u="sng" cap="none" strike="noStrike">
                <a:solidFill>
                  <a:srgbClr val="595959"/>
                </a:solidFill>
                <a:latin typeface="Helvetica Neue"/>
                <a:ea typeface="Helvetica Neue"/>
                <a:cs typeface="Helvetica Neue"/>
                <a:sym typeface="Helvetica Neue"/>
                <a:hlinkClick r:id="rId3">
                  <a:extLst>
                    <a:ext uri="{A12FA001-AC4F-418D-AE19-62706E023703}">
                      <ahyp:hlinkClr val="tx"/>
                    </a:ext>
                  </a:extLst>
                </a:hlinkClick>
              </a:rPr>
              <a:t>Journal of Data Science </a:t>
            </a:r>
            <a:endParaRPr b="0" i="1" sz="1750" u="none" cap="none" strike="noStrike">
              <a:solidFill>
                <a:srgbClr val="595959"/>
              </a:solidFill>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9" name="Shape 299"/>
        <p:cNvGrpSpPr/>
        <p:nvPr/>
      </p:nvGrpSpPr>
      <p:grpSpPr>
        <a:xfrm>
          <a:off x="0" y="0"/>
          <a:ext cx="0" cy="0"/>
          <a:chOff x="0" y="0"/>
          <a:chExt cx="0" cy="0"/>
        </a:xfrm>
      </p:grpSpPr>
      <p:sp>
        <p:nvSpPr>
          <p:cNvPr id="300" name="Google Shape;300;p12"/>
          <p:cNvSpPr txBox="1"/>
          <p:nvPr>
            <p:ph type="title"/>
          </p:nvPr>
        </p:nvSpPr>
        <p:spPr>
          <a:xfrm>
            <a:off x="311699" y="445025"/>
            <a:ext cx="48249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What is Data Science?</a:t>
            </a:r>
            <a:endParaRPr i="0" sz="2400" u="none" cap="none" strike="noStrike">
              <a:solidFill>
                <a:srgbClr val="613CB0"/>
              </a:solidFill>
              <a:latin typeface="Hind"/>
              <a:ea typeface="Hind"/>
              <a:cs typeface="Hind"/>
              <a:sym typeface="Hind"/>
            </a:endParaRPr>
          </a:p>
        </p:txBody>
      </p:sp>
      <p:sp>
        <p:nvSpPr>
          <p:cNvPr id="301" name="Google Shape;301;p12"/>
          <p:cNvSpPr/>
          <p:nvPr/>
        </p:nvSpPr>
        <p:spPr>
          <a:xfrm>
            <a:off x="2724120" y="1192414"/>
            <a:ext cx="2150400" cy="2150400"/>
          </a:xfrm>
          <a:prstGeom prst="ellipse">
            <a:avLst/>
          </a:prstGeom>
          <a:solidFill>
            <a:srgbClr val="FFCC8B">
              <a:alpha val="63922"/>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2" name="Google Shape;302;p12"/>
          <p:cNvSpPr/>
          <p:nvPr/>
        </p:nvSpPr>
        <p:spPr>
          <a:xfrm>
            <a:off x="3903345" y="1181910"/>
            <a:ext cx="2150400" cy="2150400"/>
          </a:xfrm>
          <a:prstGeom prst="ellipse">
            <a:avLst/>
          </a:prstGeom>
          <a:solidFill>
            <a:srgbClr val="FFCC8B">
              <a:alpha val="63922"/>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3" name="Google Shape;303;p12"/>
          <p:cNvSpPr/>
          <p:nvPr/>
        </p:nvSpPr>
        <p:spPr>
          <a:xfrm>
            <a:off x="3356114" y="2307288"/>
            <a:ext cx="2150400" cy="2150400"/>
          </a:xfrm>
          <a:prstGeom prst="ellipse">
            <a:avLst/>
          </a:prstGeom>
          <a:solidFill>
            <a:srgbClr val="FFCC8B">
              <a:alpha val="63922"/>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4" name="Google Shape;304;p12"/>
          <p:cNvSpPr/>
          <p:nvPr/>
        </p:nvSpPr>
        <p:spPr>
          <a:xfrm>
            <a:off x="2964327" y="1914054"/>
            <a:ext cx="783600" cy="430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595959"/>
                </a:solidFill>
                <a:latin typeface="Helvetica Neue"/>
                <a:ea typeface="Helvetica Neue"/>
                <a:cs typeface="Helvetica Neue"/>
                <a:sym typeface="Helvetica Neue"/>
              </a:rPr>
              <a:t>Domain Expertise</a:t>
            </a:r>
            <a:endParaRPr b="0" i="0" sz="1100" u="none" cap="none" strike="noStrike">
              <a:solidFill>
                <a:srgbClr val="595959"/>
              </a:solidFill>
              <a:latin typeface="Arial"/>
              <a:ea typeface="Arial"/>
              <a:cs typeface="Arial"/>
              <a:sym typeface="Arial"/>
            </a:endParaRPr>
          </a:p>
        </p:txBody>
      </p:sp>
      <p:sp>
        <p:nvSpPr>
          <p:cNvPr id="305" name="Google Shape;305;p12"/>
          <p:cNvSpPr/>
          <p:nvPr/>
        </p:nvSpPr>
        <p:spPr>
          <a:xfrm>
            <a:off x="4927127" y="2017598"/>
            <a:ext cx="1055700" cy="261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595959"/>
                </a:solidFill>
                <a:latin typeface="Helvetica Neue"/>
                <a:ea typeface="Helvetica Neue"/>
                <a:cs typeface="Helvetica Neue"/>
                <a:sym typeface="Helvetica Neue"/>
              </a:rPr>
              <a:t>Mathematics</a:t>
            </a:r>
            <a:endParaRPr b="0" i="0" sz="1100" u="none" cap="none" strike="noStrike">
              <a:solidFill>
                <a:srgbClr val="595959"/>
              </a:solidFill>
              <a:latin typeface="Arial"/>
              <a:ea typeface="Arial"/>
              <a:cs typeface="Arial"/>
              <a:sym typeface="Arial"/>
            </a:endParaRPr>
          </a:p>
        </p:txBody>
      </p:sp>
      <p:sp>
        <p:nvSpPr>
          <p:cNvPr id="306" name="Google Shape;306;p12"/>
          <p:cNvSpPr/>
          <p:nvPr/>
        </p:nvSpPr>
        <p:spPr>
          <a:xfrm>
            <a:off x="3922670" y="3466026"/>
            <a:ext cx="1055700" cy="430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595959"/>
                </a:solidFill>
                <a:latin typeface="Helvetica Neue"/>
                <a:ea typeface="Helvetica Neue"/>
                <a:cs typeface="Helvetica Neue"/>
                <a:sym typeface="Helvetica Neue"/>
              </a:rPr>
              <a:t>Computer Science</a:t>
            </a:r>
            <a:endParaRPr b="0" i="0" sz="1100" u="none" cap="none" strike="noStrike">
              <a:solidFill>
                <a:srgbClr val="595959"/>
              </a:solidFill>
              <a:latin typeface="Arial"/>
              <a:ea typeface="Arial"/>
              <a:cs typeface="Arial"/>
              <a:sym typeface="Arial"/>
            </a:endParaRPr>
          </a:p>
        </p:txBody>
      </p:sp>
      <p:sp>
        <p:nvSpPr>
          <p:cNvPr id="307" name="Google Shape;307;p12"/>
          <p:cNvSpPr/>
          <p:nvPr/>
        </p:nvSpPr>
        <p:spPr>
          <a:xfrm rot="-1897026">
            <a:off x="3271299" y="2836956"/>
            <a:ext cx="1055814" cy="36917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595959"/>
                </a:solidFill>
                <a:latin typeface="Helvetica Neue"/>
                <a:ea typeface="Helvetica Neue"/>
                <a:cs typeface="Helvetica Neue"/>
                <a:sym typeface="Helvetica Neue"/>
              </a:rPr>
              <a:t>Danger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595959"/>
                </a:solidFill>
                <a:latin typeface="Helvetica Neue"/>
                <a:ea typeface="Helvetica Neue"/>
                <a:cs typeface="Helvetica Neue"/>
                <a:sym typeface="Helvetica Neue"/>
              </a:rPr>
              <a:t>Zone</a:t>
            </a:r>
            <a:endParaRPr b="0" i="0" sz="900" u="none" cap="none" strike="noStrike">
              <a:solidFill>
                <a:srgbClr val="595959"/>
              </a:solidFill>
              <a:latin typeface="Arial"/>
              <a:ea typeface="Arial"/>
              <a:cs typeface="Arial"/>
              <a:sym typeface="Arial"/>
            </a:endParaRPr>
          </a:p>
        </p:txBody>
      </p:sp>
      <p:sp>
        <p:nvSpPr>
          <p:cNvPr id="308" name="Google Shape;308;p12"/>
          <p:cNvSpPr/>
          <p:nvPr/>
        </p:nvSpPr>
        <p:spPr>
          <a:xfrm rot="1800200">
            <a:off x="4515274" y="2795683"/>
            <a:ext cx="1055894" cy="36935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595959"/>
                </a:solidFill>
                <a:latin typeface="Helvetica Neue"/>
                <a:ea typeface="Helvetica Neue"/>
                <a:cs typeface="Helvetica Neue"/>
                <a:sym typeface="Helvetica Neue"/>
              </a:rPr>
              <a:t>Machine Learning</a:t>
            </a:r>
            <a:endParaRPr b="0" i="0" sz="900" u="none" cap="none" strike="noStrike">
              <a:solidFill>
                <a:srgbClr val="595959"/>
              </a:solidFill>
              <a:latin typeface="Arial"/>
              <a:ea typeface="Arial"/>
              <a:cs typeface="Arial"/>
              <a:sym typeface="Arial"/>
            </a:endParaRPr>
          </a:p>
        </p:txBody>
      </p:sp>
      <p:sp>
        <p:nvSpPr>
          <p:cNvPr id="309" name="Google Shape;309;p12"/>
          <p:cNvSpPr/>
          <p:nvPr/>
        </p:nvSpPr>
        <p:spPr>
          <a:xfrm>
            <a:off x="3880288" y="1793895"/>
            <a:ext cx="105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595959"/>
                </a:solidFill>
                <a:latin typeface="Helvetica Neue"/>
                <a:ea typeface="Helvetica Neue"/>
                <a:cs typeface="Helvetica Neue"/>
                <a:sym typeface="Helvetica Neue"/>
              </a:rPr>
              <a:t>Statistical Research</a:t>
            </a:r>
            <a:endParaRPr b="0" i="0" sz="900" u="none" cap="none" strike="noStrike">
              <a:solidFill>
                <a:srgbClr val="595959"/>
              </a:solidFill>
              <a:latin typeface="Arial"/>
              <a:ea typeface="Arial"/>
              <a:cs typeface="Arial"/>
              <a:sym typeface="Arial"/>
            </a:endParaRPr>
          </a:p>
        </p:txBody>
      </p:sp>
      <p:sp>
        <p:nvSpPr>
          <p:cNvPr id="310" name="Google Shape;310;p12"/>
          <p:cNvSpPr/>
          <p:nvPr/>
        </p:nvSpPr>
        <p:spPr>
          <a:xfrm>
            <a:off x="3888127" y="2421519"/>
            <a:ext cx="1055700" cy="430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595959"/>
                </a:solidFill>
                <a:latin typeface="Helvetica Neue"/>
                <a:ea typeface="Helvetica Neue"/>
                <a:cs typeface="Helvetica Neue"/>
                <a:sym typeface="Helvetica Neue"/>
              </a:rPr>
              <a:t>Data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595959"/>
                </a:solidFill>
                <a:latin typeface="Helvetica Neue"/>
                <a:ea typeface="Helvetica Neue"/>
                <a:cs typeface="Helvetica Neue"/>
                <a:sym typeface="Helvetica Neue"/>
              </a:rPr>
              <a:t>Science</a:t>
            </a:r>
            <a:endParaRPr b="1" i="0" sz="1100" u="none" cap="none" strike="noStrike">
              <a:solidFill>
                <a:srgbClr val="595959"/>
              </a:solidFill>
              <a:latin typeface="Arial"/>
              <a:ea typeface="Arial"/>
              <a:cs typeface="Arial"/>
              <a:sym typeface="Arial"/>
            </a:endParaRPr>
          </a:p>
        </p:txBody>
      </p:sp>
      <p:sp>
        <p:nvSpPr>
          <p:cNvPr id="311" name="Google Shape;311;p12"/>
          <p:cNvSpPr/>
          <p:nvPr/>
        </p:nvSpPr>
        <p:spPr>
          <a:xfrm>
            <a:off x="311699" y="863093"/>
            <a:ext cx="2159700" cy="230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1" lang="en" sz="900" u="none" cap="none" strike="noStrike">
                <a:solidFill>
                  <a:srgbClr val="595959"/>
                </a:solidFill>
                <a:latin typeface="Helvetica Neue"/>
                <a:ea typeface="Helvetica Neue"/>
                <a:cs typeface="Helvetica Neue"/>
                <a:sym typeface="Helvetica Neue"/>
              </a:rPr>
              <a:t>Conway’s Data Science Venn Diagram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5" name="Shape 315"/>
        <p:cNvGrpSpPr/>
        <p:nvPr/>
      </p:nvGrpSpPr>
      <p:grpSpPr>
        <a:xfrm>
          <a:off x="0" y="0"/>
          <a:ext cx="0" cy="0"/>
          <a:chOff x="0" y="0"/>
          <a:chExt cx="0" cy="0"/>
        </a:xfrm>
      </p:grpSpPr>
      <p:sp>
        <p:nvSpPr>
          <p:cNvPr id="316" name="Google Shape;316;p13"/>
          <p:cNvSpPr txBox="1"/>
          <p:nvPr>
            <p:ph type="title"/>
          </p:nvPr>
        </p:nvSpPr>
        <p:spPr>
          <a:xfrm>
            <a:off x="311699" y="445025"/>
            <a:ext cx="48249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What is Data Science?</a:t>
            </a:r>
            <a:endParaRPr i="0" sz="2400" u="none" cap="none" strike="noStrike">
              <a:solidFill>
                <a:srgbClr val="613CB0"/>
              </a:solidFill>
              <a:latin typeface="Hind"/>
              <a:ea typeface="Hind"/>
              <a:cs typeface="Hind"/>
              <a:sym typeface="Hind"/>
            </a:endParaRPr>
          </a:p>
        </p:txBody>
      </p:sp>
      <p:sp>
        <p:nvSpPr>
          <p:cNvPr id="317" name="Google Shape;317;p13"/>
          <p:cNvSpPr/>
          <p:nvPr/>
        </p:nvSpPr>
        <p:spPr>
          <a:xfrm>
            <a:off x="1086151" y="1192414"/>
            <a:ext cx="2150400" cy="2150400"/>
          </a:xfrm>
          <a:prstGeom prst="ellipse">
            <a:avLst/>
          </a:prstGeom>
          <a:solidFill>
            <a:srgbClr val="FFCC8B">
              <a:alpha val="63922"/>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8" name="Google Shape;318;p13"/>
          <p:cNvSpPr/>
          <p:nvPr/>
        </p:nvSpPr>
        <p:spPr>
          <a:xfrm>
            <a:off x="2265376" y="1181910"/>
            <a:ext cx="2150400" cy="2150400"/>
          </a:xfrm>
          <a:prstGeom prst="ellipse">
            <a:avLst/>
          </a:prstGeom>
          <a:solidFill>
            <a:srgbClr val="FFCC8B">
              <a:alpha val="63922"/>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9" name="Google Shape;319;p13"/>
          <p:cNvSpPr/>
          <p:nvPr/>
        </p:nvSpPr>
        <p:spPr>
          <a:xfrm>
            <a:off x="1718145" y="2307288"/>
            <a:ext cx="2150400" cy="2150400"/>
          </a:xfrm>
          <a:prstGeom prst="ellipse">
            <a:avLst/>
          </a:prstGeom>
          <a:solidFill>
            <a:srgbClr val="FFCC8B">
              <a:alpha val="63922"/>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0" name="Google Shape;320;p13"/>
          <p:cNvSpPr/>
          <p:nvPr/>
        </p:nvSpPr>
        <p:spPr>
          <a:xfrm>
            <a:off x="1326358" y="1914054"/>
            <a:ext cx="783600" cy="430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595959"/>
                </a:solidFill>
                <a:latin typeface="Helvetica Neue"/>
                <a:ea typeface="Helvetica Neue"/>
                <a:cs typeface="Helvetica Neue"/>
                <a:sym typeface="Helvetica Neue"/>
              </a:rPr>
              <a:t>Domain Expertise</a:t>
            </a:r>
            <a:endParaRPr b="0" i="0" sz="1100" u="none" cap="none" strike="noStrike">
              <a:solidFill>
                <a:srgbClr val="595959"/>
              </a:solidFill>
              <a:latin typeface="Arial"/>
              <a:ea typeface="Arial"/>
              <a:cs typeface="Arial"/>
              <a:sym typeface="Arial"/>
            </a:endParaRPr>
          </a:p>
        </p:txBody>
      </p:sp>
      <p:sp>
        <p:nvSpPr>
          <p:cNvPr id="321" name="Google Shape;321;p13"/>
          <p:cNvSpPr/>
          <p:nvPr/>
        </p:nvSpPr>
        <p:spPr>
          <a:xfrm>
            <a:off x="3289158" y="2017598"/>
            <a:ext cx="1055700" cy="261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595959"/>
                </a:solidFill>
                <a:latin typeface="Helvetica Neue"/>
                <a:ea typeface="Helvetica Neue"/>
                <a:cs typeface="Helvetica Neue"/>
                <a:sym typeface="Helvetica Neue"/>
              </a:rPr>
              <a:t>Mathematics</a:t>
            </a:r>
            <a:endParaRPr b="0" i="0" sz="1100" u="none" cap="none" strike="noStrike">
              <a:solidFill>
                <a:srgbClr val="595959"/>
              </a:solidFill>
              <a:latin typeface="Arial"/>
              <a:ea typeface="Arial"/>
              <a:cs typeface="Arial"/>
              <a:sym typeface="Arial"/>
            </a:endParaRPr>
          </a:p>
        </p:txBody>
      </p:sp>
      <p:sp>
        <p:nvSpPr>
          <p:cNvPr id="322" name="Google Shape;322;p13"/>
          <p:cNvSpPr/>
          <p:nvPr/>
        </p:nvSpPr>
        <p:spPr>
          <a:xfrm>
            <a:off x="2284701" y="3466026"/>
            <a:ext cx="1055700" cy="430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595959"/>
                </a:solidFill>
                <a:latin typeface="Helvetica Neue"/>
                <a:ea typeface="Helvetica Neue"/>
                <a:cs typeface="Helvetica Neue"/>
                <a:sym typeface="Helvetica Neue"/>
              </a:rPr>
              <a:t>Computer Science</a:t>
            </a:r>
            <a:endParaRPr b="0" i="0" sz="1100" u="none" cap="none" strike="noStrike">
              <a:solidFill>
                <a:srgbClr val="595959"/>
              </a:solidFill>
              <a:latin typeface="Arial"/>
              <a:ea typeface="Arial"/>
              <a:cs typeface="Arial"/>
              <a:sym typeface="Arial"/>
            </a:endParaRPr>
          </a:p>
        </p:txBody>
      </p:sp>
      <p:sp>
        <p:nvSpPr>
          <p:cNvPr id="323" name="Google Shape;323;p13"/>
          <p:cNvSpPr/>
          <p:nvPr/>
        </p:nvSpPr>
        <p:spPr>
          <a:xfrm rot="-1897026">
            <a:off x="1633330" y="2836956"/>
            <a:ext cx="1055814" cy="36917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595959"/>
                </a:solidFill>
                <a:latin typeface="Helvetica Neue"/>
                <a:ea typeface="Helvetica Neue"/>
                <a:cs typeface="Helvetica Neue"/>
                <a:sym typeface="Helvetica Neue"/>
              </a:rPr>
              <a:t>Danger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595959"/>
                </a:solidFill>
                <a:latin typeface="Helvetica Neue"/>
                <a:ea typeface="Helvetica Neue"/>
                <a:cs typeface="Helvetica Neue"/>
                <a:sym typeface="Helvetica Neue"/>
              </a:rPr>
              <a:t>Zone</a:t>
            </a:r>
            <a:endParaRPr b="0" i="0" sz="900" u="none" cap="none" strike="noStrike">
              <a:solidFill>
                <a:srgbClr val="595959"/>
              </a:solidFill>
              <a:latin typeface="Arial"/>
              <a:ea typeface="Arial"/>
              <a:cs typeface="Arial"/>
              <a:sym typeface="Arial"/>
            </a:endParaRPr>
          </a:p>
        </p:txBody>
      </p:sp>
      <p:sp>
        <p:nvSpPr>
          <p:cNvPr id="324" name="Google Shape;324;p13"/>
          <p:cNvSpPr/>
          <p:nvPr/>
        </p:nvSpPr>
        <p:spPr>
          <a:xfrm rot="1800200">
            <a:off x="2877305" y="2795683"/>
            <a:ext cx="1055894" cy="36935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595959"/>
                </a:solidFill>
                <a:latin typeface="Helvetica Neue"/>
                <a:ea typeface="Helvetica Neue"/>
                <a:cs typeface="Helvetica Neue"/>
                <a:sym typeface="Helvetica Neue"/>
              </a:rPr>
              <a:t>Machine Learning</a:t>
            </a:r>
            <a:endParaRPr b="0" i="0" sz="900" u="none" cap="none" strike="noStrike">
              <a:solidFill>
                <a:srgbClr val="595959"/>
              </a:solidFill>
              <a:latin typeface="Arial"/>
              <a:ea typeface="Arial"/>
              <a:cs typeface="Arial"/>
              <a:sym typeface="Arial"/>
            </a:endParaRPr>
          </a:p>
        </p:txBody>
      </p:sp>
      <p:sp>
        <p:nvSpPr>
          <p:cNvPr id="325" name="Google Shape;325;p13"/>
          <p:cNvSpPr/>
          <p:nvPr/>
        </p:nvSpPr>
        <p:spPr>
          <a:xfrm>
            <a:off x="2242319" y="1793895"/>
            <a:ext cx="105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595959"/>
                </a:solidFill>
                <a:latin typeface="Helvetica Neue"/>
                <a:ea typeface="Helvetica Neue"/>
                <a:cs typeface="Helvetica Neue"/>
                <a:sym typeface="Helvetica Neue"/>
              </a:rPr>
              <a:t>Statistical Research</a:t>
            </a:r>
            <a:endParaRPr b="0" i="0" sz="900" u="none" cap="none" strike="noStrike">
              <a:solidFill>
                <a:srgbClr val="595959"/>
              </a:solidFill>
              <a:latin typeface="Arial"/>
              <a:ea typeface="Arial"/>
              <a:cs typeface="Arial"/>
              <a:sym typeface="Arial"/>
            </a:endParaRPr>
          </a:p>
        </p:txBody>
      </p:sp>
      <p:sp>
        <p:nvSpPr>
          <p:cNvPr id="326" name="Google Shape;326;p13"/>
          <p:cNvSpPr/>
          <p:nvPr/>
        </p:nvSpPr>
        <p:spPr>
          <a:xfrm>
            <a:off x="2250158" y="2421519"/>
            <a:ext cx="1055700" cy="430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595959"/>
                </a:solidFill>
                <a:latin typeface="Helvetica Neue"/>
                <a:ea typeface="Helvetica Neue"/>
                <a:cs typeface="Helvetica Neue"/>
                <a:sym typeface="Helvetica Neue"/>
              </a:rPr>
              <a:t>Data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595959"/>
                </a:solidFill>
                <a:latin typeface="Helvetica Neue"/>
                <a:ea typeface="Helvetica Neue"/>
                <a:cs typeface="Helvetica Neue"/>
                <a:sym typeface="Helvetica Neue"/>
              </a:rPr>
              <a:t>Science</a:t>
            </a:r>
            <a:endParaRPr b="1" i="0" sz="1100" u="none" cap="none" strike="noStrike">
              <a:solidFill>
                <a:srgbClr val="595959"/>
              </a:solidFill>
              <a:latin typeface="Arial"/>
              <a:ea typeface="Arial"/>
              <a:cs typeface="Arial"/>
              <a:sym typeface="Arial"/>
            </a:endParaRPr>
          </a:p>
        </p:txBody>
      </p:sp>
      <p:sp>
        <p:nvSpPr>
          <p:cNvPr id="327" name="Google Shape;327;p13"/>
          <p:cNvSpPr/>
          <p:nvPr/>
        </p:nvSpPr>
        <p:spPr>
          <a:xfrm>
            <a:off x="311699" y="863093"/>
            <a:ext cx="2159700" cy="230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1" lang="en" sz="900" u="none" cap="none" strike="noStrike">
                <a:solidFill>
                  <a:srgbClr val="595959"/>
                </a:solidFill>
                <a:latin typeface="Helvetica Neue"/>
                <a:ea typeface="Helvetica Neue"/>
                <a:cs typeface="Helvetica Neue"/>
                <a:sym typeface="Helvetica Neue"/>
              </a:rPr>
              <a:t>Conway’s Data Science Venn Diagram</a:t>
            </a:r>
            <a:endParaRPr b="0" i="0" sz="1400" u="none" cap="none" strike="noStrike">
              <a:solidFill>
                <a:srgbClr val="000000"/>
              </a:solidFill>
              <a:latin typeface="Arial"/>
              <a:ea typeface="Arial"/>
              <a:cs typeface="Arial"/>
              <a:sym typeface="Arial"/>
            </a:endParaRPr>
          </a:p>
        </p:txBody>
      </p:sp>
      <p:sp>
        <p:nvSpPr>
          <p:cNvPr id="328" name="Google Shape;328;p13"/>
          <p:cNvSpPr/>
          <p:nvPr/>
        </p:nvSpPr>
        <p:spPr>
          <a:xfrm>
            <a:off x="5613684" y="1532285"/>
            <a:ext cx="1941600" cy="261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595959"/>
                </a:solidFill>
                <a:latin typeface="Helvetica Neue"/>
                <a:ea typeface="Helvetica Neue"/>
                <a:cs typeface="Helvetica Neue"/>
                <a:sym typeface="Helvetica Neue"/>
              </a:rPr>
              <a:t>Mathematics / Statistics</a:t>
            </a:r>
            <a:endParaRPr b="0" i="0" sz="1100" u="none" cap="none" strike="noStrike">
              <a:solidFill>
                <a:srgbClr val="595959"/>
              </a:solidFill>
              <a:latin typeface="Arial"/>
              <a:ea typeface="Arial"/>
              <a:cs typeface="Arial"/>
              <a:sym typeface="Arial"/>
            </a:endParaRPr>
          </a:p>
        </p:txBody>
      </p:sp>
      <p:sp>
        <p:nvSpPr>
          <p:cNvPr id="329" name="Google Shape;329;p13"/>
          <p:cNvSpPr/>
          <p:nvPr/>
        </p:nvSpPr>
        <p:spPr>
          <a:xfrm>
            <a:off x="5613683" y="2619079"/>
            <a:ext cx="1941600" cy="261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595959"/>
                </a:solidFill>
                <a:latin typeface="Helvetica Neue"/>
                <a:ea typeface="Helvetica Neue"/>
                <a:cs typeface="Helvetica Neue"/>
                <a:sym typeface="Helvetica Neue"/>
              </a:rPr>
              <a:t>Computer Science</a:t>
            </a:r>
            <a:endParaRPr b="0" i="0" sz="1100" u="none" cap="none" strike="noStrike">
              <a:solidFill>
                <a:srgbClr val="595959"/>
              </a:solidFill>
              <a:latin typeface="Arial"/>
              <a:ea typeface="Arial"/>
              <a:cs typeface="Arial"/>
              <a:sym typeface="Arial"/>
            </a:endParaRPr>
          </a:p>
        </p:txBody>
      </p:sp>
      <p:sp>
        <p:nvSpPr>
          <p:cNvPr id="330" name="Google Shape;330;p13"/>
          <p:cNvSpPr/>
          <p:nvPr/>
        </p:nvSpPr>
        <p:spPr>
          <a:xfrm>
            <a:off x="5613683" y="3701461"/>
            <a:ext cx="1941600" cy="261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595959"/>
                </a:solidFill>
                <a:latin typeface="Helvetica Neue"/>
                <a:ea typeface="Helvetica Neue"/>
                <a:cs typeface="Helvetica Neue"/>
                <a:sym typeface="Helvetica Neue"/>
              </a:rPr>
              <a:t>Domain Expertise</a:t>
            </a:r>
            <a:endParaRPr b="0" i="0" sz="1100" u="none" cap="none" strike="noStrike">
              <a:solidFill>
                <a:srgbClr val="595959"/>
              </a:solidFill>
              <a:latin typeface="Arial"/>
              <a:ea typeface="Arial"/>
              <a:cs typeface="Arial"/>
              <a:sym typeface="Arial"/>
            </a:endParaRPr>
          </a:p>
        </p:txBody>
      </p:sp>
      <p:cxnSp>
        <p:nvCxnSpPr>
          <p:cNvPr id="331" name="Google Shape;331;p13"/>
          <p:cNvCxnSpPr>
            <a:stCxn id="328" idx="2"/>
            <a:endCxn id="329" idx="0"/>
          </p:cNvCxnSpPr>
          <p:nvPr/>
        </p:nvCxnSpPr>
        <p:spPr>
          <a:xfrm>
            <a:off x="6584484" y="1793885"/>
            <a:ext cx="0" cy="825300"/>
          </a:xfrm>
          <a:prstGeom prst="straightConnector1">
            <a:avLst/>
          </a:prstGeom>
          <a:noFill/>
          <a:ln cap="flat" cmpd="sng" w="9525">
            <a:solidFill>
              <a:srgbClr val="262626"/>
            </a:solidFill>
            <a:prstDash val="solid"/>
            <a:round/>
            <a:headEnd len="sm" w="sm" type="none"/>
            <a:tailEnd len="med" w="med" type="triangle"/>
          </a:ln>
        </p:spPr>
      </p:cxnSp>
      <p:cxnSp>
        <p:nvCxnSpPr>
          <p:cNvPr id="332" name="Google Shape;332;p13"/>
          <p:cNvCxnSpPr>
            <a:stCxn id="329" idx="2"/>
            <a:endCxn id="330" idx="0"/>
          </p:cNvCxnSpPr>
          <p:nvPr/>
        </p:nvCxnSpPr>
        <p:spPr>
          <a:xfrm>
            <a:off x="6584483" y="2880679"/>
            <a:ext cx="0" cy="820800"/>
          </a:xfrm>
          <a:prstGeom prst="straightConnector1">
            <a:avLst/>
          </a:prstGeom>
          <a:noFill/>
          <a:ln cap="flat" cmpd="sng" w="9525">
            <a:solidFill>
              <a:srgbClr val="262626"/>
            </a:solidFill>
            <a:prstDash val="solid"/>
            <a:round/>
            <a:headEnd len="sm" w="sm" type="none"/>
            <a:tailEnd len="med" w="med" type="triangle"/>
          </a:ln>
        </p:spPr>
      </p:cxnSp>
      <p:sp>
        <p:nvSpPr>
          <p:cNvPr id="333" name="Google Shape;333;p13"/>
          <p:cNvSpPr/>
          <p:nvPr/>
        </p:nvSpPr>
        <p:spPr>
          <a:xfrm>
            <a:off x="6705470" y="2045400"/>
            <a:ext cx="19416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1" lang="en" sz="1050" u="none" cap="none" strike="noStrike">
                <a:solidFill>
                  <a:srgbClr val="613CB0"/>
                </a:solidFill>
                <a:latin typeface="Helvetica Neue"/>
                <a:ea typeface="Helvetica Neue"/>
                <a:cs typeface="Helvetica Neue"/>
                <a:sym typeface="Helvetica Neue"/>
              </a:rPr>
              <a:t>How do we scale?</a:t>
            </a:r>
            <a:endParaRPr b="0" i="1" sz="1050" u="none" cap="none" strike="noStrike">
              <a:solidFill>
                <a:srgbClr val="613CB0"/>
              </a:solidFill>
              <a:latin typeface="Arial"/>
              <a:ea typeface="Arial"/>
              <a:cs typeface="Arial"/>
              <a:sym typeface="Arial"/>
            </a:endParaRPr>
          </a:p>
        </p:txBody>
      </p:sp>
      <p:sp>
        <p:nvSpPr>
          <p:cNvPr id="334" name="Google Shape;334;p13"/>
          <p:cNvSpPr/>
          <p:nvPr/>
        </p:nvSpPr>
        <p:spPr>
          <a:xfrm>
            <a:off x="6705470" y="3065386"/>
            <a:ext cx="19416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1" lang="en" sz="1050" u="none" cap="none" strike="noStrike">
                <a:solidFill>
                  <a:srgbClr val="613CB0"/>
                </a:solidFill>
                <a:latin typeface="Helvetica Neue"/>
                <a:ea typeface="Helvetica Neue"/>
                <a:cs typeface="Helvetica Neue"/>
                <a:sym typeface="Helvetica Neue"/>
              </a:rPr>
              <a:t>How do we ask the right questions / apply insights?</a:t>
            </a:r>
            <a:endParaRPr b="0" i="1" sz="1050" u="none" cap="none" strike="noStrike">
              <a:solidFill>
                <a:srgbClr val="613CB0"/>
              </a:solidFill>
              <a:latin typeface="Arial"/>
              <a:ea typeface="Arial"/>
              <a:cs typeface="Arial"/>
              <a:sym typeface="Arial"/>
            </a:endParaRPr>
          </a:p>
        </p:txBody>
      </p:sp>
      <p:cxnSp>
        <p:nvCxnSpPr>
          <p:cNvPr id="335" name="Google Shape;335;p13"/>
          <p:cNvCxnSpPr/>
          <p:nvPr/>
        </p:nvCxnSpPr>
        <p:spPr>
          <a:xfrm>
            <a:off x="4998059" y="1263705"/>
            <a:ext cx="0" cy="3177300"/>
          </a:xfrm>
          <a:prstGeom prst="straightConnector1">
            <a:avLst/>
          </a:prstGeom>
          <a:noFill/>
          <a:ln cap="flat" cmpd="sng" w="9525">
            <a:solidFill>
              <a:srgbClr val="595959"/>
            </a:solidFill>
            <a:prstDash val="dash"/>
            <a:round/>
            <a:headEnd len="sm" w="sm" type="none"/>
            <a:tailEnd len="sm" w="sm" type="none"/>
          </a:ln>
        </p:spPr>
      </p:cxnSp>
      <p:cxnSp>
        <p:nvCxnSpPr>
          <p:cNvPr id="336" name="Google Shape;336;p13"/>
          <p:cNvCxnSpPr>
            <a:stCxn id="330" idx="2"/>
            <a:endCxn id="328" idx="1"/>
          </p:cNvCxnSpPr>
          <p:nvPr/>
        </p:nvCxnSpPr>
        <p:spPr>
          <a:xfrm flipH="1" rot="5400000">
            <a:off x="4949033" y="2327611"/>
            <a:ext cx="2300100" cy="970800"/>
          </a:xfrm>
          <a:prstGeom prst="bentConnector4">
            <a:avLst>
              <a:gd fmla="val -9939" name="adj1"/>
              <a:gd fmla="val 123541" name="adj2"/>
            </a:avLst>
          </a:prstGeom>
          <a:noFill/>
          <a:ln cap="flat" cmpd="sng" w="9525">
            <a:solidFill>
              <a:srgbClr val="595959"/>
            </a:solidFill>
            <a:prstDash val="solid"/>
            <a:round/>
            <a:headEnd len="sm" w="sm" type="none"/>
            <a:tailEnd len="med" w="med" type="triangl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0" name="Shape 340"/>
        <p:cNvGrpSpPr/>
        <p:nvPr/>
      </p:nvGrpSpPr>
      <p:grpSpPr>
        <a:xfrm>
          <a:off x="0" y="0"/>
          <a:ext cx="0" cy="0"/>
          <a:chOff x="0" y="0"/>
          <a:chExt cx="0" cy="0"/>
        </a:xfrm>
      </p:grpSpPr>
      <p:sp>
        <p:nvSpPr>
          <p:cNvPr id="341" name="Google Shape;341;p14"/>
          <p:cNvSpPr txBox="1"/>
          <p:nvPr>
            <p:ph type="title"/>
          </p:nvPr>
        </p:nvSpPr>
        <p:spPr>
          <a:xfrm>
            <a:off x="2159578" y="2285400"/>
            <a:ext cx="48249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613CB0"/>
              </a:buClr>
              <a:buSzPts val="1100"/>
              <a:buFont typeface="Hind"/>
              <a:buNone/>
            </a:pPr>
            <a:r>
              <a:rPr lang="en" sz="2400">
                <a:solidFill>
                  <a:srgbClr val="613CB0"/>
                </a:solidFill>
                <a:latin typeface="Hind"/>
                <a:ea typeface="Hind"/>
                <a:cs typeface="Hind"/>
                <a:sym typeface="Hind"/>
              </a:rPr>
              <a:t>Data Science </a:t>
            </a:r>
            <a:r>
              <a:rPr lang="en">
                <a:solidFill>
                  <a:srgbClr val="613CB0"/>
                </a:solidFill>
              </a:rPr>
              <a:t>≠</a:t>
            </a:r>
            <a:r>
              <a:rPr lang="en" sz="2400">
                <a:solidFill>
                  <a:srgbClr val="613CB0"/>
                </a:solidFill>
                <a:latin typeface="Hind"/>
                <a:ea typeface="Hind"/>
                <a:cs typeface="Hind"/>
                <a:sym typeface="Hind"/>
              </a:rPr>
              <a:t> Machine Learning</a:t>
            </a:r>
            <a:endParaRPr i="0" sz="2400" u="none" cap="none" strike="noStrike">
              <a:solidFill>
                <a:srgbClr val="613CB0"/>
              </a:solidFill>
              <a:latin typeface="Hind"/>
              <a:ea typeface="Hind"/>
              <a:cs typeface="Hind"/>
              <a:sym typeface="Hi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5" name="Shape 345"/>
        <p:cNvGrpSpPr/>
        <p:nvPr/>
      </p:nvGrpSpPr>
      <p:grpSpPr>
        <a:xfrm>
          <a:off x="0" y="0"/>
          <a:ext cx="0" cy="0"/>
          <a:chOff x="0" y="0"/>
          <a:chExt cx="0" cy="0"/>
        </a:xfrm>
      </p:grpSpPr>
      <p:sp>
        <p:nvSpPr>
          <p:cNvPr id="346" name="Google Shape;346;p15"/>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Applications of Data Science</a:t>
            </a:r>
            <a:endParaRPr i="0" sz="2400" u="none" cap="none" strike="noStrike">
              <a:solidFill>
                <a:srgbClr val="613CB0"/>
              </a:solidFill>
              <a:latin typeface="Hind"/>
              <a:ea typeface="Hind"/>
              <a:cs typeface="Hind"/>
              <a:sym typeface="Hind"/>
            </a:endParaRPr>
          </a:p>
        </p:txBody>
      </p:sp>
      <p:sp>
        <p:nvSpPr>
          <p:cNvPr id="347" name="Google Shape;347;p15"/>
          <p:cNvSpPr/>
          <p:nvPr/>
        </p:nvSpPr>
        <p:spPr>
          <a:xfrm>
            <a:off x="311700" y="863093"/>
            <a:ext cx="15312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1" lang="en" sz="900" u="none" cap="none" strike="noStrike">
                <a:solidFill>
                  <a:srgbClr val="595959"/>
                </a:solidFill>
                <a:latin typeface="Helvetica Neue"/>
                <a:ea typeface="Helvetica Neue"/>
                <a:cs typeface="Helvetica Neue"/>
                <a:sym typeface="Helvetica Neue"/>
              </a:rPr>
              <a:t>We’ll be back to this slide!</a:t>
            </a:r>
            <a:endParaRPr b="0" i="0" sz="1400" u="none" cap="none" strike="noStrike">
              <a:solidFill>
                <a:srgbClr val="000000"/>
              </a:solidFill>
              <a:latin typeface="Arial"/>
              <a:ea typeface="Arial"/>
              <a:cs typeface="Arial"/>
              <a:sym typeface="Arial"/>
            </a:endParaRPr>
          </a:p>
        </p:txBody>
      </p:sp>
      <p:sp>
        <p:nvSpPr>
          <p:cNvPr id="348" name="Google Shape;348;p15"/>
          <p:cNvSpPr/>
          <p:nvPr/>
        </p:nvSpPr>
        <p:spPr>
          <a:xfrm>
            <a:off x="1381795" y="1627155"/>
            <a:ext cx="2948400" cy="6465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9" name="Google Shape;349;p15"/>
          <p:cNvSpPr/>
          <p:nvPr/>
        </p:nvSpPr>
        <p:spPr>
          <a:xfrm>
            <a:off x="2177284" y="1796510"/>
            <a:ext cx="13575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595959"/>
                </a:solidFill>
                <a:latin typeface="Helvetica Neue"/>
                <a:ea typeface="Helvetica Neue"/>
                <a:cs typeface="Helvetica Neue"/>
                <a:sym typeface="Helvetica Neue"/>
              </a:rPr>
              <a:t>Predictive</a:t>
            </a:r>
            <a:endParaRPr b="1" i="0" sz="1400" u="none" cap="none" strike="noStrike">
              <a:solidFill>
                <a:srgbClr val="595959"/>
              </a:solidFill>
              <a:latin typeface="Arial"/>
              <a:ea typeface="Arial"/>
              <a:cs typeface="Arial"/>
              <a:sym typeface="Arial"/>
            </a:endParaRPr>
          </a:p>
        </p:txBody>
      </p:sp>
      <p:sp>
        <p:nvSpPr>
          <p:cNvPr id="350" name="Google Shape;350;p15"/>
          <p:cNvSpPr/>
          <p:nvPr/>
        </p:nvSpPr>
        <p:spPr>
          <a:xfrm>
            <a:off x="4454126" y="1628008"/>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1" name="Google Shape;351;p15"/>
          <p:cNvSpPr/>
          <p:nvPr/>
        </p:nvSpPr>
        <p:spPr>
          <a:xfrm>
            <a:off x="5249615" y="1651270"/>
            <a:ext cx="1357500" cy="27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Stock Prices</a:t>
            </a:r>
            <a:endParaRPr b="0" i="0" sz="1200" u="none" cap="none" strike="noStrike">
              <a:solidFill>
                <a:srgbClr val="595959"/>
              </a:solidFill>
              <a:latin typeface="Arial"/>
              <a:ea typeface="Arial"/>
              <a:cs typeface="Arial"/>
              <a:sym typeface="Arial"/>
            </a:endParaRPr>
          </a:p>
        </p:txBody>
      </p:sp>
      <p:sp>
        <p:nvSpPr>
          <p:cNvPr id="352" name="Google Shape;352;p15"/>
          <p:cNvSpPr/>
          <p:nvPr/>
        </p:nvSpPr>
        <p:spPr>
          <a:xfrm>
            <a:off x="4454126" y="1965867"/>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3" name="Google Shape;353;p15"/>
          <p:cNvSpPr/>
          <p:nvPr/>
        </p:nvSpPr>
        <p:spPr>
          <a:xfrm>
            <a:off x="4928656" y="1965867"/>
            <a:ext cx="1999500" cy="27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Netflix Recommendations</a:t>
            </a:r>
            <a:endParaRPr b="0" i="0" sz="1200" u="none" cap="none" strike="noStrike">
              <a:solidFill>
                <a:srgbClr val="595959"/>
              </a:solidFill>
              <a:latin typeface="Arial"/>
              <a:ea typeface="Arial"/>
              <a:cs typeface="Arial"/>
              <a:sym typeface="Arial"/>
            </a:endParaRPr>
          </a:p>
        </p:txBody>
      </p:sp>
      <p:sp>
        <p:nvSpPr>
          <p:cNvPr id="354" name="Google Shape;354;p15"/>
          <p:cNvSpPr/>
          <p:nvPr/>
        </p:nvSpPr>
        <p:spPr>
          <a:xfrm>
            <a:off x="1373115" y="2442999"/>
            <a:ext cx="2948400" cy="6465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5" name="Google Shape;355;p15"/>
          <p:cNvSpPr/>
          <p:nvPr/>
        </p:nvSpPr>
        <p:spPr>
          <a:xfrm>
            <a:off x="2168604" y="2612354"/>
            <a:ext cx="13575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595959"/>
                </a:solidFill>
                <a:latin typeface="Helvetica Neue"/>
                <a:ea typeface="Helvetica Neue"/>
                <a:cs typeface="Helvetica Neue"/>
                <a:sym typeface="Helvetica Neue"/>
              </a:rPr>
              <a:t>Preventive</a:t>
            </a:r>
            <a:endParaRPr b="1" i="0" sz="1400" u="none" cap="none" strike="noStrike">
              <a:solidFill>
                <a:srgbClr val="595959"/>
              </a:solidFill>
              <a:latin typeface="Arial"/>
              <a:ea typeface="Arial"/>
              <a:cs typeface="Arial"/>
              <a:sym typeface="Arial"/>
            </a:endParaRPr>
          </a:p>
        </p:txBody>
      </p:sp>
      <p:sp>
        <p:nvSpPr>
          <p:cNvPr id="356" name="Google Shape;356;p15"/>
          <p:cNvSpPr/>
          <p:nvPr/>
        </p:nvSpPr>
        <p:spPr>
          <a:xfrm>
            <a:off x="4445446" y="2443852"/>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7" name="Google Shape;357;p15"/>
          <p:cNvSpPr/>
          <p:nvPr/>
        </p:nvSpPr>
        <p:spPr>
          <a:xfrm>
            <a:off x="4928656" y="2473934"/>
            <a:ext cx="1999500" cy="27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Medical Diagnosis</a:t>
            </a:r>
            <a:endParaRPr b="0" i="0" sz="1200" u="none" cap="none" strike="noStrike">
              <a:solidFill>
                <a:srgbClr val="595959"/>
              </a:solidFill>
              <a:latin typeface="Arial"/>
              <a:ea typeface="Arial"/>
              <a:cs typeface="Arial"/>
              <a:sym typeface="Arial"/>
            </a:endParaRPr>
          </a:p>
        </p:txBody>
      </p:sp>
      <p:sp>
        <p:nvSpPr>
          <p:cNvPr id="358" name="Google Shape;358;p15"/>
          <p:cNvSpPr/>
          <p:nvPr/>
        </p:nvSpPr>
        <p:spPr>
          <a:xfrm>
            <a:off x="4445446" y="2781711"/>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9" name="Google Shape;359;p15"/>
          <p:cNvSpPr/>
          <p:nvPr/>
        </p:nvSpPr>
        <p:spPr>
          <a:xfrm>
            <a:off x="4919976" y="2781711"/>
            <a:ext cx="1999500" cy="27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Social Impact Analytics</a:t>
            </a:r>
            <a:endParaRPr b="0" i="0" sz="1200" u="none" cap="none" strike="noStrike">
              <a:solidFill>
                <a:srgbClr val="595959"/>
              </a:solidFill>
              <a:latin typeface="Arial"/>
              <a:ea typeface="Arial"/>
              <a:cs typeface="Arial"/>
              <a:sym typeface="Arial"/>
            </a:endParaRPr>
          </a:p>
        </p:txBody>
      </p:sp>
      <p:sp>
        <p:nvSpPr>
          <p:cNvPr id="360" name="Google Shape;360;p15"/>
          <p:cNvSpPr/>
          <p:nvPr/>
        </p:nvSpPr>
        <p:spPr>
          <a:xfrm>
            <a:off x="1381795" y="3258843"/>
            <a:ext cx="2948400" cy="6465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1" name="Google Shape;361;p15"/>
          <p:cNvSpPr/>
          <p:nvPr/>
        </p:nvSpPr>
        <p:spPr>
          <a:xfrm>
            <a:off x="2177284" y="3428198"/>
            <a:ext cx="13575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595959"/>
                </a:solidFill>
                <a:latin typeface="Helvetica Neue"/>
                <a:ea typeface="Helvetica Neue"/>
                <a:cs typeface="Helvetica Neue"/>
                <a:sym typeface="Helvetica Neue"/>
              </a:rPr>
              <a:t>Real-Time</a:t>
            </a:r>
            <a:endParaRPr b="1" i="0" sz="1400" u="none" cap="none" strike="noStrike">
              <a:solidFill>
                <a:srgbClr val="595959"/>
              </a:solidFill>
              <a:latin typeface="Arial"/>
              <a:ea typeface="Arial"/>
              <a:cs typeface="Arial"/>
              <a:sym typeface="Arial"/>
            </a:endParaRPr>
          </a:p>
        </p:txBody>
      </p:sp>
      <p:sp>
        <p:nvSpPr>
          <p:cNvPr id="362" name="Google Shape;362;p15"/>
          <p:cNvSpPr/>
          <p:nvPr/>
        </p:nvSpPr>
        <p:spPr>
          <a:xfrm>
            <a:off x="4454126" y="3259696"/>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3" name="Google Shape;363;p15"/>
          <p:cNvSpPr/>
          <p:nvPr/>
        </p:nvSpPr>
        <p:spPr>
          <a:xfrm>
            <a:off x="4937336" y="3289778"/>
            <a:ext cx="1999500" cy="27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Digital Advertising</a:t>
            </a:r>
            <a:endParaRPr b="0" i="0" sz="1200" u="none" cap="none" strike="noStrike">
              <a:solidFill>
                <a:srgbClr val="595959"/>
              </a:solidFill>
              <a:latin typeface="Arial"/>
              <a:ea typeface="Arial"/>
              <a:cs typeface="Arial"/>
              <a:sym typeface="Arial"/>
            </a:endParaRPr>
          </a:p>
        </p:txBody>
      </p:sp>
      <p:sp>
        <p:nvSpPr>
          <p:cNvPr id="364" name="Google Shape;364;p15"/>
          <p:cNvSpPr/>
          <p:nvPr/>
        </p:nvSpPr>
        <p:spPr>
          <a:xfrm>
            <a:off x="4454126" y="3597555"/>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5" name="Google Shape;365;p15"/>
          <p:cNvSpPr/>
          <p:nvPr/>
        </p:nvSpPr>
        <p:spPr>
          <a:xfrm>
            <a:off x="4928656" y="3597555"/>
            <a:ext cx="1999500" cy="27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Arial"/>
                <a:ea typeface="Arial"/>
                <a:cs typeface="Arial"/>
                <a:sym typeface="Arial"/>
              </a:rPr>
              <a:t>Autonomous Vehicles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16"/>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2400" u="none" cap="none" strike="noStrike">
                <a:solidFill>
                  <a:srgbClr val="613CB0"/>
                </a:solidFill>
                <a:latin typeface="Hind"/>
                <a:ea typeface="Hind"/>
                <a:cs typeface="Hind"/>
                <a:sym typeface="Hind"/>
              </a:rPr>
              <a:t>Course Objectives and Syllabus</a:t>
            </a:r>
            <a:endParaRPr i="0" sz="2400" u="none" cap="none" strike="noStrike">
              <a:solidFill>
                <a:srgbClr val="613CB0"/>
              </a:solidFill>
              <a:latin typeface="Hind"/>
              <a:ea typeface="Hind"/>
              <a:cs typeface="Hind"/>
              <a:sym typeface="Hind"/>
            </a:endParaRPr>
          </a:p>
        </p:txBody>
      </p:sp>
      <p:sp>
        <p:nvSpPr>
          <p:cNvPr id="371" name="Google Shape;371;p16"/>
          <p:cNvSpPr/>
          <p:nvPr/>
        </p:nvSpPr>
        <p:spPr>
          <a:xfrm>
            <a:off x="311700" y="863100"/>
            <a:ext cx="47301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What you should aim to understand by the end of the course</a:t>
            </a:r>
            <a:endParaRPr b="0" i="0" sz="1200" u="none" cap="none" strike="noStrike">
              <a:solidFill>
                <a:srgbClr val="000000"/>
              </a:solidFill>
              <a:latin typeface="Arial"/>
              <a:ea typeface="Arial"/>
              <a:cs typeface="Arial"/>
              <a:sym typeface="Arial"/>
            </a:endParaRPr>
          </a:p>
        </p:txBody>
      </p:sp>
      <p:sp>
        <p:nvSpPr>
          <p:cNvPr id="372" name="Google Shape;372;p16"/>
          <p:cNvSpPr/>
          <p:nvPr/>
        </p:nvSpPr>
        <p:spPr>
          <a:xfrm>
            <a:off x="1479223" y="1714625"/>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Manipulating Data</a:t>
            </a:r>
            <a:endParaRPr b="0" i="0" sz="1400" u="none" cap="none" strike="noStrike">
              <a:solidFill>
                <a:srgbClr val="000000"/>
              </a:solidFill>
              <a:latin typeface="Arial"/>
              <a:ea typeface="Arial"/>
              <a:cs typeface="Arial"/>
              <a:sym typeface="Arial"/>
            </a:endParaRPr>
          </a:p>
        </p:txBody>
      </p:sp>
      <p:sp>
        <p:nvSpPr>
          <p:cNvPr id="373" name="Google Shape;373;p16"/>
          <p:cNvSpPr/>
          <p:nvPr/>
        </p:nvSpPr>
        <p:spPr>
          <a:xfrm>
            <a:off x="1479223" y="2056492"/>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Communicating Data</a:t>
            </a:r>
            <a:endParaRPr b="0" i="0" sz="1400" u="none" cap="none" strike="noStrike">
              <a:solidFill>
                <a:srgbClr val="000000"/>
              </a:solidFill>
              <a:latin typeface="Arial"/>
              <a:ea typeface="Arial"/>
              <a:cs typeface="Arial"/>
              <a:sym typeface="Arial"/>
            </a:endParaRPr>
          </a:p>
        </p:txBody>
      </p:sp>
      <p:sp>
        <p:nvSpPr>
          <p:cNvPr id="374" name="Google Shape;374;p16"/>
          <p:cNvSpPr/>
          <p:nvPr/>
        </p:nvSpPr>
        <p:spPr>
          <a:xfrm>
            <a:off x="1479223" y="2398359"/>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Understanding of ML as a concept</a:t>
            </a:r>
            <a:endParaRPr b="0" i="0" sz="1400" u="none" cap="none" strike="noStrike">
              <a:solidFill>
                <a:srgbClr val="000000"/>
              </a:solidFill>
              <a:latin typeface="Arial"/>
              <a:ea typeface="Arial"/>
              <a:cs typeface="Arial"/>
              <a:sym typeface="Arial"/>
            </a:endParaRPr>
          </a:p>
        </p:txBody>
      </p:sp>
      <p:sp>
        <p:nvSpPr>
          <p:cNvPr id="375" name="Google Shape;375;p16"/>
          <p:cNvSpPr/>
          <p:nvPr/>
        </p:nvSpPr>
        <p:spPr>
          <a:xfrm>
            <a:off x="1479223" y="2753391"/>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Intuitive understanding of ML models </a:t>
            </a:r>
            <a:endParaRPr b="0" i="0" sz="1400" u="none" cap="none" strike="noStrike">
              <a:solidFill>
                <a:srgbClr val="000000"/>
              </a:solidFill>
              <a:latin typeface="Arial"/>
              <a:ea typeface="Arial"/>
              <a:cs typeface="Arial"/>
              <a:sym typeface="Arial"/>
            </a:endParaRPr>
          </a:p>
        </p:txBody>
      </p:sp>
      <p:sp>
        <p:nvSpPr>
          <p:cNvPr id="376" name="Google Shape;376;p16"/>
          <p:cNvSpPr/>
          <p:nvPr/>
        </p:nvSpPr>
        <p:spPr>
          <a:xfrm>
            <a:off x="1479223" y="3108423"/>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Implementation of ML models</a:t>
            </a:r>
            <a:endParaRPr b="0" i="0" sz="1400" u="none" cap="none" strike="noStrike">
              <a:solidFill>
                <a:srgbClr val="000000"/>
              </a:solidFill>
              <a:latin typeface="Arial"/>
              <a:ea typeface="Arial"/>
              <a:cs typeface="Arial"/>
              <a:sym typeface="Arial"/>
            </a:endParaRPr>
          </a:p>
        </p:txBody>
      </p:sp>
      <p:sp>
        <p:nvSpPr>
          <p:cNvPr id="377" name="Google Shape;377;p16"/>
          <p:cNvSpPr/>
          <p:nvPr/>
        </p:nvSpPr>
        <p:spPr>
          <a:xfrm>
            <a:off x="1479223" y="3463455"/>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Comfort Using Python</a:t>
            </a:r>
            <a:endParaRPr b="0" i="0" sz="1400" u="none" cap="none" strike="noStrike">
              <a:solidFill>
                <a:srgbClr val="000000"/>
              </a:solidFill>
              <a:latin typeface="Arial"/>
              <a:ea typeface="Arial"/>
              <a:cs typeface="Arial"/>
              <a:sym typeface="Arial"/>
            </a:endParaRPr>
          </a:p>
        </p:txBody>
      </p:sp>
      <p:sp>
        <p:nvSpPr>
          <p:cNvPr id="378" name="Google Shape;378;p16"/>
          <p:cNvSpPr/>
          <p:nvPr/>
        </p:nvSpPr>
        <p:spPr>
          <a:xfrm>
            <a:off x="1479223" y="3818487"/>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Applications in Industry</a:t>
            </a:r>
            <a:endParaRPr b="0" i="0" sz="1400" u="none" cap="none" strike="noStrike">
              <a:solidFill>
                <a:srgbClr val="000000"/>
              </a:solidFill>
              <a:latin typeface="Arial"/>
              <a:ea typeface="Arial"/>
              <a:cs typeface="Arial"/>
              <a:sym typeface="Arial"/>
            </a:endParaRPr>
          </a:p>
        </p:txBody>
      </p:sp>
      <p:sp>
        <p:nvSpPr>
          <p:cNvPr id="379" name="Google Shape;379;p16"/>
          <p:cNvSpPr/>
          <p:nvPr/>
        </p:nvSpPr>
        <p:spPr>
          <a:xfrm>
            <a:off x="1479223" y="1359593"/>
            <a:ext cx="2948400" cy="3078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595959"/>
                </a:solidFill>
                <a:latin typeface="Helvetica Neue"/>
                <a:ea typeface="Helvetica Neue"/>
                <a:cs typeface="Helvetica Neue"/>
                <a:sym typeface="Helvetica Neue"/>
              </a:rPr>
              <a:t>OBJECTIVES</a:t>
            </a:r>
            <a:endParaRPr b="0" i="0" sz="1400" u="none" cap="none" strike="noStrike">
              <a:solidFill>
                <a:srgbClr val="000000"/>
              </a:solidFill>
              <a:latin typeface="Arial"/>
              <a:ea typeface="Arial"/>
              <a:cs typeface="Arial"/>
              <a:sym typeface="Arial"/>
            </a:endParaRPr>
          </a:p>
        </p:txBody>
      </p:sp>
      <p:sp>
        <p:nvSpPr>
          <p:cNvPr id="380" name="Google Shape;380;p16"/>
          <p:cNvSpPr/>
          <p:nvPr/>
        </p:nvSpPr>
        <p:spPr>
          <a:xfrm>
            <a:off x="4572000" y="1714625"/>
            <a:ext cx="2948400" cy="6495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Data Manipulation / Visualization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1" lang="en" sz="1100" u="none" cap="none" strike="noStrike">
                <a:solidFill>
                  <a:srgbClr val="595959"/>
                </a:solidFill>
                <a:latin typeface="Helvetica Neue"/>
                <a:ea typeface="Helvetica Neue"/>
                <a:cs typeface="Helvetica Neue"/>
                <a:sym typeface="Helvetica Neue"/>
              </a:rPr>
              <a:t>Lectures 1-3</a:t>
            </a:r>
            <a:endParaRPr b="0" i="0" sz="1400" u="none" cap="none" strike="noStrike">
              <a:solidFill>
                <a:srgbClr val="000000"/>
              </a:solidFill>
              <a:latin typeface="Arial"/>
              <a:ea typeface="Arial"/>
              <a:cs typeface="Arial"/>
              <a:sym typeface="Arial"/>
            </a:endParaRPr>
          </a:p>
        </p:txBody>
      </p:sp>
      <p:sp>
        <p:nvSpPr>
          <p:cNvPr id="381" name="Google Shape;381;p16"/>
          <p:cNvSpPr/>
          <p:nvPr/>
        </p:nvSpPr>
        <p:spPr>
          <a:xfrm>
            <a:off x="4572000" y="2411525"/>
            <a:ext cx="2948400" cy="6495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Fundamentals of Machine Learning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1" lang="en" sz="1100" u="none" cap="none" strike="noStrike">
                <a:solidFill>
                  <a:srgbClr val="595959"/>
                </a:solidFill>
                <a:latin typeface="Helvetica Neue"/>
                <a:ea typeface="Helvetica Neue"/>
                <a:cs typeface="Helvetica Neue"/>
                <a:sym typeface="Helvetica Neue"/>
              </a:rPr>
              <a:t>Lectures 4-5</a:t>
            </a:r>
            <a:endParaRPr b="0" i="0" sz="1400" u="none" cap="none" strike="noStrike">
              <a:solidFill>
                <a:srgbClr val="000000"/>
              </a:solidFill>
              <a:latin typeface="Arial"/>
              <a:ea typeface="Arial"/>
              <a:cs typeface="Arial"/>
              <a:sym typeface="Arial"/>
            </a:endParaRPr>
          </a:p>
        </p:txBody>
      </p:sp>
      <p:sp>
        <p:nvSpPr>
          <p:cNvPr id="382" name="Google Shape;382;p16"/>
          <p:cNvSpPr/>
          <p:nvPr/>
        </p:nvSpPr>
        <p:spPr>
          <a:xfrm>
            <a:off x="4572000" y="1359593"/>
            <a:ext cx="2948400" cy="3078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595959"/>
                </a:solidFill>
                <a:latin typeface="Helvetica Neue"/>
                <a:ea typeface="Helvetica Neue"/>
                <a:cs typeface="Helvetica Neue"/>
                <a:sym typeface="Helvetica Neue"/>
              </a:rPr>
              <a:t>SYLLABUS</a:t>
            </a:r>
            <a:endParaRPr b="0" i="0" sz="1400" u="none" cap="none" strike="noStrike">
              <a:solidFill>
                <a:srgbClr val="000000"/>
              </a:solidFill>
              <a:latin typeface="Arial"/>
              <a:ea typeface="Arial"/>
              <a:cs typeface="Arial"/>
              <a:sym typeface="Arial"/>
            </a:endParaRPr>
          </a:p>
        </p:txBody>
      </p:sp>
      <p:sp>
        <p:nvSpPr>
          <p:cNvPr id="383" name="Google Shape;383;p16"/>
          <p:cNvSpPr/>
          <p:nvPr/>
        </p:nvSpPr>
        <p:spPr>
          <a:xfrm>
            <a:off x="4572000" y="3108423"/>
            <a:ext cx="2948400" cy="6495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Supervised Learning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1" lang="en" sz="1100" u="none" cap="none" strike="noStrike">
                <a:solidFill>
                  <a:srgbClr val="595959"/>
                </a:solidFill>
                <a:latin typeface="Helvetica Neue"/>
                <a:ea typeface="Helvetica Neue"/>
                <a:cs typeface="Helvetica Neue"/>
                <a:sym typeface="Helvetica Neue"/>
              </a:rPr>
              <a:t>Lectures 6-8</a:t>
            </a:r>
            <a:endParaRPr b="0" i="0" sz="1400" u="none" cap="none" strike="noStrike">
              <a:solidFill>
                <a:srgbClr val="000000"/>
              </a:solidFill>
              <a:latin typeface="Arial"/>
              <a:ea typeface="Arial"/>
              <a:cs typeface="Arial"/>
              <a:sym typeface="Arial"/>
            </a:endParaRPr>
          </a:p>
        </p:txBody>
      </p:sp>
      <p:sp>
        <p:nvSpPr>
          <p:cNvPr id="384" name="Google Shape;384;p16"/>
          <p:cNvSpPr/>
          <p:nvPr/>
        </p:nvSpPr>
        <p:spPr>
          <a:xfrm>
            <a:off x="4572000" y="3815470"/>
            <a:ext cx="2948400" cy="6495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Unsupervised Learning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1" lang="en" sz="1100" u="none" cap="none" strike="noStrike">
                <a:solidFill>
                  <a:srgbClr val="595959"/>
                </a:solidFill>
                <a:latin typeface="Helvetica Neue"/>
                <a:ea typeface="Helvetica Neue"/>
                <a:cs typeface="Helvetica Neue"/>
                <a:sym typeface="Helvetica Neue"/>
              </a:rPr>
              <a:t>Lecture 9</a:t>
            </a:r>
            <a:endParaRPr b="0" i="0" sz="1400" u="none" cap="none" strike="noStrike">
              <a:solidFill>
                <a:srgbClr val="000000"/>
              </a:solidFill>
              <a:latin typeface="Arial"/>
              <a:ea typeface="Arial"/>
              <a:cs typeface="Arial"/>
              <a:sym typeface="Arial"/>
            </a:endParaRPr>
          </a:p>
        </p:txBody>
      </p:sp>
      <p:sp>
        <p:nvSpPr>
          <p:cNvPr id="385" name="Google Shape;385;p16"/>
          <p:cNvSpPr/>
          <p:nvPr/>
        </p:nvSpPr>
        <p:spPr>
          <a:xfrm>
            <a:off x="1479223" y="4173519"/>
            <a:ext cx="2948400" cy="3078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95959"/>
                </a:solidFill>
                <a:latin typeface="Helvetica Neue"/>
                <a:ea typeface="Helvetica Neue"/>
                <a:cs typeface="Helvetica Neue"/>
                <a:sym typeface="Helvetica Neue"/>
              </a:rPr>
              <a:t>Project Experience</a:t>
            </a:r>
            <a:endParaRPr b="0" i="0" sz="1400" u="none" cap="none" strike="noStrike">
              <a:solidFill>
                <a:srgbClr val="000000"/>
              </a:solidFill>
              <a:latin typeface="Arial"/>
              <a:ea typeface="Arial"/>
              <a:cs typeface="Arial"/>
              <a:sym typeface="Arial"/>
            </a:endParaRPr>
          </a:p>
        </p:txBody>
      </p:sp>
      <p:sp>
        <p:nvSpPr>
          <p:cNvPr id="386" name="Google Shape;386;p16"/>
          <p:cNvSpPr txBox="1"/>
          <p:nvPr/>
        </p:nvSpPr>
        <p:spPr>
          <a:xfrm>
            <a:off x="3213600" y="4638980"/>
            <a:ext cx="2948400"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13CB0"/>
                </a:solidFill>
                <a:latin typeface="Hind"/>
                <a:ea typeface="Hind"/>
                <a:cs typeface="Hind"/>
                <a:sym typeface="Hind"/>
              </a:rPr>
              <a:t>Syllabus is posted on our website.</a:t>
            </a:r>
            <a:endParaRPr b="1" i="0" sz="1400" u="none" cap="none" strike="noStrike">
              <a:solidFill>
                <a:srgbClr val="613CB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17"/>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2400" u="none" cap="none" strike="noStrike">
                <a:solidFill>
                  <a:srgbClr val="613CB0"/>
                </a:solidFill>
                <a:latin typeface="Hind"/>
                <a:ea typeface="Hind"/>
                <a:cs typeface="Hind"/>
                <a:sym typeface="Hind"/>
              </a:rPr>
              <a:t>FAQs</a:t>
            </a:r>
            <a:endParaRPr i="0" sz="2400" u="none" cap="none" strike="noStrike">
              <a:solidFill>
                <a:srgbClr val="613CB0"/>
              </a:solidFill>
              <a:latin typeface="Hind"/>
              <a:ea typeface="Hind"/>
              <a:cs typeface="Hind"/>
              <a:sym typeface="Hind"/>
            </a:endParaRPr>
          </a:p>
        </p:txBody>
      </p:sp>
      <p:sp>
        <p:nvSpPr>
          <p:cNvPr id="392" name="Google Shape;392;p17"/>
          <p:cNvSpPr/>
          <p:nvPr/>
        </p:nvSpPr>
        <p:spPr>
          <a:xfrm>
            <a:off x="311700" y="863100"/>
            <a:ext cx="27684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Is this class a good fit for you?</a:t>
            </a:r>
            <a:endParaRPr b="0" i="0" sz="1200" u="none" cap="none" strike="noStrike">
              <a:solidFill>
                <a:srgbClr val="000000"/>
              </a:solidFill>
              <a:latin typeface="Arial"/>
              <a:ea typeface="Arial"/>
              <a:cs typeface="Arial"/>
              <a:sym typeface="Arial"/>
            </a:endParaRPr>
          </a:p>
        </p:txBody>
      </p:sp>
      <p:sp>
        <p:nvSpPr>
          <p:cNvPr id="393" name="Google Shape;393;p17"/>
          <p:cNvSpPr txBox="1"/>
          <p:nvPr/>
        </p:nvSpPr>
        <p:spPr>
          <a:xfrm>
            <a:off x="311699" y="1359593"/>
            <a:ext cx="8153700"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rgbClr val="595A89"/>
                </a:solidFill>
                <a:latin typeface="Hind"/>
                <a:ea typeface="Hind"/>
                <a:cs typeface="Hind"/>
                <a:sym typeface="Hind"/>
              </a:rPr>
              <a:t>1) Will I become a Data Scientist / Machine Learning Engineer?</a:t>
            </a:r>
            <a:endParaRPr b="0" i="0" sz="1400" u="none" cap="none" strike="noStrike">
              <a:solidFill>
                <a:srgbClr val="595A89"/>
              </a:solidFill>
              <a:latin typeface="Arial"/>
              <a:ea typeface="Arial"/>
              <a:cs typeface="Arial"/>
              <a:sym typeface="Arial"/>
            </a:endParaRPr>
          </a:p>
        </p:txBody>
      </p:sp>
      <p:sp>
        <p:nvSpPr>
          <p:cNvPr id="394" name="Google Shape;394;p17"/>
          <p:cNvSpPr/>
          <p:nvPr/>
        </p:nvSpPr>
        <p:spPr>
          <a:xfrm>
            <a:off x="563688" y="1689517"/>
            <a:ext cx="7997100" cy="6003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Arial"/>
              <a:buNone/>
            </a:pPr>
            <a:r>
              <a:rPr b="0" i="1" lang="en" sz="1100" u="none" cap="none" strike="noStrike">
                <a:solidFill>
                  <a:srgbClr val="595959"/>
                </a:solidFill>
                <a:latin typeface="Helvetica Neue"/>
                <a:ea typeface="Helvetica Neue"/>
                <a:cs typeface="Helvetica Neue"/>
                <a:sym typeface="Helvetica Neue"/>
              </a:rPr>
              <a:t>No, you will not. The course covers a breadth of concepts, helps build intuitive understanding of some models, but does not dive too deep into the mathematical complexities (since this is a 1000-level course). However, feel free to come to office hours if you’re interested in learning more.</a:t>
            </a:r>
            <a:endParaRPr b="0" i="0" sz="1400" u="none" cap="none" strike="noStrike">
              <a:solidFill>
                <a:srgbClr val="000000"/>
              </a:solidFill>
              <a:latin typeface="Arial"/>
              <a:ea typeface="Arial"/>
              <a:cs typeface="Arial"/>
              <a:sym typeface="Arial"/>
            </a:endParaRPr>
          </a:p>
        </p:txBody>
      </p:sp>
      <p:sp>
        <p:nvSpPr>
          <p:cNvPr id="395" name="Google Shape;395;p17"/>
          <p:cNvSpPr txBox="1"/>
          <p:nvPr/>
        </p:nvSpPr>
        <p:spPr>
          <a:xfrm>
            <a:off x="311699" y="2289681"/>
            <a:ext cx="8153700"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rgbClr val="595A89"/>
                </a:solidFill>
                <a:latin typeface="Hind"/>
                <a:ea typeface="Hind"/>
                <a:cs typeface="Hind"/>
                <a:sym typeface="Hind"/>
              </a:rPr>
              <a:t>2) How much time commitment is this course?</a:t>
            </a:r>
            <a:endParaRPr b="0" i="0" sz="1400" u="none" cap="none" strike="noStrike">
              <a:solidFill>
                <a:srgbClr val="595A89"/>
              </a:solidFill>
              <a:latin typeface="Arial"/>
              <a:ea typeface="Arial"/>
              <a:cs typeface="Arial"/>
              <a:sym typeface="Arial"/>
            </a:endParaRPr>
          </a:p>
        </p:txBody>
      </p:sp>
      <p:sp>
        <p:nvSpPr>
          <p:cNvPr id="396" name="Google Shape;396;p17"/>
          <p:cNvSpPr/>
          <p:nvPr/>
        </p:nvSpPr>
        <p:spPr>
          <a:xfrm>
            <a:off x="563688" y="2619605"/>
            <a:ext cx="7997100" cy="6003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Arial"/>
              <a:buNone/>
            </a:pPr>
            <a:r>
              <a:rPr b="0" i="1" lang="en" sz="1100" u="none" cap="none" strike="noStrike">
                <a:solidFill>
                  <a:srgbClr val="595959"/>
                </a:solidFill>
                <a:latin typeface="Helvetica Neue"/>
                <a:ea typeface="Helvetica Neue"/>
                <a:cs typeface="Helvetica Neue"/>
                <a:sym typeface="Helvetica Neue"/>
              </a:rPr>
              <a:t>Completely up to you. It’s not hard to pass the class if all you want is basic street-fighting machine learning skills, which is fine too – that’ll require less than 1 hour per week. If you want to put some more time in and come up with a creative and cool data science project that you can be proud of, that will take more time but is very rewarding!</a:t>
            </a:r>
            <a:endParaRPr b="0" i="0" sz="1400" u="none" cap="none" strike="noStrike">
              <a:solidFill>
                <a:srgbClr val="000000"/>
              </a:solidFill>
              <a:latin typeface="Arial"/>
              <a:ea typeface="Arial"/>
              <a:cs typeface="Arial"/>
              <a:sym typeface="Arial"/>
            </a:endParaRPr>
          </a:p>
        </p:txBody>
      </p:sp>
      <p:sp>
        <p:nvSpPr>
          <p:cNvPr id="397" name="Google Shape;397;p17"/>
          <p:cNvSpPr txBox="1"/>
          <p:nvPr/>
        </p:nvSpPr>
        <p:spPr>
          <a:xfrm>
            <a:off x="311699" y="3219769"/>
            <a:ext cx="8153700"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rgbClr val="595A89"/>
                </a:solidFill>
                <a:latin typeface="Hind"/>
                <a:ea typeface="Hind"/>
                <a:cs typeface="Hind"/>
                <a:sym typeface="Hind"/>
              </a:rPr>
              <a:t>3) I have no background in CS / Stats – am I underprepared?</a:t>
            </a:r>
            <a:endParaRPr b="0" i="0" sz="1400" u="none" cap="none" strike="noStrike">
              <a:solidFill>
                <a:srgbClr val="595A89"/>
              </a:solidFill>
              <a:latin typeface="Arial"/>
              <a:ea typeface="Arial"/>
              <a:cs typeface="Arial"/>
              <a:sym typeface="Arial"/>
            </a:endParaRPr>
          </a:p>
        </p:txBody>
      </p:sp>
      <p:sp>
        <p:nvSpPr>
          <p:cNvPr id="398" name="Google Shape;398;p17"/>
          <p:cNvSpPr/>
          <p:nvPr/>
        </p:nvSpPr>
        <p:spPr>
          <a:xfrm>
            <a:off x="563688" y="3549693"/>
            <a:ext cx="7997100" cy="7695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Arial"/>
              <a:buNone/>
            </a:pPr>
            <a:r>
              <a:rPr b="0" i="1" lang="en" sz="1100" u="none" cap="none" strike="noStrike">
                <a:solidFill>
                  <a:srgbClr val="595959"/>
                </a:solidFill>
                <a:latin typeface="Helvetica Neue"/>
                <a:ea typeface="Helvetica Neue"/>
                <a:cs typeface="Helvetica Neue"/>
                <a:sym typeface="Helvetica Neue"/>
              </a:rPr>
              <a:t>Not at all! We’ll teach you everything you need to know, but you may have to spend a little more time getting comfortable with Python. A number of non-STEM graduate students have taken this class in the past to understand basics that they could apply to their research. A large number of freshmen also take the course because they’re excited to learn more about the field. TL;DR: If you’re interested, give it a shot!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18"/>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2400" u="none" cap="none" strike="noStrike">
                <a:solidFill>
                  <a:srgbClr val="613CB0"/>
                </a:solidFill>
                <a:latin typeface="Hind"/>
                <a:ea typeface="Hind"/>
                <a:cs typeface="Hind"/>
                <a:sym typeface="Hind"/>
              </a:rPr>
              <a:t>Course Logistics</a:t>
            </a:r>
            <a:endParaRPr i="0" sz="2400" u="none" cap="none" strike="noStrike">
              <a:solidFill>
                <a:srgbClr val="613CB0"/>
              </a:solidFill>
              <a:latin typeface="Hind"/>
              <a:ea typeface="Hind"/>
              <a:cs typeface="Hind"/>
              <a:sym typeface="Hind"/>
            </a:endParaRPr>
          </a:p>
        </p:txBody>
      </p:sp>
      <p:sp>
        <p:nvSpPr>
          <p:cNvPr id="404" name="Google Shape;404;p18"/>
          <p:cNvSpPr/>
          <p:nvPr/>
        </p:nvSpPr>
        <p:spPr>
          <a:xfrm>
            <a:off x="311700" y="863100"/>
            <a:ext cx="33579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How is the class structured (and graded)?</a:t>
            </a:r>
            <a:endParaRPr b="0" i="0" sz="1200" u="none" cap="none" strike="noStrike">
              <a:solidFill>
                <a:srgbClr val="000000"/>
              </a:solidFill>
              <a:latin typeface="Arial"/>
              <a:ea typeface="Arial"/>
              <a:cs typeface="Arial"/>
              <a:sym typeface="Arial"/>
            </a:endParaRPr>
          </a:p>
        </p:txBody>
      </p:sp>
      <p:sp>
        <p:nvSpPr>
          <p:cNvPr id="405" name="Google Shape;405;p18"/>
          <p:cNvSpPr txBox="1"/>
          <p:nvPr/>
        </p:nvSpPr>
        <p:spPr>
          <a:xfrm>
            <a:off x="1468501" y="1852575"/>
            <a:ext cx="4803300"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rgbClr val="613CB0"/>
                </a:solidFill>
                <a:latin typeface="Hind"/>
                <a:ea typeface="Hind"/>
                <a:cs typeface="Hind"/>
                <a:sym typeface="Hind"/>
              </a:rPr>
              <a:t>9 assignments (~1 assignment per lecture)</a:t>
            </a:r>
            <a:endParaRPr b="0" i="0" sz="1400" u="none" cap="none" strike="noStrike">
              <a:solidFill>
                <a:srgbClr val="613CB0"/>
              </a:solidFill>
              <a:latin typeface="Arial"/>
              <a:ea typeface="Arial"/>
              <a:cs typeface="Arial"/>
              <a:sym typeface="Arial"/>
            </a:endParaRPr>
          </a:p>
        </p:txBody>
      </p:sp>
      <p:sp>
        <p:nvSpPr>
          <p:cNvPr id="406" name="Google Shape;406;p18"/>
          <p:cNvSpPr txBox="1"/>
          <p:nvPr/>
        </p:nvSpPr>
        <p:spPr>
          <a:xfrm>
            <a:off x="6627155" y="1852573"/>
            <a:ext cx="775500"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rgbClr val="595959"/>
                </a:solidFill>
                <a:latin typeface="Hind"/>
                <a:ea typeface="Hind"/>
                <a:cs typeface="Hind"/>
                <a:sym typeface="Hind"/>
              </a:rPr>
              <a:t>55%</a:t>
            </a:r>
            <a:endParaRPr b="0" i="0" sz="1400" u="none" cap="none" strike="noStrike">
              <a:solidFill>
                <a:srgbClr val="000000"/>
              </a:solidFill>
              <a:latin typeface="Arial"/>
              <a:ea typeface="Arial"/>
              <a:cs typeface="Arial"/>
              <a:sym typeface="Arial"/>
            </a:endParaRPr>
          </a:p>
        </p:txBody>
      </p:sp>
      <p:sp>
        <p:nvSpPr>
          <p:cNvPr id="407" name="Google Shape;407;p18"/>
          <p:cNvSpPr txBox="1"/>
          <p:nvPr/>
        </p:nvSpPr>
        <p:spPr>
          <a:xfrm>
            <a:off x="1476442" y="2498047"/>
            <a:ext cx="4514100"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rgbClr val="613CB0"/>
                </a:solidFill>
                <a:latin typeface="Hind"/>
                <a:ea typeface="Hind"/>
                <a:cs typeface="Hind"/>
                <a:sym typeface="Hind"/>
              </a:rPr>
              <a:t>Project</a:t>
            </a:r>
            <a:endParaRPr b="0" i="0" sz="1400" u="none" cap="none" strike="noStrike">
              <a:solidFill>
                <a:srgbClr val="613CB0"/>
              </a:solidFill>
              <a:latin typeface="Arial"/>
              <a:ea typeface="Arial"/>
              <a:cs typeface="Arial"/>
              <a:sym typeface="Arial"/>
            </a:endParaRPr>
          </a:p>
        </p:txBody>
      </p:sp>
      <p:sp>
        <p:nvSpPr>
          <p:cNvPr id="408" name="Google Shape;408;p18"/>
          <p:cNvSpPr txBox="1"/>
          <p:nvPr/>
        </p:nvSpPr>
        <p:spPr>
          <a:xfrm>
            <a:off x="6627155" y="2497034"/>
            <a:ext cx="775500"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rgbClr val="595959"/>
                </a:solidFill>
                <a:latin typeface="Hind"/>
                <a:ea typeface="Hind"/>
                <a:cs typeface="Hind"/>
                <a:sym typeface="Hind"/>
              </a:rPr>
              <a:t>40%</a:t>
            </a:r>
            <a:endParaRPr b="0" i="0" sz="1400" u="none" cap="none" strike="noStrike">
              <a:solidFill>
                <a:srgbClr val="000000"/>
              </a:solidFill>
              <a:latin typeface="Arial"/>
              <a:ea typeface="Arial"/>
              <a:cs typeface="Arial"/>
              <a:sym typeface="Arial"/>
            </a:endParaRPr>
          </a:p>
        </p:txBody>
      </p:sp>
      <p:sp>
        <p:nvSpPr>
          <p:cNvPr id="409" name="Google Shape;409;p18"/>
          <p:cNvSpPr/>
          <p:nvPr/>
        </p:nvSpPr>
        <p:spPr>
          <a:xfrm>
            <a:off x="1468499" y="2198625"/>
            <a:ext cx="22518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We drop your lowest score!</a:t>
            </a:r>
            <a:endParaRPr b="0" i="0" sz="1200" u="none" cap="none" strike="noStrike">
              <a:solidFill>
                <a:srgbClr val="000000"/>
              </a:solidFill>
              <a:latin typeface="Arial"/>
              <a:ea typeface="Arial"/>
              <a:cs typeface="Arial"/>
              <a:sym typeface="Arial"/>
            </a:endParaRPr>
          </a:p>
        </p:txBody>
      </p:sp>
      <p:sp>
        <p:nvSpPr>
          <p:cNvPr id="410" name="Google Shape;410;p18"/>
          <p:cNvSpPr txBox="1"/>
          <p:nvPr/>
        </p:nvSpPr>
        <p:spPr>
          <a:xfrm>
            <a:off x="2314950" y="4072050"/>
            <a:ext cx="4514100" cy="416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400" u="none" cap="none" strike="noStrike">
                <a:solidFill>
                  <a:srgbClr val="595959"/>
                </a:solidFill>
                <a:latin typeface="Hind"/>
                <a:ea typeface="Hind"/>
                <a:cs typeface="Hind"/>
                <a:sym typeface="Hind"/>
              </a:rPr>
              <a:t>Passing Grade: 70%</a:t>
            </a:r>
            <a:endParaRPr b="0" i="0" sz="1400" u="none" cap="none" strike="noStrike">
              <a:solidFill>
                <a:srgbClr val="000000"/>
              </a:solidFill>
              <a:latin typeface="Arial"/>
              <a:ea typeface="Arial"/>
              <a:cs typeface="Arial"/>
              <a:sym typeface="Arial"/>
            </a:endParaRPr>
          </a:p>
        </p:txBody>
      </p:sp>
      <p:sp>
        <p:nvSpPr>
          <p:cNvPr id="411" name="Google Shape;411;p18"/>
          <p:cNvSpPr/>
          <p:nvPr/>
        </p:nvSpPr>
        <p:spPr>
          <a:xfrm>
            <a:off x="1484394" y="2852713"/>
            <a:ext cx="14670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2-3 students</a:t>
            </a:r>
            <a:endParaRPr b="0" i="0" sz="1200" u="none" cap="none" strike="noStrike">
              <a:solidFill>
                <a:srgbClr val="000000"/>
              </a:solidFill>
              <a:latin typeface="Arial"/>
              <a:ea typeface="Arial"/>
              <a:cs typeface="Arial"/>
              <a:sym typeface="Arial"/>
            </a:endParaRPr>
          </a:p>
        </p:txBody>
      </p:sp>
      <p:sp>
        <p:nvSpPr>
          <p:cNvPr id="412" name="Google Shape;412;p18"/>
          <p:cNvSpPr txBox="1"/>
          <p:nvPr/>
        </p:nvSpPr>
        <p:spPr>
          <a:xfrm>
            <a:off x="1484394" y="3141495"/>
            <a:ext cx="4514100"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rgbClr val="613CB0"/>
                </a:solidFill>
                <a:latin typeface="Hind"/>
                <a:ea typeface="Hind"/>
                <a:cs typeface="Hind"/>
                <a:sym typeface="Hind"/>
              </a:rPr>
              <a:t>Attendance</a:t>
            </a:r>
            <a:endParaRPr b="0" i="0" sz="1400" u="none" cap="none" strike="noStrike">
              <a:solidFill>
                <a:srgbClr val="613CB0"/>
              </a:solidFill>
              <a:latin typeface="Arial"/>
              <a:ea typeface="Arial"/>
              <a:cs typeface="Arial"/>
              <a:sym typeface="Arial"/>
            </a:endParaRPr>
          </a:p>
        </p:txBody>
      </p:sp>
      <p:sp>
        <p:nvSpPr>
          <p:cNvPr id="413" name="Google Shape;413;p18"/>
          <p:cNvSpPr/>
          <p:nvPr/>
        </p:nvSpPr>
        <p:spPr>
          <a:xfrm>
            <a:off x="1484393" y="3481918"/>
            <a:ext cx="254574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What you are doing right now ☺</a:t>
            </a:r>
            <a:endParaRPr b="0" i="0" sz="1200" u="none" cap="none" strike="noStrike">
              <a:solidFill>
                <a:srgbClr val="000000"/>
              </a:solidFill>
              <a:latin typeface="Arial"/>
              <a:ea typeface="Arial"/>
              <a:cs typeface="Arial"/>
              <a:sym typeface="Arial"/>
            </a:endParaRPr>
          </a:p>
        </p:txBody>
      </p:sp>
      <p:sp>
        <p:nvSpPr>
          <p:cNvPr id="414" name="Google Shape;414;p18"/>
          <p:cNvSpPr txBox="1"/>
          <p:nvPr/>
        </p:nvSpPr>
        <p:spPr>
          <a:xfrm>
            <a:off x="6716502" y="3141495"/>
            <a:ext cx="539195"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rgbClr val="595959"/>
                </a:solidFill>
                <a:latin typeface="Hind"/>
                <a:ea typeface="Hind"/>
                <a:cs typeface="Hind"/>
                <a:sym typeface="Hind"/>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19"/>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2400" u="none" cap="none" strike="noStrike">
                <a:solidFill>
                  <a:srgbClr val="613CB0"/>
                </a:solidFill>
                <a:latin typeface="Hind"/>
                <a:ea typeface="Hind"/>
                <a:cs typeface="Hind"/>
                <a:sym typeface="Hind"/>
              </a:rPr>
              <a:t>Project Details</a:t>
            </a:r>
            <a:endParaRPr i="0" sz="2400" u="none" cap="none" strike="noStrike">
              <a:solidFill>
                <a:srgbClr val="613CB0"/>
              </a:solidFill>
              <a:latin typeface="Hind"/>
              <a:ea typeface="Hind"/>
              <a:cs typeface="Hind"/>
              <a:sym typeface="Hind"/>
            </a:endParaRPr>
          </a:p>
        </p:txBody>
      </p:sp>
      <p:sp>
        <p:nvSpPr>
          <p:cNvPr id="420" name="Google Shape;420;p19"/>
          <p:cNvSpPr txBox="1"/>
          <p:nvPr/>
        </p:nvSpPr>
        <p:spPr>
          <a:xfrm>
            <a:off x="311699" y="1359593"/>
            <a:ext cx="8153700"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rgbClr val="613CB0"/>
                </a:solidFill>
                <a:latin typeface="Hind"/>
                <a:ea typeface="Hind"/>
                <a:cs typeface="Hind"/>
                <a:sym typeface="Hind"/>
              </a:rPr>
              <a:t>Pre-Processing and Manipulation</a:t>
            </a:r>
            <a:endParaRPr b="0" i="0" sz="1400" u="none" cap="none" strike="noStrike">
              <a:solidFill>
                <a:srgbClr val="613CB0"/>
              </a:solidFill>
              <a:latin typeface="Arial"/>
              <a:ea typeface="Arial"/>
              <a:cs typeface="Arial"/>
              <a:sym typeface="Arial"/>
            </a:endParaRPr>
          </a:p>
        </p:txBody>
      </p:sp>
      <p:sp>
        <p:nvSpPr>
          <p:cNvPr id="421" name="Google Shape;421;p19"/>
          <p:cNvSpPr/>
          <p:nvPr/>
        </p:nvSpPr>
        <p:spPr>
          <a:xfrm>
            <a:off x="563688" y="1765717"/>
            <a:ext cx="7997100" cy="2616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Any necessary cleaning and manipulation of the dataset</a:t>
            </a:r>
            <a:endParaRPr b="0" i="0" sz="1200" u="none" cap="none" strike="noStrike">
              <a:solidFill>
                <a:srgbClr val="000000"/>
              </a:solidFill>
              <a:latin typeface="Arial"/>
              <a:ea typeface="Arial"/>
              <a:cs typeface="Arial"/>
              <a:sym typeface="Arial"/>
            </a:endParaRPr>
          </a:p>
        </p:txBody>
      </p:sp>
      <p:sp>
        <p:nvSpPr>
          <p:cNvPr id="422" name="Google Shape;422;p19"/>
          <p:cNvSpPr txBox="1"/>
          <p:nvPr/>
        </p:nvSpPr>
        <p:spPr>
          <a:xfrm>
            <a:off x="311699" y="2289681"/>
            <a:ext cx="8153700"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rgbClr val="613CB0"/>
                </a:solidFill>
                <a:latin typeface="Hind"/>
                <a:ea typeface="Hind"/>
                <a:cs typeface="Hind"/>
                <a:sym typeface="Hind"/>
              </a:rPr>
              <a:t>Visualizations</a:t>
            </a:r>
            <a:endParaRPr b="0" i="0" sz="1400" u="none" cap="none" strike="noStrike">
              <a:solidFill>
                <a:srgbClr val="613CB0"/>
              </a:solidFill>
              <a:latin typeface="Arial"/>
              <a:ea typeface="Arial"/>
              <a:cs typeface="Arial"/>
              <a:sym typeface="Arial"/>
            </a:endParaRPr>
          </a:p>
        </p:txBody>
      </p:sp>
      <p:sp>
        <p:nvSpPr>
          <p:cNvPr id="423" name="Google Shape;423;p19"/>
          <p:cNvSpPr/>
          <p:nvPr/>
        </p:nvSpPr>
        <p:spPr>
          <a:xfrm>
            <a:off x="563688" y="2695805"/>
            <a:ext cx="7997100" cy="4308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At least two different visualizations. Visualizations are clearly visible, clean, well-labeled, and serve a clear purpose for your question(s).</a:t>
            </a:r>
            <a:endParaRPr b="0" i="0" sz="1200" u="none" cap="none" strike="noStrike">
              <a:solidFill>
                <a:srgbClr val="000000"/>
              </a:solidFill>
              <a:latin typeface="Arial"/>
              <a:ea typeface="Arial"/>
              <a:cs typeface="Arial"/>
              <a:sym typeface="Arial"/>
            </a:endParaRPr>
          </a:p>
        </p:txBody>
      </p:sp>
      <p:sp>
        <p:nvSpPr>
          <p:cNvPr id="424" name="Google Shape;424;p19"/>
          <p:cNvSpPr txBox="1"/>
          <p:nvPr/>
        </p:nvSpPr>
        <p:spPr>
          <a:xfrm>
            <a:off x="311699" y="3219769"/>
            <a:ext cx="8153700"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rgbClr val="613CB0"/>
                </a:solidFill>
                <a:latin typeface="Hind"/>
                <a:ea typeface="Hind"/>
                <a:cs typeface="Hind"/>
                <a:sym typeface="Hind"/>
              </a:rPr>
              <a:t>Models</a:t>
            </a:r>
            <a:endParaRPr b="0" i="0" sz="1400" u="none" cap="none" strike="noStrike">
              <a:solidFill>
                <a:srgbClr val="613CB0"/>
              </a:solidFill>
              <a:latin typeface="Arial"/>
              <a:ea typeface="Arial"/>
              <a:cs typeface="Arial"/>
              <a:sym typeface="Arial"/>
            </a:endParaRPr>
          </a:p>
        </p:txBody>
      </p:sp>
      <p:sp>
        <p:nvSpPr>
          <p:cNvPr id="425" name="Google Shape;425;p19"/>
          <p:cNvSpPr/>
          <p:nvPr/>
        </p:nvSpPr>
        <p:spPr>
          <a:xfrm>
            <a:off x="563688" y="3625893"/>
            <a:ext cx="7997100" cy="6003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Machine learning models that are chosen wisely, implemented correctly, and give meaningful results. For example, you won’t get points if you run a linear regression for a classification problem. If applicable, the results of the models are compared.</a:t>
            </a:r>
            <a:endParaRPr b="0" i="0" sz="1200" u="none" cap="none" strike="noStrike">
              <a:solidFill>
                <a:srgbClr val="000000"/>
              </a:solidFill>
              <a:latin typeface="Arial"/>
              <a:ea typeface="Arial"/>
              <a:cs typeface="Arial"/>
              <a:sym typeface="Arial"/>
            </a:endParaRPr>
          </a:p>
        </p:txBody>
      </p:sp>
      <p:sp>
        <p:nvSpPr>
          <p:cNvPr id="426" name="Google Shape;426;p19"/>
          <p:cNvSpPr/>
          <p:nvPr/>
        </p:nvSpPr>
        <p:spPr>
          <a:xfrm>
            <a:off x="311700" y="863100"/>
            <a:ext cx="46401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1" lang="en" sz="900" u="none" cap="none" strike="noStrike">
                <a:solidFill>
                  <a:srgbClr val="595959"/>
                </a:solidFill>
                <a:latin typeface="Helvetica Neue"/>
                <a:ea typeface="Helvetica Neue"/>
                <a:cs typeface="Helvetica Neue"/>
                <a:sym typeface="Helvetica Neue"/>
              </a:rPr>
              <a:t>More details to come on the final project rubric and our website</a:t>
            </a:r>
            <a:endParaRPr b="0" i="0" sz="1400" u="none" cap="none" strike="noStrike">
              <a:solidFill>
                <a:srgbClr val="000000"/>
              </a:solidFill>
              <a:latin typeface="Arial"/>
              <a:ea typeface="Arial"/>
              <a:cs typeface="Arial"/>
              <a:sym typeface="Arial"/>
            </a:endParaRPr>
          </a:p>
        </p:txBody>
      </p:sp>
      <p:sp>
        <p:nvSpPr>
          <p:cNvPr id="427" name="Google Shape;427;p19"/>
          <p:cNvSpPr txBox="1"/>
          <p:nvPr/>
        </p:nvSpPr>
        <p:spPr>
          <a:xfrm>
            <a:off x="311699" y="4382356"/>
            <a:ext cx="8153700" cy="416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800" u="none" cap="none" strike="noStrike">
                <a:solidFill>
                  <a:srgbClr val="613CB0"/>
                </a:solidFill>
                <a:latin typeface="Hind"/>
                <a:ea typeface="Hind"/>
                <a:cs typeface="Hind"/>
                <a:sym typeface="Hind"/>
              </a:rPr>
              <a:t>Feel free to stay after class or post on Ed to form groups!</a:t>
            </a:r>
            <a:endParaRPr b="1" i="0" sz="1400" u="none" cap="none" strike="noStrike">
              <a:solidFill>
                <a:srgbClr val="613CB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1"/>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2400" u="none" cap="none" strike="noStrike">
                <a:latin typeface="Hind"/>
                <a:ea typeface="Hind"/>
                <a:cs typeface="Hind"/>
                <a:sym typeface="Hind"/>
              </a:rPr>
              <a:t>Enrollment</a:t>
            </a:r>
            <a:endParaRPr i="0" sz="2400" u="none" cap="none" strike="noStrike">
              <a:latin typeface="Hind"/>
              <a:ea typeface="Hind"/>
              <a:cs typeface="Hind"/>
              <a:sym typeface="Hind"/>
            </a:endParaRPr>
          </a:p>
        </p:txBody>
      </p:sp>
      <p:sp>
        <p:nvSpPr>
          <p:cNvPr id="433" name="Google Shape;433;p21"/>
          <p:cNvSpPr/>
          <p:nvPr/>
        </p:nvSpPr>
        <p:spPr>
          <a:xfrm>
            <a:off x="311700" y="863100"/>
            <a:ext cx="16806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Let’s get this credit</a:t>
            </a:r>
            <a:endParaRPr b="0" i="0" sz="1200" u="none" cap="none" strike="noStrike">
              <a:solidFill>
                <a:srgbClr val="000000"/>
              </a:solidFill>
              <a:latin typeface="Arial"/>
              <a:ea typeface="Arial"/>
              <a:cs typeface="Arial"/>
              <a:sym typeface="Arial"/>
            </a:endParaRPr>
          </a:p>
        </p:txBody>
      </p:sp>
      <p:sp>
        <p:nvSpPr>
          <p:cNvPr id="434" name="Google Shape;434;p21"/>
          <p:cNvSpPr txBox="1"/>
          <p:nvPr/>
        </p:nvSpPr>
        <p:spPr>
          <a:xfrm>
            <a:off x="2285999" y="4144477"/>
            <a:ext cx="4572000"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100"/>
              <a:buFont typeface="Arial"/>
              <a:buNone/>
            </a:pPr>
            <a:r>
              <a:rPr b="1" i="0" lang="en" sz="1500" u="none" cap="none" strike="noStrike">
                <a:solidFill>
                  <a:srgbClr val="3F3F3F"/>
                </a:solidFill>
                <a:latin typeface="Hind"/>
                <a:ea typeface="Hind"/>
                <a:cs typeface="Hind"/>
                <a:sym typeface="Hind"/>
              </a:rPr>
              <a:t>Fill out by Friday to get a pin</a:t>
            </a:r>
            <a:r>
              <a:rPr b="0" i="0" lang="en" sz="1500" u="none" cap="none" strike="noStrike">
                <a:solidFill>
                  <a:srgbClr val="000000"/>
                </a:solidFill>
                <a:latin typeface="Hind"/>
                <a:ea typeface="Hind"/>
                <a:cs typeface="Hind"/>
                <a:sym typeface="Hind"/>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1" i="0" lang="en" sz="1500" u="none" cap="none" strike="noStrike">
                <a:solidFill>
                  <a:srgbClr val="3F3F3F"/>
                </a:solidFill>
                <a:latin typeface="Hind"/>
                <a:ea typeface="Hind"/>
                <a:cs typeface="Hind"/>
                <a:sym typeface="Hind"/>
              </a:rPr>
              <a:t>Also</a:t>
            </a:r>
            <a:r>
              <a:rPr b="1" i="0" lang="en" sz="1500" u="none" cap="none" strike="noStrike">
                <a:solidFill>
                  <a:srgbClr val="000000"/>
                </a:solidFill>
                <a:latin typeface="Hind"/>
                <a:ea typeface="Hind"/>
                <a:cs typeface="Hind"/>
                <a:sym typeface="Hind"/>
              </a:rPr>
              <a:t> </a:t>
            </a:r>
            <a:r>
              <a:rPr b="1" i="0" lang="en" sz="1500" u="none" cap="none" strike="noStrike">
                <a:solidFill>
                  <a:srgbClr val="3F3F3F"/>
                </a:solidFill>
                <a:latin typeface="Hind"/>
                <a:ea typeface="Hind"/>
                <a:cs typeface="Hind"/>
                <a:sym typeface="Hind"/>
              </a:rPr>
              <a:t>counts</a:t>
            </a:r>
            <a:r>
              <a:rPr b="1" i="0" lang="en" sz="1500" u="none" cap="none" strike="noStrike">
                <a:solidFill>
                  <a:srgbClr val="000000"/>
                </a:solidFill>
                <a:latin typeface="Hind"/>
                <a:ea typeface="Hind"/>
                <a:cs typeface="Hind"/>
                <a:sym typeface="Hind"/>
              </a:rPr>
              <a:t> </a:t>
            </a:r>
            <a:r>
              <a:rPr b="1" i="0" lang="en" sz="1500" u="none" cap="none" strike="noStrike">
                <a:solidFill>
                  <a:srgbClr val="3F3F3F"/>
                </a:solidFill>
                <a:latin typeface="Hind"/>
                <a:ea typeface="Hind"/>
                <a:cs typeface="Hind"/>
                <a:sym typeface="Hind"/>
              </a:rPr>
              <a:t>for today’s</a:t>
            </a:r>
            <a:r>
              <a:rPr b="1" i="0" lang="en" sz="1500" u="none" cap="none" strike="noStrike">
                <a:solidFill>
                  <a:srgbClr val="000000"/>
                </a:solidFill>
                <a:latin typeface="Hind"/>
                <a:ea typeface="Hind"/>
                <a:cs typeface="Hind"/>
                <a:sym typeface="Hind"/>
              </a:rPr>
              <a:t> </a:t>
            </a:r>
            <a:r>
              <a:rPr b="1" i="0" lang="en" sz="1500" u="none" cap="none" strike="noStrike">
                <a:solidFill>
                  <a:srgbClr val="3F3F3F"/>
                </a:solidFill>
                <a:latin typeface="Hind"/>
                <a:ea typeface="Hind"/>
                <a:cs typeface="Hind"/>
                <a:sym typeface="Hind"/>
              </a:rPr>
              <a:t>attendance!</a:t>
            </a:r>
            <a:endParaRPr b="0" i="0" sz="1400" u="none" cap="none" strike="noStrike">
              <a:solidFill>
                <a:srgbClr val="000000"/>
              </a:solidFill>
              <a:latin typeface="Arial"/>
              <a:ea typeface="Arial"/>
              <a:cs typeface="Arial"/>
              <a:sym typeface="Arial"/>
            </a:endParaRPr>
          </a:p>
        </p:txBody>
      </p:sp>
      <p:pic>
        <p:nvPicPr>
          <p:cNvPr id="435" name="Google Shape;435;p21" title="Screenshot 2026-09-16 at 6.58.17 PM.png"/>
          <p:cNvPicPr preferRelativeResize="0"/>
          <p:nvPr/>
        </p:nvPicPr>
        <p:blipFill>
          <a:blip r:embed="rId3">
            <a:alphaModFix/>
          </a:blip>
          <a:stretch>
            <a:fillRect/>
          </a:stretch>
        </p:blipFill>
        <p:spPr>
          <a:xfrm>
            <a:off x="3285850" y="1228425"/>
            <a:ext cx="2572298" cy="25503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2"/>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2400" u="none" cap="none" strike="noStrike">
                <a:solidFill>
                  <a:srgbClr val="613CB0"/>
                </a:solidFill>
                <a:latin typeface="Hind"/>
                <a:ea typeface="Hind"/>
                <a:cs typeface="Hind"/>
                <a:sym typeface="Hind"/>
              </a:rPr>
              <a:t>Enrollment</a:t>
            </a:r>
            <a:endParaRPr i="0" sz="2400" u="none" cap="none" strike="noStrike">
              <a:solidFill>
                <a:srgbClr val="613CB0"/>
              </a:solidFill>
              <a:latin typeface="Hind"/>
              <a:ea typeface="Hind"/>
              <a:cs typeface="Hind"/>
              <a:sym typeface="Hind"/>
            </a:endParaRPr>
          </a:p>
        </p:txBody>
      </p:sp>
      <p:sp>
        <p:nvSpPr>
          <p:cNvPr id="441" name="Google Shape;441;p22"/>
          <p:cNvSpPr/>
          <p:nvPr/>
        </p:nvSpPr>
        <p:spPr>
          <a:xfrm>
            <a:off x="311700" y="863100"/>
            <a:ext cx="18738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Let’s get this credit</a:t>
            </a:r>
            <a:endParaRPr b="0" i="0" sz="1200" u="none" cap="none" strike="noStrike">
              <a:solidFill>
                <a:srgbClr val="000000"/>
              </a:solidFill>
              <a:latin typeface="Arial"/>
              <a:ea typeface="Arial"/>
              <a:cs typeface="Arial"/>
              <a:sym typeface="Arial"/>
            </a:endParaRPr>
          </a:p>
        </p:txBody>
      </p:sp>
      <p:sp>
        <p:nvSpPr>
          <p:cNvPr id="442" name="Google Shape;442;p22"/>
          <p:cNvSpPr txBox="1"/>
          <p:nvPr/>
        </p:nvSpPr>
        <p:spPr>
          <a:xfrm>
            <a:off x="3136050" y="3032825"/>
            <a:ext cx="5719500" cy="1316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500" u="none" cap="none" strike="noStrike">
                <a:solidFill>
                  <a:srgbClr val="3F3F3F"/>
                </a:solidFill>
                <a:latin typeface="Hind"/>
                <a:ea typeface="Hind"/>
                <a:cs typeface="Hind"/>
                <a:sym typeface="Hind"/>
              </a:rPr>
              <a:t>Enroll in Ed Discussion</a:t>
            </a:r>
            <a:endParaRPr b="1" i="0" sz="1500" u="none" cap="none" strike="noStrike">
              <a:solidFill>
                <a:srgbClr val="3F3F3F"/>
              </a:solidFill>
              <a:latin typeface="Hind"/>
              <a:ea typeface="Hind"/>
              <a:cs typeface="Hind"/>
              <a:sym typeface="Hind"/>
            </a:endParaRPr>
          </a:p>
          <a:p>
            <a:pPr indent="0" lvl="0" marL="0" marR="0" rtl="0" algn="ctr">
              <a:lnSpc>
                <a:spcPct val="100000"/>
              </a:lnSpc>
              <a:spcBef>
                <a:spcPts val="0"/>
              </a:spcBef>
              <a:spcAft>
                <a:spcPts val="0"/>
              </a:spcAft>
              <a:buClr>
                <a:schemeClr val="dk1"/>
              </a:buClr>
              <a:buSzPts val="1100"/>
              <a:buFont typeface="Arial"/>
              <a:buNone/>
            </a:pPr>
            <a:r>
              <a:rPr b="1" i="0" lang="en" sz="3600" u="sng" cap="none" strike="noStrike">
                <a:solidFill>
                  <a:schemeClr val="hlink"/>
                </a:solidFill>
                <a:latin typeface="Hind"/>
                <a:ea typeface="Hind"/>
                <a:cs typeface="Hind"/>
                <a:sym typeface="Hind"/>
                <a:hlinkClick r:id="rId3"/>
              </a:rPr>
              <a:t>https://edstem.org/us/join/</a:t>
            </a:r>
            <a:r>
              <a:rPr b="1" lang="en" sz="3600" u="sng">
                <a:solidFill>
                  <a:schemeClr val="hlink"/>
                </a:solidFill>
                <a:latin typeface="Hind"/>
                <a:ea typeface="Hind"/>
                <a:cs typeface="Hind"/>
                <a:sym typeface="Hind"/>
                <a:hlinkClick r:id="rId4"/>
              </a:rPr>
              <a:t>aet3sj</a:t>
            </a:r>
            <a:r>
              <a:rPr b="1" i="0" lang="en" sz="3600" u="none" cap="none" strike="noStrike">
                <a:solidFill>
                  <a:srgbClr val="3F3F3F"/>
                </a:solidFill>
                <a:latin typeface="Hind"/>
                <a:ea typeface="Hind"/>
                <a:cs typeface="Hind"/>
                <a:sym typeface="Hind"/>
              </a:rPr>
              <a:t> </a:t>
            </a:r>
            <a:endParaRPr b="1" i="0" sz="3600" u="none" cap="none" strike="noStrike">
              <a:solidFill>
                <a:srgbClr val="3F3F3F"/>
              </a:solidFill>
              <a:latin typeface="Hind"/>
              <a:ea typeface="Hind"/>
              <a:cs typeface="Hind"/>
              <a:sym typeface="Hind"/>
            </a:endParaRPr>
          </a:p>
          <a:p>
            <a:pPr indent="0" lvl="0" marL="0" marR="0" rtl="0" algn="ctr">
              <a:lnSpc>
                <a:spcPct val="100000"/>
              </a:lnSpc>
              <a:spcBef>
                <a:spcPts val="0"/>
              </a:spcBef>
              <a:spcAft>
                <a:spcPts val="0"/>
              </a:spcAft>
              <a:buClr>
                <a:schemeClr val="dk1"/>
              </a:buClr>
              <a:buSzPts val="1100"/>
              <a:buFont typeface="Arial"/>
              <a:buNone/>
            </a:pPr>
            <a:r>
              <a:rPr b="1" i="0" lang="en" sz="1500" u="none" cap="none" strike="noStrike">
                <a:solidFill>
                  <a:srgbClr val="3F3F3F"/>
                </a:solidFill>
                <a:latin typeface="Hind"/>
                <a:ea typeface="Hind"/>
                <a:cs typeface="Hind"/>
                <a:sym typeface="Hind"/>
              </a:rPr>
              <a:t>You will be added to CMS over the weekend (after enrollment)</a:t>
            </a:r>
            <a:endParaRPr b="1" i="0" sz="1500" u="none" cap="none" strike="noStrike">
              <a:solidFill>
                <a:srgbClr val="3F3F3F"/>
              </a:solidFill>
              <a:latin typeface="Hind"/>
              <a:ea typeface="Hind"/>
              <a:cs typeface="Hind"/>
              <a:sym typeface="Hind"/>
            </a:endParaRPr>
          </a:p>
        </p:txBody>
      </p:sp>
      <p:sp>
        <p:nvSpPr>
          <p:cNvPr id="443" name="Google Shape;443;p22"/>
          <p:cNvSpPr txBox="1"/>
          <p:nvPr/>
        </p:nvSpPr>
        <p:spPr>
          <a:xfrm>
            <a:off x="173475" y="3404825"/>
            <a:ext cx="2901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100" u="none" cap="none" strike="noStrike">
                <a:solidFill>
                  <a:srgbClr val="3F3F3F"/>
                </a:solidFill>
                <a:latin typeface="Hind"/>
                <a:ea typeface="Hind"/>
                <a:cs typeface="Hind"/>
                <a:sym typeface="Hind"/>
              </a:rPr>
              <a:t>Fill out by Friday to get a pin</a:t>
            </a:r>
            <a:r>
              <a:rPr b="0" i="0" lang="en" sz="11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1" i="0" lang="en" sz="1100" u="sng" cap="none" strike="noStrike">
                <a:solidFill>
                  <a:schemeClr val="hlink"/>
                </a:solidFill>
                <a:latin typeface="Hind"/>
                <a:ea typeface="Hind"/>
                <a:cs typeface="Hind"/>
                <a:sym typeface="Hind"/>
                <a:hlinkClick r:id="rId5"/>
              </a:rPr>
              <a:t>https://forms.gle/</a:t>
            </a:r>
            <a:r>
              <a:rPr b="1" lang="en" sz="1100" u="sng">
                <a:solidFill>
                  <a:schemeClr val="hlink"/>
                </a:solidFill>
                <a:latin typeface="Hind"/>
                <a:ea typeface="Hind"/>
                <a:cs typeface="Hind"/>
                <a:sym typeface="Hind"/>
                <a:hlinkClick r:id="rId6"/>
              </a:rPr>
              <a:t>CbrxY1eBWHBiw4dv9</a:t>
            </a:r>
            <a:r>
              <a:rPr b="1" i="0" lang="en" sz="1100" u="none" cap="none" strike="noStrike">
                <a:solidFill>
                  <a:srgbClr val="3F3F3F"/>
                </a:solidFill>
                <a:latin typeface="Hind"/>
                <a:ea typeface="Hind"/>
                <a:cs typeface="Hind"/>
                <a:sym typeface="Hind"/>
              </a:rPr>
              <a:t> </a:t>
            </a:r>
            <a:endParaRPr b="1" i="0" sz="1100" u="none" cap="none" strike="noStrike">
              <a:solidFill>
                <a:srgbClr val="3F3F3F"/>
              </a:solidFill>
              <a:latin typeface="Hind"/>
              <a:ea typeface="Hind"/>
              <a:cs typeface="Hind"/>
              <a:sym typeface="Hind"/>
            </a:endParaRPr>
          </a:p>
        </p:txBody>
      </p:sp>
      <p:sp>
        <p:nvSpPr>
          <p:cNvPr id="444" name="Google Shape;444;p22"/>
          <p:cNvSpPr txBox="1"/>
          <p:nvPr/>
        </p:nvSpPr>
        <p:spPr>
          <a:xfrm>
            <a:off x="562050" y="1694644"/>
            <a:ext cx="1850100" cy="126501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8900" u="none" cap="none" strike="noStrike">
                <a:solidFill>
                  <a:srgbClr val="3F3F3F"/>
                </a:solidFill>
                <a:latin typeface="Hind"/>
                <a:ea typeface="Hind"/>
                <a:cs typeface="Hind"/>
                <a:sym typeface="Hind"/>
              </a:rPr>
              <a:t>1</a:t>
            </a:r>
            <a:endParaRPr b="0" i="0" sz="8900" u="none" cap="none" strike="noStrike">
              <a:solidFill>
                <a:srgbClr val="000000"/>
              </a:solidFill>
              <a:latin typeface="Arial"/>
              <a:ea typeface="Arial"/>
              <a:cs typeface="Arial"/>
              <a:sym typeface="Arial"/>
            </a:endParaRPr>
          </a:p>
        </p:txBody>
      </p:sp>
      <p:pic>
        <p:nvPicPr>
          <p:cNvPr id="445" name="Google Shape;445;p22" title="Screenshot 2026-09-16 at 6.59.28 PM.png"/>
          <p:cNvPicPr preferRelativeResize="0"/>
          <p:nvPr/>
        </p:nvPicPr>
        <p:blipFill>
          <a:blip r:embed="rId7">
            <a:alphaModFix/>
          </a:blip>
          <a:stretch>
            <a:fillRect/>
          </a:stretch>
        </p:blipFill>
        <p:spPr>
          <a:xfrm>
            <a:off x="4803512" y="554600"/>
            <a:ext cx="2384576" cy="240505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3"/>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2400" u="none" cap="none" strike="noStrike">
                <a:solidFill>
                  <a:srgbClr val="613CB0"/>
                </a:solidFill>
                <a:latin typeface="Hind"/>
                <a:ea typeface="Hind"/>
                <a:cs typeface="Hind"/>
                <a:sym typeface="Hind"/>
              </a:rPr>
              <a:t>Enrollment</a:t>
            </a:r>
            <a:endParaRPr i="0" sz="2400" u="none" cap="none" strike="noStrike">
              <a:solidFill>
                <a:srgbClr val="613CB0"/>
              </a:solidFill>
              <a:latin typeface="Hind"/>
              <a:ea typeface="Hind"/>
              <a:cs typeface="Hind"/>
              <a:sym typeface="Hind"/>
            </a:endParaRPr>
          </a:p>
        </p:txBody>
      </p:sp>
      <p:sp>
        <p:nvSpPr>
          <p:cNvPr id="451" name="Google Shape;451;p23"/>
          <p:cNvSpPr/>
          <p:nvPr/>
        </p:nvSpPr>
        <p:spPr>
          <a:xfrm>
            <a:off x="311700" y="863093"/>
            <a:ext cx="16187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1" lang="en" sz="1200" u="none" cap="none" strike="noStrike">
                <a:solidFill>
                  <a:srgbClr val="595959"/>
                </a:solidFill>
                <a:latin typeface="Helvetica Neue"/>
                <a:ea typeface="Helvetica Neue"/>
                <a:cs typeface="Helvetica Neue"/>
                <a:sym typeface="Helvetica Neue"/>
              </a:rPr>
              <a:t>Let’s get this credit</a:t>
            </a:r>
            <a:endParaRPr b="0" i="0" sz="1200" u="none" cap="none" strike="noStrike">
              <a:solidFill>
                <a:srgbClr val="000000"/>
              </a:solidFill>
              <a:latin typeface="Arial"/>
              <a:ea typeface="Arial"/>
              <a:cs typeface="Arial"/>
              <a:sym typeface="Arial"/>
            </a:endParaRPr>
          </a:p>
        </p:txBody>
      </p:sp>
      <p:sp>
        <p:nvSpPr>
          <p:cNvPr id="452" name="Google Shape;452;p23"/>
          <p:cNvSpPr txBox="1"/>
          <p:nvPr/>
        </p:nvSpPr>
        <p:spPr>
          <a:xfrm>
            <a:off x="562050" y="1694644"/>
            <a:ext cx="1850100" cy="1265011"/>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8900" u="none" cap="none" strike="noStrike">
                <a:solidFill>
                  <a:srgbClr val="3F3F3F"/>
                </a:solidFill>
                <a:latin typeface="Hind"/>
                <a:ea typeface="Hind"/>
                <a:cs typeface="Hind"/>
                <a:sym typeface="Hind"/>
              </a:rPr>
              <a:t>1</a:t>
            </a:r>
            <a:endParaRPr b="0" i="0" sz="8900" u="none" cap="none" strike="noStrike">
              <a:solidFill>
                <a:srgbClr val="000000"/>
              </a:solidFill>
              <a:latin typeface="Arial"/>
              <a:ea typeface="Arial"/>
              <a:cs typeface="Arial"/>
              <a:sym typeface="Arial"/>
            </a:endParaRPr>
          </a:p>
        </p:txBody>
      </p:sp>
      <p:sp>
        <p:nvSpPr>
          <p:cNvPr id="453" name="Google Shape;453;p23"/>
          <p:cNvSpPr txBox="1"/>
          <p:nvPr/>
        </p:nvSpPr>
        <p:spPr>
          <a:xfrm>
            <a:off x="3712050" y="1605200"/>
            <a:ext cx="1719900" cy="144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8900" u="none" cap="none" strike="noStrike">
                <a:solidFill>
                  <a:srgbClr val="3F3F3F"/>
                </a:solidFill>
                <a:latin typeface="Hind"/>
                <a:ea typeface="Hind"/>
                <a:cs typeface="Hind"/>
                <a:sym typeface="Hind"/>
              </a:rPr>
              <a:t>2</a:t>
            </a:r>
            <a:endParaRPr b="0" i="0" sz="8900" u="none" cap="none" strike="noStrike">
              <a:solidFill>
                <a:srgbClr val="3F3F3F"/>
              </a:solidFill>
              <a:latin typeface="Arial"/>
              <a:ea typeface="Arial"/>
              <a:cs typeface="Arial"/>
              <a:sym typeface="Arial"/>
            </a:endParaRPr>
          </a:p>
        </p:txBody>
      </p:sp>
      <p:sp>
        <p:nvSpPr>
          <p:cNvPr id="454" name="Google Shape;454;p23"/>
          <p:cNvSpPr txBox="1"/>
          <p:nvPr/>
        </p:nvSpPr>
        <p:spPr>
          <a:xfrm>
            <a:off x="173475" y="3404825"/>
            <a:ext cx="2901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100" u="none" cap="none" strike="noStrike">
                <a:solidFill>
                  <a:srgbClr val="3F3F3F"/>
                </a:solidFill>
                <a:latin typeface="Hind"/>
                <a:ea typeface="Hind"/>
                <a:cs typeface="Hind"/>
                <a:sym typeface="Hind"/>
              </a:rPr>
              <a:t>Fill out by Friday to get a pin</a:t>
            </a:r>
            <a:r>
              <a:rPr b="0" i="0" lang="en" sz="11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1" i="0" lang="en" sz="1100" u="sng" cap="none" strike="noStrike">
                <a:solidFill>
                  <a:schemeClr val="hlink"/>
                </a:solidFill>
                <a:latin typeface="Hind"/>
                <a:ea typeface="Hind"/>
                <a:cs typeface="Hind"/>
                <a:sym typeface="Hind"/>
                <a:hlinkClick r:id="rId3"/>
              </a:rPr>
              <a:t>https://forms.gle/</a:t>
            </a:r>
            <a:r>
              <a:rPr b="1" lang="en" sz="1100" u="sng">
                <a:solidFill>
                  <a:schemeClr val="hlink"/>
                </a:solidFill>
                <a:latin typeface="Hind"/>
                <a:ea typeface="Hind"/>
                <a:cs typeface="Hind"/>
                <a:sym typeface="Hind"/>
                <a:hlinkClick r:id="rId4"/>
              </a:rPr>
              <a:t>CbrxY1eBWHBiw4dv9</a:t>
            </a:r>
            <a:r>
              <a:rPr b="1" i="0" lang="en" sz="1100" u="none" cap="none" strike="noStrike">
                <a:solidFill>
                  <a:srgbClr val="3F3F3F"/>
                </a:solidFill>
                <a:latin typeface="Hind"/>
                <a:ea typeface="Hind"/>
                <a:cs typeface="Hind"/>
                <a:sym typeface="Hind"/>
              </a:rPr>
              <a:t> </a:t>
            </a:r>
            <a:endParaRPr b="1" i="0" sz="1100" u="none" cap="none" strike="noStrike">
              <a:solidFill>
                <a:srgbClr val="3F3F3F"/>
              </a:solidFill>
              <a:latin typeface="Hind"/>
              <a:ea typeface="Hind"/>
              <a:cs typeface="Hind"/>
              <a:sym typeface="Hind"/>
            </a:endParaRPr>
          </a:p>
        </p:txBody>
      </p:sp>
      <p:sp>
        <p:nvSpPr>
          <p:cNvPr id="455" name="Google Shape;455;p23"/>
          <p:cNvSpPr txBox="1"/>
          <p:nvPr/>
        </p:nvSpPr>
        <p:spPr>
          <a:xfrm>
            <a:off x="3567300" y="3406050"/>
            <a:ext cx="1864650" cy="1033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100" u="none" cap="none" strike="noStrike">
                <a:solidFill>
                  <a:srgbClr val="3F3F3F"/>
                </a:solidFill>
                <a:latin typeface="Hind"/>
                <a:ea typeface="Hind"/>
                <a:cs typeface="Hind"/>
                <a:sym typeface="Hind"/>
              </a:rPr>
              <a:t>Enroll in Ed Discussion</a:t>
            </a:r>
            <a:endParaRPr b="1" i="0" sz="1100" u="none" cap="none" strike="noStrike">
              <a:solidFill>
                <a:srgbClr val="3F3F3F"/>
              </a:solidFill>
              <a:latin typeface="Hind"/>
              <a:ea typeface="Hind"/>
              <a:cs typeface="Hind"/>
              <a:sym typeface="Hind"/>
            </a:endParaRPr>
          </a:p>
          <a:p>
            <a:pPr indent="0" lvl="0" marL="0" marR="0" rtl="0" algn="ctr">
              <a:lnSpc>
                <a:spcPct val="100000"/>
              </a:lnSpc>
              <a:spcBef>
                <a:spcPts val="0"/>
              </a:spcBef>
              <a:spcAft>
                <a:spcPts val="0"/>
              </a:spcAft>
              <a:buClr>
                <a:schemeClr val="dk1"/>
              </a:buClr>
              <a:buSzPts val="1100"/>
              <a:buFont typeface="Arial"/>
              <a:buNone/>
            </a:pPr>
            <a:r>
              <a:rPr b="1" i="0" lang="en" sz="1500" u="sng" cap="none" strike="noStrike">
                <a:solidFill>
                  <a:schemeClr val="hlink"/>
                </a:solidFill>
                <a:latin typeface="Hind"/>
                <a:ea typeface="Hind"/>
                <a:cs typeface="Hind"/>
                <a:sym typeface="Hind"/>
                <a:hlinkClick r:id="rId5"/>
              </a:rPr>
              <a:t>https://edstem.org/us/join/</a:t>
            </a:r>
            <a:r>
              <a:rPr b="1" lang="en" sz="1500" u="sng">
                <a:solidFill>
                  <a:schemeClr val="hlink"/>
                </a:solidFill>
                <a:latin typeface="Hind"/>
                <a:ea typeface="Hind"/>
                <a:cs typeface="Hind"/>
                <a:sym typeface="Hind"/>
                <a:hlinkClick r:id="rId6"/>
              </a:rPr>
              <a:t>aet3sj</a:t>
            </a:r>
            <a:r>
              <a:rPr b="1" i="0" lang="en" sz="1500" u="none" cap="none" strike="noStrike">
                <a:solidFill>
                  <a:srgbClr val="3F3F3F"/>
                </a:solidFill>
                <a:latin typeface="Hind"/>
                <a:ea typeface="Hind"/>
                <a:cs typeface="Hind"/>
                <a:sym typeface="Hind"/>
              </a:rPr>
              <a:t> </a:t>
            </a:r>
            <a:r>
              <a:rPr b="1" i="0" lang="en" sz="1100" u="none" cap="none" strike="noStrike">
                <a:solidFill>
                  <a:srgbClr val="3F3F3F"/>
                </a:solidFill>
                <a:latin typeface="Hind"/>
                <a:ea typeface="Hind"/>
                <a:cs typeface="Hind"/>
                <a:sym typeface="Hind"/>
              </a:rPr>
              <a:t> </a:t>
            </a:r>
            <a:endParaRPr b="1" i="0" sz="1100" u="none" cap="none" strike="noStrike">
              <a:solidFill>
                <a:srgbClr val="3F3F3F"/>
              </a:solidFill>
              <a:latin typeface="Hind"/>
              <a:ea typeface="Hind"/>
              <a:cs typeface="Hind"/>
              <a:sym typeface="Hind"/>
            </a:endParaRPr>
          </a:p>
          <a:p>
            <a:pPr indent="0" lvl="0" marL="0" marR="0" rtl="0" algn="ctr">
              <a:lnSpc>
                <a:spcPct val="100000"/>
              </a:lnSpc>
              <a:spcBef>
                <a:spcPts val="0"/>
              </a:spcBef>
              <a:spcAft>
                <a:spcPts val="0"/>
              </a:spcAft>
              <a:buClr>
                <a:schemeClr val="dk1"/>
              </a:buClr>
              <a:buSzPts val="1100"/>
              <a:buFont typeface="Arial"/>
              <a:buNone/>
            </a:pPr>
            <a:r>
              <a:rPr b="1" i="0" lang="en" sz="1100" u="none" cap="none" strike="noStrike">
                <a:solidFill>
                  <a:srgbClr val="3F3F3F"/>
                </a:solidFill>
                <a:latin typeface="Hind"/>
                <a:ea typeface="Hind"/>
                <a:cs typeface="Hind"/>
                <a:sym typeface="Hind"/>
              </a:rPr>
              <a:t>You will be added to CMS over the weekend</a:t>
            </a:r>
            <a:endParaRPr b="0" i="0" sz="1100" u="none" cap="none" strike="noStrike">
              <a:solidFill>
                <a:srgbClr val="3F3F3F"/>
              </a:solidFill>
              <a:latin typeface="Arial"/>
              <a:ea typeface="Arial"/>
              <a:cs typeface="Arial"/>
              <a:sym typeface="Arial"/>
            </a:endParaRPr>
          </a:p>
        </p:txBody>
      </p:sp>
      <p:sp>
        <p:nvSpPr>
          <p:cNvPr id="456" name="Google Shape;456;p23"/>
          <p:cNvSpPr txBox="1"/>
          <p:nvPr/>
        </p:nvSpPr>
        <p:spPr>
          <a:xfrm>
            <a:off x="6069525" y="971525"/>
            <a:ext cx="2857800" cy="2433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5600" u="none" cap="none" strike="noStrike">
                <a:solidFill>
                  <a:srgbClr val="595A89"/>
                </a:solidFill>
                <a:latin typeface="Hind"/>
                <a:ea typeface="Hind"/>
                <a:cs typeface="Hind"/>
                <a:sym typeface="Hind"/>
              </a:rPr>
              <a:t>3</a:t>
            </a:r>
            <a:endParaRPr b="0" i="0" sz="5500" u="none" cap="none" strike="noStrike">
              <a:solidFill>
                <a:srgbClr val="595A89"/>
              </a:solidFill>
              <a:latin typeface="Arial"/>
              <a:ea typeface="Arial"/>
              <a:cs typeface="Arial"/>
              <a:sym typeface="Arial"/>
            </a:endParaRPr>
          </a:p>
        </p:txBody>
      </p:sp>
      <p:sp>
        <p:nvSpPr>
          <p:cNvPr id="457" name="Google Shape;457;p23"/>
          <p:cNvSpPr txBox="1"/>
          <p:nvPr/>
        </p:nvSpPr>
        <p:spPr>
          <a:xfrm>
            <a:off x="6493720" y="3404836"/>
            <a:ext cx="2009400" cy="793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500" u="none" cap="none" strike="noStrike">
                <a:solidFill>
                  <a:srgbClr val="595A89"/>
                </a:solidFill>
                <a:latin typeface="Hind"/>
                <a:ea typeface="Hind"/>
                <a:cs typeface="Hind"/>
                <a:sym typeface="Hind"/>
              </a:rPr>
              <a:t>Enroll through Student Center after obtaining pins</a:t>
            </a:r>
            <a:endParaRPr b="0" i="0" sz="1500" u="none" cap="none" strike="noStrike">
              <a:solidFill>
                <a:srgbClr val="595A89"/>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4"/>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2400" u="none" cap="none" strike="noStrike">
                <a:solidFill>
                  <a:srgbClr val="613CB0"/>
                </a:solidFill>
                <a:latin typeface="Hind"/>
                <a:ea typeface="Hind"/>
                <a:cs typeface="Hind"/>
                <a:sym typeface="Hind"/>
              </a:rPr>
              <a:t>Enrollment on Student Center</a:t>
            </a:r>
            <a:endParaRPr i="0" sz="2400" u="none" cap="none" strike="noStrike">
              <a:solidFill>
                <a:srgbClr val="613CB0"/>
              </a:solidFill>
              <a:latin typeface="Hind"/>
              <a:ea typeface="Hind"/>
              <a:cs typeface="Hind"/>
              <a:sym typeface="Hind"/>
            </a:endParaRPr>
          </a:p>
        </p:txBody>
      </p:sp>
      <p:sp>
        <p:nvSpPr>
          <p:cNvPr id="463" name="Google Shape;463;p24"/>
          <p:cNvSpPr/>
          <p:nvPr/>
        </p:nvSpPr>
        <p:spPr>
          <a:xfrm>
            <a:off x="311700" y="863093"/>
            <a:ext cx="11754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1" lang="en" sz="900" u="none" cap="none" strike="noStrike">
                <a:solidFill>
                  <a:srgbClr val="595959"/>
                </a:solidFill>
                <a:latin typeface="Helvetica Neue"/>
                <a:ea typeface="Helvetica Neue"/>
                <a:cs typeface="Helvetica Neue"/>
                <a:sym typeface="Helvetica Neue"/>
              </a:rPr>
              <a:t>Let’s get this credit</a:t>
            </a:r>
            <a:endParaRPr b="0" i="0" sz="1400" u="none" cap="none" strike="noStrike">
              <a:solidFill>
                <a:srgbClr val="000000"/>
              </a:solidFill>
              <a:latin typeface="Arial"/>
              <a:ea typeface="Arial"/>
              <a:cs typeface="Arial"/>
              <a:sym typeface="Arial"/>
            </a:endParaRPr>
          </a:p>
        </p:txBody>
      </p:sp>
      <p:sp>
        <p:nvSpPr>
          <p:cNvPr id="464" name="Google Shape;464;p24"/>
          <p:cNvSpPr txBox="1"/>
          <p:nvPr/>
        </p:nvSpPr>
        <p:spPr>
          <a:xfrm>
            <a:off x="311700" y="1128761"/>
            <a:ext cx="7817400" cy="10911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chemeClr val="dk1"/>
              </a:buClr>
              <a:buSzPts val="1100"/>
              <a:buFont typeface="Arial"/>
              <a:buChar char="•"/>
            </a:pPr>
            <a:r>
              <a:rPr b="0" i="0" lang="en" sz="1800" u="none" cap="none" strike="noStrike">
                <a:solidFill>
                  <a:schemeClr val="dk1"/>
                </a:solidFill>
                <a:latin typeface="Hind"/>
                <a:ea typeface="Hind"/>
                <a:cs typeface="Hind"/>
                <a:sym typeface="Hind"/>
              </a:rPr>
              <a:t>Get enrollment pin via email (sometime next week)</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100"/>
              <a:buFont typeface="Arial"/>
              <a:buChar char="•"/>
            </a:pPr>
            <a:r>
              <a:rPr b="0" i="0" lang="en" sz="1800" u="none" cap="none" strike="noStrike">
                <a:solidFill>
                  <a:schemeClr val="dk1"/>
                </a:solidFill>
                <a:latin typeface="Hind"/>
                <a:ea typeface="Hind"/>
                <a:cs typeface="Hind"/>
                <a:sym typeface="Hind"/>
              </a:rPr>
              <a:t>Add INFO 1998 Section 602 (class # …) under Rene Kizilcec</a:t>
            </a:r>
            <a:endParaRPr b="0" i="0" sz="1800" u="none" cap="none" strike="noStrike">
              <a:solidFill>
                <a:schemeClr val="dk1"/>
              </a:solidFill>
              <a:latin typeface="Hind"/>
              <a:ea typeface="Hind"/>
              <a:cs typeface="Hind"/>
              <a:sym typeface="Hind"/>
            </a:endParaRPr>
          </a:p>
          <a:p>
            <a:pPr indent="-285750" lvl="0" marL="285750" marR="0" rtl="0" algn="l">
              <a:lnSpc>
                <a:spcPct val="100000"/>
              </a:lnSpc>
              <a:spcBef>
                <a:spcPts val="0"/>
              </a:spcBef>
              <a:spcAft>
                <a:spcPts val="0"/>
              </a:spcAft>
              <a:buClr>
                <a:schemeClr val="dk1"/>
              </a:buClr>
              <a:buSzPts val="1100"/>
              <a:buFont typeface="Arial"/>
              <a:buChar char="•"/>
            </a:pPr>
            <a:r>
              <a:rPr b="0" i="0" lang="en" sz="1800" u="none" cap="none" strike="noStrike">
                <a:solidFill>
                  <a:schemeClr val="dk1"/>
                </a:solidFill>
                <a:latin typeface="Hind"/>
                <a:ea typeface="Hind"/>
                <a:cs typeface="Hind"/>
                <a:sym typeface="Hind"/>
              </a:rPr>
              <a:t>Please try to enroll as soon as possible when you receive your pin</a:t>
            </a:r>
            <a:endParaRPr b="0" i="0" sz="1400" u="none" cap="none" strike="noStrike">
              <a:solidFill>
                <a:schemeClr val="dk1"/>
              </a:solidFill>
              <a:latin typeface="Arial"/>
              <a:ea typeface="Arial"/>
              <a:cs typeface="Arial"/>
              <a:sym typeface="Arial"/>
            </a:endParaRPr>
          </a:p>
        </p:txBody>
      </p:sp>
      <p:sp>
        <p:nvSpPr>
          <p:cNvPr id="465" name="Google Shape;465;p24"/>
          <p:cNvSpPr txBox="1"/>
          <p:nvPr/>
        </p:nvSpPr>
        <p:spPr>
          <a:xfrm>
            <a:off x="7722712" y="3078665"/>
            <a:ext cx="11004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Hind"/>
                <a:ea typeface="Hind"/>
                <a:cs typeface="Hind"/>
                <a:sym typeface="Hind"/>
              </a:rPr>
              <a:t>1 credit pass/fail</a:t>
            </a:r>
            <a:endParaRPr b="0" i="0" sz="1400" u="none" cap="none" strike="noStrike">
              <a:solidFill>
                <a:srgbClr val="FF0000"/>
              </a:solidFill>
              <a:latin typeface="Arial"/>
              <a:ea typeface="Arial"/>
              <a:cs typeface="Arial"/>
              <a:sym typeface="Arial"/>
            </a:endParaRPr>
          </a:p>
        </p:txBody>
      </p:sp>
      <p:sp>
        <p:nvSpPr>
          <p:cNvPr id="466" name="Google Shape;466;p24"/>
          <p:cNvSpPr txBox="1"/>
          <p:nvPr/>
        </p:nvSpPr>
        <p:spPr>
          <a:xfrm>
            <a:off x="7779217" y="2590578"/>
            <a:ext cx="1100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Arial"/>
                <a:ea typeface="Arial"/>
                <a:cs typeface="Arial"/>
                <a:sym typeface="Arial"/>
              </a:rPr>
              <a:t>pin</a:t>
            </a:r>
            <a:endParaRPr b="0" i="0" sz="1400" u="none" cap="none" strike="noStrike">
              <a:solidFill>
                <a:srgbClr val="000000"/>
              </a:solidFill>
              <a:latin typeface="Arial"/>
              <a:ea typeface="Arial"/>
              <a:cs typeface="Arial"/>
              <a:sym typeface="Arial"/>
            </a:endParaRPr>
          </a:p>
        </p:txBody>
      </p:sp>
      <p:pic>
        <p:nvPicPr>
          <p:cNvPr id="467" name="Google Shape;467;p24" title="Screenshot 2026-02-10 at 5.52.04 PM.png"/>
          <p:cNvPicPr preferRelativeResize="0"/>
          <p:nvPr/>
        </p:nvPicPr>
        <p:blipFill rotWithShape="1">
          <a:blip r:embed="rId3">
            <a:alphaModFix/>
          </a:blip>
          <a:srcRect b="0" l="0" r="0" t="0"/>
          <a:stretch/>
        </p:blipFill>
        <p:spPr>
          <a:xfrm>
            <a:off x="1205700" y="2146577"/>
            <a:ext cx="6029399" cy="2865750"/>
          </a:xfrm>
          <a:prstGeom prst="rect">
            <a:avLst/>
          </a:prstGeom>
          <a:noFill/>
          <a:ln>
            <a:noFill/>
          </a:ln>
        </p:spPr>
      </p:pic>
      <p:cxnSp>
        <p:nvCxnSpPr>
          <p:cNvPr id="468" name="Google Shape;468;p24"/>
          <p:cNvCxnSpPr>
            <a:stCxn id="466" idx="1"/>
          </p:cNvCxnSpPr>
          <p:nvPr/>
        </p:nvCxnSpPr>
        <p:spPr>
          <a:xfrm flipH="1">
            <a:off x="5748817" y="2744478"/>
            <a:ext cx="2030400" cy="334200"/>
          </a:xfrm>
          <a:prstGeom prst="straightConnector1">
            <a:avLst/>
          </a:prstGeom>
          <a:noFill/>
          <a:ln cap="flat" cmpd="sng" w="57150">
            <a:solidFill>
              <a:srgbClr val="FF0000"/>
            </a:solidFill>
            <a:prstDash val="solid"/>
            <a:round/>
            <a:headEnd len="sm" w="sm" type="none"/>
            <a:tailEnd len="med" w="med" type="triangle"/>
          </a:ln>
        </p:spPr>
      </p:cxnSp>
      <p:cxnSp>
        <p:nvCxnSpPr>
          <p:cNvPr id="469" name="Google Shape;469;p24"/>
          <p:cNvCxnSpPr>
            <a:stCxn id="465" idx="1"/>
          </p:cNvCxnSpPr>
          <p:nvPr/>
        </p:nvCxnSpPr>
        <p:spPr>
          <a:xfrm rot="10800000">
            <a:off x="6542212" y="3324065"/>
            <a:ext cx="1180500" cy="16200"/>
          </a:xfrm>
          <a:prstGeom prst="straightConnector1">
            <a:avLst/>
          </a:prstGeom>
          <a:noFill/>
          <a:ln cap="flat" cmpd="sng" w="57150">
            <a:solidFill>
              <a:srgbClr val="FF0000"/>
            </a:solidFill>
            <a:prstDash val="solid"/>
            <a:round/>
            <a:headEnd len="sm" w="sm"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25"/>
          <p:cNvSpPr txBox="1"/>
          <p:nvPr>
            <p:ph type="title"/>
          </p:nvPr>
        </p:nvSpPr>
        <p:spPr>
          <a:xfrm>
            <a:off x="311700" y="445025"/>
            <a:ext cx="667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2400" u="none" cap="none" strike="noStrike">
                <a:solidFill>
                  <a:srgbClr val="613CB0"/>
                </a:solidFill>
                <a:latin typeface="Hind"/>
                <a:ea typeface="Hind"/>
                <a:cs typeface="Hind"/>
                <a:sym typeface="Hind"/>
              </a:rPr>
              <a:t>Where can I find </a:t>
            </a:r>
            <a:r>
              <a:rPr lang="en" sz="2400">
                <a:solidFill>
                  <a:srgbClr val="613CB0"/>
                </a:solidFill>
                <a:latin typeface="Hind"/>
                <a:ea typeface="Hind"/>
                <a:cs typeface="Hind"/>
                <a:sym typeface="Hind"/>
              </a:rPr>
              <a:t>c</a:t>
            </a:r>
            <a:r>
              <a:rPr i="0" lang="en" sz="2400" u="none" cap="none" strike="noStrike">
                <a:solidFill>
                  <a:srgbClr val="613CB0"/>
                </a:solidFill>
                <a:latin typeface="Hind"/>
                <a:ea typeface="Hind"/>
                <a:cs typeface="Hind"/>
                <a:sym typeface="Hind"/>
              </a:rPr>
              <a:t>ourse information?</a:t>
            </a:r>
            <a:endParaRPr i="0" sz="2400" u="none" cap="none" strike="noStrike">
              <a:solidFill>
                <a:srgbClr val="613CB0"/>
              </a:solidFill>
              <a:latin typeface="Hind"/>
              <a:ea typeface="Hind"/>
              <a:cs typeface="Hind"/>
              <a:sym typeface="Hind"/>
            </a:endParaRPr>
          </a:p>
        </p:txBody>
      </p:sp>
      <p:sp>
        <p:nvSpPr>
          <p:cNvPr id="475" name="Google Shape;475;p25"/>
          <p:cNvSpPr txBox="1"/>
          <p:nvPr/>
        </p:nvSpPr>
        <p:spPr>
          <a:xfrm>
            <a:off x="311700" y="2324850"/>
            <a:ext cx="6960000" cy="49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700" u="none" cap="none" strike="noStrike">
                <a:solidFill>
                  <a:srgbClr val="613CB0"/>
                </a:solidFill>
                <a:latin typeface="Hind"/>
                <a:ea typeface="Hind"/>
                <a:cs typeface="Hind"/>
                <a:sym typeface="Hind"/>
              </a:rPr>
              <a:t>Assignment File &amp; Submitting Assignments: </a:t>
            </a:r>
            <a:r>
              <a:rPr b="0" i="0" lang="en" sz="1700" u="none" cap="none" strike="noStrike">
                <a:solidFill>
                  <a:schemeClr val="dk1"/>
                </a:solidFill>
                <a:latin typeface="Hind"/>
                <a:ea typeface="Hind"/>
                <a:cs typeface="Hind"/>
                <a:sym typeface="Hind"/>
              </a:rPr>
              <a:t>CMS</a:t>
            </a:r>
            <a:endParaRPr b="0" i="0" sz="1300" u="none" cap="none" strike="noStrike">
              <a:solidFill>
                <a:schemeClr val="dk1"/>
              </a:solidFill>
              <a:latin typeface="Arial"/>
              <a:ea typeface="Arial"/>
              <a:cs typeface="Arial"/>
              <a:sym typeface="Arial"/>
            </a:endParaRPr>
          </a:p>
        </p:txBody>
      </p:sp>
      <p:sp>
        <p:nvSpPr>
          <p:cNvPr id="476" name="Google Shape;476;p25"/>
          <p:cNvSpPr txBox="1"/>
          <p:nvPr/>
        </p:nvSpPr>
        <p:spPr>
          <a:xfrm>
            <a:off x="311700" y="1316175"/>
            <a:ext cx="8522100"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700" u="none" cap="none" strike="noStrike">
                <a:solidFill>
                  <a:srgbClr val="613CB0"/>
                </a:solidFill>
                <a:latin typeface="Hind"/>
                <a:ea typeface="Hind"/>
                <a:cs typeface="Hind"/>
                <a:sym typeface="Hind"/>
              </a:rPr>
              <a:t>Asking Questions and Course Announcements: </a:t>
            </a:r>
            <a:r>
              <a:rPr b="0" i="0" lang="en" sz="1700" u="none" cap="none" strike="noStrike">
                <a:solidFill>
                  <a:schemeClr val="dk1"/>
                </a:solidFill>
                <a:latin typeface="Hind"/>
                <a:ea typeface="Hind"/>
                <a:cs typeface="Hind"/>
                <a:sym typeface="Hind"/>
              </a:rPr>
              <a:t>Ed Discussion (avoid email if possible)</a:t>
            </a:r>
            <a:endParaRPr b="0" i="0" sz="1300" u="none" cap="none" strike="noStrike">
              <a:solidFill>
                <a:schemeClr val="dk1"/>
              </a:solidFill>
              <a:latin typeface="Arial"/>
              <a:ea typeface="Arial"/>
              <a:cs typeface="Arial"/>
              <a:sym typeface="Arial"/>
            </a:endParaRPr>
          </a:p>
        </p:txBody>
      </p:sp>
      <p:sp>
        <p:nvSpPr>
          <p:cNvPr id="477" name="Google Shape;477;p25"/>
          <p:cNvSpPr txBox="1"/>
          <p:nvPr/>
        </p:nvSpPr>
        <p:spPr>
          <a:xfrm>
            <a:off x="311700" y="3366850"/>
            <a:ext cx="8522100" cy="4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700" u="none" cap="none" strike="noStrike">
                <a:solidFill>
                  <a:srgbClr val="613CB0"/>
                </a:solidFill>
                <a:latin typeface="Hind"/>
                <a:ea typeface="Hind"/>
                <a:cs typeface="Hind"/>
                <a:sym typeface="Hind"/>
              </a:rPr>
              <a:t>Office Hours Schedule &amp; Assignment Files: </a:t>
            </a:r>
            <a:r>
              <a:rPr b="0" i="0" lang="en" sz="1700" u="none" cap="none" strike="noStrike">
                <a:solidFill>
                  <a:schemeClr val="dk1"/>
                </a:solidFill>
                <a:latin typeface="Hind"/>
                <a:ea typeface="Hind"/>
                <a:cs typeface="Hind"/>
                <a:sym typeface="Hind"/>
              </a:rPr>
              <a:t>Course Website</a:t>
            </a:r>
            <a:endParaRPr b="1" i="0" sz="1700" u="none" cap="none" strike="noStrike">
              <a:solidFill>
                <a:schemeClr val="dk1"/>
              </a:solidFill>
              <a:latin typeface="Hind"/>
              <a:ea typeface="Hind"/>
              <a:cs typeface="Hind"/>
              <a:sym typeface="Hind"/>
            </a:endParaRPr>
          </a:p>
        </p:txBody>
      </p:sp>
      <p:sp>
        <p:nvSpPr>
          <p:cNvPr id="478" name="Google Shape;478;p25"/>
          <p:cNvSpPr/>
          <p:nvPr/>
        </p:nvSpPr>
        <p:spPr>
          <a:xfrm>
            <a:off x="621822" y="1648700"/>
            <a:ext cx="32574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1" lang="en" sz="1400" u="sng" cap="none" strike="noStrike">
                <a:solidFill>
                  <a:schemeClr val="dk1"/>
                </a:solidFill>
                <a:latin typeface="Helvetica Neue"/>
                <a:ea typeface="Helvetica Neue"/>
                <a:cs typeface="Helvetica Neue"/>
                <a:sym typeface="Helvetica Neue"/>
                <a:hlinkClick r:id="rId3">
                  <a:extLst>
                    <a:ext uri="{A12FA001-AC4F-418D-AE19-62706E023703}">
                      <ahyp:hlinkClr val="tx"/>
                    </a:ext>
                  </a:extLst>
                </a:hlinkClick>
              </a:rPr>
              <a:t>https://edstem.org/us/join/</a:t>
            </a:r>
            <a:r>
              <a:rPr i="1" lang="en" u="sng">
                <a:solidFill>
                  <a:schemeClr val="dk1"/>
                </a:solidFill>
                <a:latin typeface="Helvetica Neue"/>
                <a:ea typeface="Helvetica Neue"/>
                <a:cs typeface="Helvetica Neue"/>
                <a:sym typeface="Helvetica Neue"/>
                <a:hlinkClick r:id="rId4">
                  <a:extLst>
                    <a:ext uri="{A12FA001-AC4F-418D-AE19-62706E023703}">
                      <ahyp:hlinkClr val="tx"/>
                    </a:ext>
                  </a:extLst>
                </a:hlinkClick>
              </a:rPr>
              <a:t>aet3sj</a:t>
            </a:r>
            <a:endParaRPr b="0" i="1" sz="14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1100"/>
              <a:buFont typeface="Arial"/>
              <a:buNone/>
            </a:pPr>
            <a:r>
              <a:t/>
            </a:r>
            <a:endParaRPr b="0" i="1" sz="1500" u="sng"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1100"/>
              <a:buFont typeface="Arial"/>
              <a:buNone/>
            </a:pPr>
            <a:r>
              <a:t/>
            </a:r>
            <a:endParaRPr b="0" i="1" sz="1500" u="sng"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1100"/>
              <a:buFont typeface="Arial"/>
              <a:buNone/>
            </a:pPr>
            <a:r>
              <a:t/>
            </a:r>
            <a:endParaRPr b="0" i="1" sz="1500" u="sng"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b="0" i="1" sz="1500" u="sng" cap="none" strike="noStrike">
              <a:solidFill>
                <a:schemeClr val="dk1"/>
              </a:solidFill>
              <a:latin typeface="Helvetica Neue"/>
              <a:ea typeface="Helvetica Neue"/>
              <a:cs typeface="Helvetica Neue"/>
              <a:sym typeface="Helvetica Neue"/>
            </a:endParaRPr>
          </a:p>
        </p:txBody>
      </p:sp>
      <p:sp>
        <p:nvSpPr>
          <p:cNvPr id="479" name="Google Shape;479;p25"/>
          <p:cNvSpPr/>
          <p:nvPr/>
        </p:nvSpPr>
        <p:spPr>
          <a:xfrm>
            <a:off x="621822" y="2695475"/>
            <a:ext cx="30438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1" lang="en" sz="1500" u="sng" cap="none" strike="noStrike">
                <a:solidFill>
                  <a:schemeClr val="dk1"/>
                </a:solidFill>
                <a:latin typeface="Helvetica Neue"/>
                <a:ea typeface="Helvetica Neue"/>
                <a:cs typeface="Helvetica Neue"/>
                <a:sym typeface="Helvetica Neue"/>
                <a:hlinkClick r:id="rId5">
                  <a:extLst>
                    <a:ext uri="{A12FA001-AC4F-418D-AE19-62706E023703}">
                      <ahyp:hlinkClr val="tx"/>
                    </a:ext>
                  </a:extLst>
                </a:hlinkClick>
              </a:rPr>
              <a:t>https://cmsx.cs.cornell.edu/</a:t>
            </a:r>
            <a:endParaRPr b="0" i="1" sz="1500" u="none" cap="none" strike="noStrike">
              <a:solidFill>
                <a:schemeClr val="dk1"/>
              </a:solidFill>
              <a:latin typeface="Helvetica Neue"/>
              <a:ea typeface="Helvetica Neue"/>
              <a:cs typeface="Helvetica Neue"/>
              <a:sym typeface="Helvetica Neue"/>
            </a:endParaRPr>
          </a:p>
        </p:txBody>
      </p:sp>
      <p:sp>
        <p:nvSpPr>
          <p:cNvPr id="480" name="Google Shape;480;p25"/>
          <p:cNvSpPr/>
          <p:nvPr/>
        </p:nvSpPr>
        <p:spPr>
          <a:xfrm>
            <a:off x="621822" y="3783550"/>
            <a:ext cx="40503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1" lang="en" sz="1500" u="sng" cap="none" strike="noStrike">
                <a:solidFill>
                  <a:schemeClr val="dk1"/>
                </a:solidFill>
                <a:latin typeface="Helvetica Neue"/>
                <a:ea typeface="Helvetica Neue"/>
                <a:cs typeface="Helvetica Neue"/>
                <a:sym typeface="Helvetica Neue"/>
                <a:hlinkClick r:id="rId6">
                  <a:extLst>
                    <a:ext uri="{A12FA001-AC4F-418D-AE19-62706E023703}">
                      <ahyp:hlinkClr val="tx"/>
                    </a:ext>
                  </a:extLst>
                </a:hlinkClick>
              </a:rPr>
              <a:t>https://cornelldatascience.github.io/info1998/</a:t>
            </a:r>
            <a:endParaRPr b="0" i="1" sz="15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6"/>
          <p:cNvSpPr txBox="1"/>
          <p:nvPr/>
        </p:nvSpPr>
        <p:spPr>
          <a:xfrm>
            <a:off x="495150" y="1967018"/>
            <a:ext cx="8153700" cy="416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2800" u="none" cap="none" strike="noStrike">
                <a:solidFill>
                  <a:srgbClr val="613CB0"/>
                </a:solidFill>
                <a:latin typeface="Hind"/>
                <a:ea typeface="Hind"/>
                <a:cs typeface="Hind"/>
                <a:sym typeface="Hind"/>
              </a:rPr>
              <a:t>Jupyter Notebook Demo</a:t>
            </a:r>
            <a:endParaRPr b="0" i="0" sz="1400" u="none" cap="none" strike="noStrike">
              <a:solidFill>
                <a:srgbClr val="613CB0"/>
              </a:solidFill>
              <a:latin typeface="Arial"/>
              <a:ea typeface="Arial"/>
              <a:cs typeface="Arial"/>
              <a:sym typeface="Arial"/>
            </a:endParaRPr>
          </a:p>
        </p:txBody>
      </p:sp>
      <p:sp>
        <p:nvSpPr>
          <p:cNvPr id="486" name="Google Shape;486;p26"/>
          <p:cNvSpPr/>
          <p:nvPr/>
        </p:nvSpPr>
        <p:spPr>
          <a:xfrm>
            <a:off x="2859500" y="2571750"/>
            <a:ext cx="3249000" cy="655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1" lang="en" sz="1200" u="none" cap="none" strike="noStrike">
                <a:solidFill>
                  <a:srgbClr val="595959"/>
                </a:solidFill>
                <a:latin typeface="Helvetica Neue"/>
                <a:ea typeface="Helvetica Neue"/>
                <a:cs typeface="Helvetica Neue"/>
                <a:sym typeface="Helvetica Neue"/>
              </a:rPr>
              <a:t>Feel free to follow along in Jupyter Notebook (linked on website)</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27"/>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613CB0"/>
                </a:solidFill>
                <a:latin typeface="Hind"/>
                <a:ea typeface="Hind"/>
                <a:cs typeface="Hind"/>
                <a:sym typeface="Hind"/>
              </a:rPr>
              <a:t>Next Steps</a:t>
            </a:r>
            <a:endParaRPr b="0" i="0" sz="1400" u="none" cap="none" strike="noStrike">
              <a:solidFill>
                <a:srgbClr val="613CB0"/>
              </a:solidFill>
              <a:latin typeface="Arial"/>
              <a:ea typeface="Arial"/>
              <a:cs typeface="Arial"/>
              <a:sym typeface="Arial"/>
            </a:endParaRPr>
          </a:p>
        </p:txBody>
      </p:sp>
      <p:sp>
        <p:nvSpPr>
          <p:cNvPr id="492" name="Google Shape;492;p27"/>
          <p:cNvSpPr txBox="1"/>
          <p:nvPr/>
        </p:nvSpPr>
        <p:spPr>
          <a:xfrm>
            <a:off x="311700" y="1167225"/>
            <a:ext cx="8287800" cy="16500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600"/>
              <a:buFont typeface="Arial"/>
              <a:buChar char="•"/>
            </a:pPr>
            <a:r>
              <a:rPr b="1" i="0" lang="en" sz="1600" u="none" cap="none" strike="noStrike">
                <a:solidFill>
                  <a:srgbClr val="595959"/>
                </a:solidFill>
                <a:latin typeface="Helvetica Neue"/>
                <a:ea typeface="Helvetica Neue"/>
                <a:cs typeface="Helvetica Neue"/>
                <a:sym typeface="Helvetica Neue"/>
              </a:rPr>
              <a:t>Installation</a:t>
            </a:r>
            <a:r>
              <a:rPr b="0" i="0" lang="en" sz="1600" u="none" cap="none" strike="noStrike">
                <a:solidFill>
                  <a:srgbClr val="595959"/>
                </a:solidFill>
                <a:latin typeface="Helvetica Neue"/>
                <a:ea typeface="Helvetica Neue"/>
                <a:cs typeface="Helvetica Neue"/>
                <a:sym typeface="Helvetica Neue"/>
              </a:rPr>
              <a:t>: </a:t>
            </a:r>
            <a:r>
              <a:rPr lang="en" sz="1600">
                <a:solidFill>
                  <a:srgbClr val="595959"/>
                </a:solidFill>
                <a:latin typeface="Helvetica Neue"/>
                <a:ea typeface="Helvetica Neue"/>
                <a:cs typeface="Helvetica Neue"/>
                <a:sym typeface="Helvetica Neue"/>
              </a:rPr>
              <a:t>Reach out over Ed!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1" i="0" lang="en" sz="1600" u="none" cap="none" strike="noStrike">
                <a:solidFill>
                  <a:srgbClr val="595959"/>
                </a:solidFill>
                <a:latin typeface="Helvetica Neue"/>
                <a:ea typeface="Helvetica Neue"/>
                <a:cs typeface="Helvetica Neue"/>
                <a:sym typeface="Helvetica Neue"/>
              </a:rPr>
              <a:t>Assignment 1</a:t>
            </a:r>
            <a:r>
              <a:rPr b="0" i="0" lang="en" sz="1600" u="none" cap="none" strike="noStrike">
                <a:solidFill>
                  <a:srgbClr val="595959"/>
                </a:solidFill>
                <a:latin typeface="Helvetica Neue"/>
                <a:ea typeface="Helvetica Neue"/>
                <a:cs typeface="Helvetica Neue"/>
                <a:sym typeface="Helvetica Neue"/>
              </a:rPr>
              <a:t>: </a:t>
            </a:r>
            <a:r>
              <a:rPr lang="en" sz="1600">
                <a:solidFill>
                  <a:srgbClr val="595959"/>
                </a:solidFill>
                <a:latin typeface="Helvetica Neue"/>
                <a:ea typeface="Helvetica Neue"/>
                <a:cs typeface="Helvetica Neue"/>
                <a:sym typeface="Helvetica Neue"/>
              </a:rPr>
              <a:t>Due date forthcoming</a:t>
            </a:r>
            <a:endParaRPr b="0" i="0" sz="1600" u="none" cap="none" strike="noStrike">
              <a:solidFill>
                <a:srgbClr val="595959"/>
              </a:solidFill>
              <a:latin typeface="Helvetica Neue"/>
              <a:ea typeface="Helvetica Neue"/>
              <a:cs typeface="Helvetica Neue"/>
              <a:sym typeface="Helvetica Neue"/>
            </a:endParaRPr>
          </a:p>
          <a:p>
            <a:pPr indent="-285750" lvl="0" marL="285750" marR="0" rtl="0" algn="l">
              <a:lnSpc>
                <a:spcPct val="100000"/>
              </a:lnSpc>
              <a:spcBef>
                <a:spcPts val="0"/>
              </a:spcBef>
              <a:spcAft>
                <a:spcPts val="0"/>
              </a:spcAft>
              <a:buClr>
                <a:srgbClr val="000000"/>
              </a:buClr>
              <a:buSzPts val="1600"/>
              <a:buFont typeface="Arial"/>
              <a:buChar char="•"/>
            </a:pPr>
            <a:r>
              <a:rPr b="1" i="0" lang="en" sz="1600" u="none" cap="none" strike="noStrike">
                <a:solidFill>
                  <a:srgbClr val="595959"/>
                </a:solidFill>
                <a:latin typeface="Helvetica Neue"/>
                <a:ea typeface="Helvetica Neue"/>
                <a:cs typeface="Helvetica Neue"/>
                <a:sym typeface="Helvetica Neue"/>
              </a:rPr>
              <a:t>Enroll on Student Center: </a:t>
            </a:r>
            <a:r>
              <a:rPr b="0" i="0" lang="en" sz="1600" u="none" cap="none" strike="noStrike">
                <a:solidFill>
                  <a:srgbClr val="595959"/>
                </a:solidFill>
                <a:latin typeface="Helvetica Neue"/>
                <a:ea typeface="Helvetica Neue"/>
                <a:cs typeface="Helvetica Neue"/>
                <a:sym typeface="Helvetica Neue"/>
              </a:rPr>
              <a:t>Will receive a pin via Cornell email sometime </a:t>
            </a:r>
            <a:r>
              <a:rPr lang="en" sz="1600">
                <a:solidFill>
                  <a:srgbClr val="595959"/>
                </a:solidFill>
                <a:latin typeface="Helvetica Neue"/>
                <a:ea typeface="Helvetica Neue"/>
                <a:cs typeface="Helvetica Neue"/>
                <a:sym typeface="Helvetica Neue"/>
              </a:rPr>
              <a:t>this upcoming week</a:t>
            </a:r>
            <a:endParaRPr b="0" i="0" sz="1600" u="none" cap="none" strike="noStrike">
              <a:solidFill>
                <a:srgbClr val="595959"/>
              </a:solidFill>
              <a:latin typeface="Helvetica Neue"/>
              <a:ea typeface="Helvetica Neue"/>
              <a:cs typeface="Helvetica Neue"/>
              <a:sym typeface="Helvetica Neue"/>
            </a:endParaRPr>
          </a:p>
          <a:p>
            <a:pPr indent="-285750" lvl="0" marL="285750" marR="0" rtl="0" algn="l">
              <a:lnSpc>
                <a:spcPct val="100000"/>
              </a:lnSpc>
              <a:spcBef>
                <a:spcPts val="0"/>
              </a:spcBef>
              <a:spcAft>
                <a:spcPts val="0"/>
              </a:spcAft>
              <a:buClr>
                <a:srgbClr val="000000"/>
              </a:buClr>
              <a:buSzPts val="1600"/>
              <a:buFont typeface="Arial"/>
              <a:buChar char="•"/>
            </a:pPr>
            <a:r>
              <a:rPr b="1" i="0" lang="en" sz="1600" u="none" cap="none" strike="noStrike">
                <a:solidFill>
                  <a:srgbClr val="595959"/>
                </a:solidFill>
                <a:latin typeface="Helvetica Neue"/>
                <a:ea typeface="Helvetica Neue"/>
                <a:cs typeface="Helvetica Neue"/>
                <a:sym typeface="Helvetica Neue"/>
              </a:rPr>
              <a:t>Next Lecture</a:t>
            </a:r>
            <a:r>
              <a:rPr b="0" i="0" lang="en" sz="1600" u="none" cap="none" strike="noStrike">
                <a:solidFill>
                  <a:srgbClr val="595959"/>
                </a:solidFill>
                <a:latin typeface="Helvetica Neue"/>
                <a:ea typeface="Helvetica Neue"/>
                <a:cs typeface="Helvetica Neue"/>
                <a:sym typeface="Helvetica Neue"/>
              </a:rPr>
              <a:t>: Data Manipulation</a:t>
            </a:r>
            <a:endParaRPr b="0" i="0" sz="1400" u="none" cap="none" strike="noStrike">
              <a:solidFill>
                <a:srgbClr val="000000"/>
              </a:solidFill>
              <a:latin typeface="Arial"/>
              <a:ea typeface="Arial"/>
              <a:cs typeface="Arial"/>
              <a:sym typeface="Arial"/>
            </a:endParaRPr>
          </a:p>
        </p:txBody>
      </p:sp>
      <p:pic>
        <p:nvPicPr>
          <p:cNvPr descr="A black background with white text&#10;&#10;Description automatically generated" id="493" name="Google Shape;493;p27"/>
          <p:cNvPicPr preferRelativeResize="0"/>
          <p:nvPr/>
        </p:nvPicPr>
        <p:blipFill rotWithShape="1">
          <a:blip r:embed="rId3">
            <a:alphaModFix/>
          </a:blip>
          <a:srcRect b="0" l="0" r="0" t="0"/>
          <a:stretch/>
        </p:blipFill>
        <p:spPr>
          <a:xfrm>
            <a:off x="3012016" y="3976275"/>
            <a:ext cx="3119967" cy="90371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
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Hind"/>
      <p:regular r:id="rId48"/>
      <p:bold r:id="rId49"/>
    </p:embeddedFont>
    <p:embeddedFont>
      <p:font typeface="Helvetica Neue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737B96-D2A4-4BE4-9E45-750DF5DB522A}">
  <a:tblStyle styleId="{68737B96-D2A4-4BE4-9E45-750DF5DB522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 b="off" i="off"/>
      <a:tcStyle>
        <a:fill>
          <a:solidFill>
            <a:srgbClr val="FFE2CD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E2CD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Hind-regular.fntdata"/><Relationship Id="rId47" Type="http://schemas.openxmlformats.org/officeDocument/2006/relationships/slide" Target="slides/slide42.xml"/><Relationship Id="rId49" Type="http://schemas.openxmlformats.org/officeDocument/2006/relationships/font" Target="fonts/Hi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wardsdatascience.com/https-medium-com-lorrli-classification-and-regression-analysis-with-decision-trees-c43cdbc58054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wardsdatascience.com/https-medium-com-lorrli-classification-and-regression-analysis-with-decision-trees-c43cdbc58054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dc8cd08604f6bf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4dc8cd08604f6bf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4dc8cd08604f6bf0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4dc8cd08604f6bf0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66673ad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2f66673ade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f66673adec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2f66673ade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https://towardsdatascience.com/https-medium-com-lorrli-classification-and-regression-analysis-with-decision-trees-c43cdbc58054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66673adec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2f66673ade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https://towardsdatascience.com/https-medium-com-lorrli-classification-and-regression-analysis-with-decision-trees-c43cdbc58054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6673ade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2f66673adec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66673ade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f66673ade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Frank Rosenblatt: Cornell Professor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f66673ade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2f66673adec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66a8eae3e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f66a8eae3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66673ade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Stop for questions</a:t>
            </a:r>
            <a:endParaRPr/>
          </a:p>
        </p:txBody>
      </p:sp>
      <p:sp>
        <p:nvSpPr>
          <p:cNvPr id="127" name="Google Shape;127;g2f66673adec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66673ade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2f66673adec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66673ade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2f66673adec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66673ade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2f66673adec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66673ade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2f66673adec_0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66673ade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2f66673adec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66673ade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2f66673adec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f66673adec_0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2f66673ade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Make sure we consistently use decision boundary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66673ade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2f66673adec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66673adec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2f66673adec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66673ade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2f66673adec_0_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66673ade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 too high → overfitting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 too low → underfitting (misclassifications)</a:t>
            </a:r>
            <a:endParaRPr/>
          </a:p>
        </p:txBody>
      </p:sp>
      <p:sp>
        <p:nvSpPr>
          <p:cNvPr id="206" name="Google Shape;206;g2f66673adec_0_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f66673adec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2f66673adec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66673ade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2f66673adec_0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66673ade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2f66673adec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f66673adec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0">
                <a:solidFill>
                  <a:srgbClr val="1D1C1D"/>
                </a:solidFill>
                <a:highlight>
                  <a:srgbClr val="F8F8F8"/>
                </a:highlight>
              </a:rPr>
              <a:t>Random search: hyperparameters are usually drawn from a distribution</a:t>
            </a:r>
            <a:endParaRPr sz="1150">
              <a:solidFill>
                <a:srgbClr val="1D1C1D"/>
              </a:solidFill>
              <a:highlight>
                <a:srgbClr val="F8F8F8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150">
                <a:solidFill>
                  <a:srgbClr val="1D1C1D"/>
                </a:solidFill>
                <a:highlight>
                  <a:srgbClr val="F8F8F8"/>
                </a:highlight>
              </a:rPr>
              <a:t>Grid search: specify the values each hyperparameter can take</a:t>
            </a:r>
            <a:endParaRPr/>
          </a:p>
        </p:txBody>
      </p:sp>
      <p:sp>
        <p:nvSpPr>
          <p:cNvPr id="243" name="Google Shape;243;g2f66673adec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66673adec_0_1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2f66673ade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 have students implement a grid search over three parameters of SVM (how long does it take? How accurate?)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f66673ade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perceptron has become extinct due to its revolutionary younger brother</a:t>
            </a:r>
            <a:endParaRPr/>
          </a:p>
        </p:txBody>
      </p:sp>
      <p:sp>
        <p:nvSpPr>
          <p:cNvPr id="263" name="Google Shape;263;g2f66673adec_0_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f72ba09f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f72ba09f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f66673adec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2f66673adec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66673adec_0_2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f66673adec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f66673adec_0_2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2f66673adec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f66673adec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2f66673adec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66673adec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2f66673ade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66673adec_0_3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2f66673adec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66673adec_0_3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2f66673ade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f66673adec_0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2f66673adec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f66673adec_0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2f66673adec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66673adec_0_3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2f66673adec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f66673adec_0_3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2f66673adec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Special case of k-fold cross validation where k is set to the # of samples in the full dataset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CB0"/>
              </a:buClr>
              <a:buSzPts val="2800"/>
              <a:buFont typeface="Hind"/>
              <a:buNone/>
              <a:defRPr b="1" i="0" sz="2000" u="none" cap="none" strike="noStrike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650" y="4740050"/>
            <a:ext cx="378028" cy="36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3CB0"/>
              </a:buClr>
              <a:buSzPts val="3600"/>
              <a:buFont typeface="Hind"/>
              <a:buNone/>
              <a:defRPr b="1" i="0" sz="3600" u="none" cap="none" strike="noStrike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650" y="4532150"/>
            <a:ext cx="593463" cy="572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6" y="4494612"/>
            <a:ext cx="598309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towardsdatascience.com/https-medium-com-lorrli-classification-and-regression-analysis-with-decision-trees-c43cdbc58054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towardsdatascience.com/https-medium-com-lorrli-classification-and-regression-analysis-with-decision-trees-c43cdbc58054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opencv.org/2.4/doc/tutorials/ml/introduction_to_svm/introduction_to_svm.html" TargetMode="External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opencv.org/2.4/doc/tutorials/ml/introduction_to_svm/introduction_to_svm.html" TargetMode="External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opencv.org/2.4/doc/tutorials/ml/introduction_to_svm/introduction_to_svm.html" TargetMode="External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opencv.org/2.4/doc/tutorials/ml/introduction_to_svm/introduction_to_svm.html" TargetMode="External"/><Relationship Id="rId4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hyperlink" Target="http://yaroslavvb.com/upload/save/so-svm.png" TargetMode="External"/><Relationship Id="rId5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yaroslavvb.com/upload/save/so-svm.png" TargetMode="External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yaroslavvb.com/upload/save/so-libsvm.png" TargetMode="External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analyticsvidhya.com/blog/2015/10/understaing-support-vector-machine-example-code/" TargetMode="External"/><Relationship Id="rId4" Type="http://schemas.openxmlformats.org/officeDocument/2006/relationships/image" Target="../media/image26.png"/><Relationship Id="rId5" Type="http://schemas.openxmlformats.org/officeDocument/2006/relationships/hyperlink" Target="https://www.analyticsvidhya.com/blog/2015/10/understaing-support-vector-machine-example-code/" TargetMode="External"/><Relationship Id="rId6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i.stack.imgur.com/7yM2K.png" TargetMode="External"/><Relationship Id="rId4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dn-images-1.medium.com/max/1600/1*fOCJ_mAi_-MNb7dfrXjW5A.gif" TargetMode="External"/><Relationship Id="rId4" Type="http://schemas.openxmlformats.org/officeDocument/2006/relationships/image" Target="../media/image15.gif"/><Relationship Id="rId5" Type="http://schemas.openxmlformats.org/officeDocument/2006/relationships/image" Target="../media/image22.png"/><Relationship Id="rId6" Type="http://schemas.openxmlformats.org/officeDocument/2006/relationships/hyperlink" Target="https://towardsdatascience.com/using-3d-visualizations-to-tune-hyperparameters-of-ml-models-with-python-ba2885eab2e9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50" y="4493296"/>
            <a:ext cx="1835400" cy="52972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 txBox="1"/>
          <p:nvPr>
            <p:ph idx="4294967295" type="ctrTitle"/>
          </p:nvPr>
        </p:nvSpPr>
        <p:spPr>
          <a:xfrm>
            <a:off x="1018500" y="1542036"/>
            <a:ext cx="7107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2400" u="none" cap="none" strike="noStrike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Lecture </a:t>
            </a:r>
            <a:r>
              <a:rPr b="1" lang="en" sz="2400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5</a:t>
            </a:r>
            <a:r>
              <a:rPr b="1" i="0" lang="en" sz="2400" u="none" cap="none" strike="noStrike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: </a:t>
            </a:r>
            <a:r>
              <a:rPr b="1" lang="en" sz="2400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Supervised Learning Pt. 1</a:t>
            </a:r>
            <a:endParaRPr b="1" i="0" sz="2400" u="none" cap="none" strike="noStrike">
              <a:solidFill>
                <a:srgbClr val="613CB0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50" name="Google Shape;50;p11"/>
          <p:cNvSpPr txBox="1"/>
          <p:nvPr/>
        </p:nvSpPr>
        <p:spPr>
          <a:xfrm>
            <a:off x="1018500" y="2467172"/>
            <a:ext cx="710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n" sz="1200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Classifiers and Cross Validation</a:t>
            </a:r>
            <a:endParaRPr b="1" sz="1200">
              <a:solidFill>
                <a:srgbClr val="3F3F3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1200" u="none" cap="none" strike="noStrike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 1998: Introduction to Machine Learning</a:t>
            </a:r>
            <a:endParaRPr b="1" i="0" sz="1200" u="none" cap="none" strike="noStrike">
              <a:solidFill>
                <a:srgbClr val="3F3F3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/>
              <a:t>Agenda</a:t>
            </a:r>
            <a:endParaRPr i="0" sz="24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AutoNum type="arabicPeriod"/>
            </a:pPr>
            <a:r>
              <a:rPr lang="en"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Linear Classifiers</a:t>
            </a:r>
            <a:endParaRPr sz="16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ind"/>
              <a:buChar char="○"/>
            </a:pPr>
            <a:r>
              <a:rPr lang="en"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Linear Perceptron</a:t>
            </a:r>
            <a:endParaRPr sz="16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ind"/>
              <a:buChar char="○"/>
            </a:pPr>
            <a:r>
              <a:rPr lang="en"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Support Vector Machines (SVMs)</a:t>
            </a:r>
            <a:endParaRPr sz="16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ind"/>
              <a:buAutoNum type="arabicPeriod"/>
            </a:pPr>
            <a:r>
              <a:rPr lang="en" sz="16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Cross Validation (K-Fold)</a:t>
            </a:r>
            <a:endParaRPr sz="16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pic>
        <p:nvPicPr>
          <p:cNvPr descr="https://www.analyticsvidhya.com/wp-content/uploads/2014/10/K-judgement.png" id="62" name="Google Shape;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8360" y="340677"/>
            <a:ext cx="4827275" cy="221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ww.analyticsvidhya.com/wp-content/uploads/2014/10/K-judgement2.png" id="63" name="Google Shape;6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8360" y="2602902"/>
            <a:ext cx="4827274" cy="2199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850" y="789300"/>
            <a:ext cx="6334302" cy="356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4000"/>
              <a:t>Linear Classifiers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Linear Classifiers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8469990" y="123602"/>
            <a:ext cx="69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8520" y="1561561"/>
            <a:ext cx="5433781" cy="2849828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159300" y="1426718"/>
            <a:ext cx="3239100" cy="29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linear classifier is a hyper plane that is used to classify our data points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hyperplane is our </a:t>
            </a:r>
            <a:r>
              <a:rPr b="1"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decision boundary</a:t>
            </a: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our goal is to find the be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st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hyper plane</a:t>
            </a: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 for our data.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Linearly Separable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8469990" y="123602"/>
            <a:ext cx="69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0" i="0" sz="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4">
            <a:alphaModFix/>
          </a:blip>
          <a:srcRect b="0" l="0" r="48387" t="10674"/>
          <a:stretch/>
        </p:blipFill>
        <p:spPr>
          <a:xfrm>
            <a:off x="4482855" y="1017725"/>
            <a:ext cx="4030292" cy="312831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26193"/>
            <a:ext cx="3239100" cy="3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this example, we cannot partition our dataset into yellow and purple with a linear decision boundary. This means that our data is </a:t>
            </a:r>
            <a:r>
              <a:rPr lang="en" u="sng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linearly separable. 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Outliers </a:t>
            </a: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frequently the reason a data set is not linearly separable. </a:t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6215616" y="1590425"/>
            <a:ext cx="210600" cy="200400"/>
          </a:xfrm>
          <a:prstGeom prst="ellipse">
            <a:avLst/>
          </a:prstGeom>
          <a:solidFill>
            <a:srgbClr val="FFE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5086350" y="445025"/>
            <a:ext cx="290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This data set is not linearly separable because of an </a:t>
            </a:r>
            <a:r>
              <a:rPr b="0" i="0" lang="en" sz="1400" u="sng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7"/>
          <p:cNvCxnSpPr/>
          <p:nvPr/>
        </p:nvCxnSpPr>
        <p:spPr>
          <a:xfrm flipH="1">
            <a:off x="6426330" y="968245"/>
            <a:ext cx="900300" cy="622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Perceptron Learning Algorithm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Goal: find a normal vector w that perfectly classifies all the points in our data set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Algorithm: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520700" y="2197100"/>
            <a:ext cx="8102700" cy="1752600"/>
          </a:xfrm>
          <a:prstGeom prst="roundRect">
            <a:avLst>
              <a:gd fmla="val 16667" name="adj"/>
            </a:avLst>
          </a:prstGeom>
          <a:solidFill>
            <a:schemeClr val="accent1">
              <a:alpha val="30980"/>
            </a:schemeClr>
          </a:solidFill>
          <a:ln cap="flat" cmpd="sng" w="25400">
            <a:solidFill>
              <a:srgbClr val="BA7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Initialize classifier as some random hyperplane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While there exists a misclassified point x: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" sz="1800">
                <a:solidFill>
                  <a:schemeClr val="dk2"/>
                </a:solidFill>
              </a:rPr>
              <a:t>Adjust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classifier slightly so that it classifies x correctly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(or, is a little closer to classifying x correctly)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End While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1366199" y="4317850"/>
            <a:ext cx="64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“Use your mistakes as your stepping stones”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311700" y="1434050"/>
            <a:ext cx="58323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Frank Rosenblatt </a:t>
            </a:r>
            <a:r>
              <a:rPr lang="en" sz="1800">
                <a:solidFill>
                  <a:schemeClr val="dk2"/>
                </a:solidFill>
              </a:rPr>
              <a:t>was first to implement perceptron!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→ Cornell professor and alum PHD ‘56 🐻❗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Gave him the title of ‘Father of Deep Learning’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Deep Learning</a:t>
            </a:r>
            <a:endParaRPr sz="18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→ Neural Networks a.k.a. Multilayer Perceptrons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9775" y="1014125"/>
            <a:ext cx="2396350" cy="311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311700" y="398800"/>
            <a:ext cx="68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History of the Linear Perceptron</a:t>
            </a:r>
            <a:endParaRPr b="1" i="0" sz="2000" u="none" cap="none" strike="noStrike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Limitations of Perceptron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60290" y="1586815"/>
            <a:ext cx="3574500" cy="10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training algorithm will never terminate if your training dataset is not linearly separable </a:t>
            </a:r>
            <a:r>
              <a:rPr lang="en"/>
              <a:t>😔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735110" y="3065095"/>
            <a:ext cx="35745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 a great model to understand the intuition behind the training of a linear classifier: iteratively improve classifier by using misclassified points </a:t>
            </a:r>
            <a:r>
              <a:rPr lang="en" sz="1800">
                <a:solidFill>
                  <a:schemeClr val="dk2"/>
                </a:solidFill>
              </a:rPr>
              <a:t>😄</a:t>
            </a: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20"/>
          <p:cNvCxnSpPr/>
          <p:nvPr/>
        </p:nvCxnSpPr>
        <p:spPr>
          <a:xfrm flipH="1" rot="10800000">
            <a:off x="480600" y="1186050"/>
            <a:ext cx="8303100" cy="3303000"/>
          </a:xfrm>
          <a:prstGeom prst="straightConnector1">
            <a:avLst/>
          </a:prstGeom>
          <a:noFill/>
          <a:ln cap="flat" cmpd="sng" w="38100">
            <a:solidFill>
              <a:srgbClr val="FDA73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idx="4294967295" type="ctrTitle"/>
          </p:nvPr>
        </p:nvSpPr>
        <p:spPr>
          <a:xfrm>
            <a:off x="1018575" y="543424"/>
            <a:ext cx="7107000" cy="11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2400" u="none" cap="none" strike="noStrike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Lecture 7: </a:t>
            </a:r>
            <a:r>
              <a:rPr b="1" lang="en" sz="2400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Supervised Learning Pt. 1</a:t>
            </a:r>
            <a:endParaRPr b="1" i="0" sz="2400" u="none" cap="none" strike="noStrike">
              <a:solidFill>
                <a:srgbClr val="613CB0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1018575" y="1468560"/>
            <a:ext cx="710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lang="en" sz="1200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Classifiers and Cross Validation</a:t>
            </a:r>
            <a:endParaRPr b="1" sz="1200">
              <a:solidFill>
                <a:srgbClr val="3F3F3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b="1" i="0" lang="en" sz="1200" u="none" cap="none" strike="noStrike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INFO 1998: Introduction to Machine Learning</a:t>
            </a:r>
            <a:endParaRPr b="1" i="0" sz="1200" u="none" cap="none" strike="noStrike">
              <a:solidFill>
                <a:srgbClr val="3F3F3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50" y="4493296"/>
            <a:ext cx="1835400" cy="52972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3704175" y="4199575"/>
            <a:ext cx="17358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500">
                <a:solidFill>
                  <a:srgbClr val="3F3F3F"/>
                </a:solidFill>
                <a:latin typeface="Hind"/>
                <a:ea typeface="Hind"/>
                <a:cs typeface="Hind"/>
                <a:sym typeface="Hind"/>
              </a:rPr>
              <a:t>Attendance</a:t>
            </a:r>
            <a:r>
              <a:rPr i="1" lang="en" sz="1800">
                <a:solidFill>
                  <a:srgbClr val="3F3F3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</a:t>
            </a:r>
            <a:endParaRPr i="1" sz="1800" u="none" cap="none" strike="noStrike">
              <a:solidFill>
                <a:srgbClr val="3F3F3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600" y="2148840"/>
            <a:ext cx="18288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4800"/>
              <a:t>Support Vector Machines</a:t>
            </a:r>
            <a:endParaRPr sz="4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Classify (+) and (-)</a:t>
            </a:r>
            <a:endParaRPr/>
          </a:p>
        </p:txBody>
      </p:sp>
      <p:pic>
        <p:nvPicPr>
          <p:cNvPr id="135" name="Google Shape;135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5180" y="1190725"/>
            <a:ext cx="3993090" cy="39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Which Hyperplane?</a:t>
            </a:r>
            <a:endParaRPr/>
          </a:p>
        </p:txBody>
      </p:sp>
      <p:pic>
        <p:nvPicPr>
          <p:cNvPr id="141" name="Google Shape;141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5550" y="1130825"/>
            <a:ext cx="3911475" cy="38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Optimal Hyperplane</a:t>
            </a:r>
            <a:endParaRPr/>
          </a:p>
        </p:txBody>
      </p:sp>
      <p:pic>
        <p:nvPicPr>
          <p:cNvPr id="147" name="Google Shape;147;p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8088" y="1131475"/>
            <a:ext cx="3935425" cy="38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Support Vector Machine</a:t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694950" y="1487013"/>
            <a:ext cx="2892575" cy="2597225"/>
          </a:xfrm>
          <a:prstGeom prst="flowChartInputOutput">
            <a:avLst/>
          </a:prstGeom>
          <a:solidFill>
            <a:srgbClr val="7030A0">
              <a:alpha val="48240"/>
            </a:srgbClr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efficient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/>
          <p:nvPr/>
        </p:nvSpPr>
        <p:spPr>
          <a:xfrm flipH="1">
            <a:off x="5547975" y="1503513"/>
            <a:ext cx="2892575" cy="2597225"/>
          </a:xfrm>
          <a:prstGeom prst="flowChartInputOutput">
            <a:avLst/>
          </a:prstGeom>
          <a:solidFill>
            <a:srgbClr val="7030A0">
              <a:alpha val="48240"/>
            </a:srgbClr>
          </a:solidFill>
          <a:ln cap="flat" cmpd="sng" w="19050">
            <a:solidFill>
              <a:srgbClr val="66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 calculation time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3125700" y="1487088"/>
            <a:ext cx="2892600" cy="2597100"/>
          </a:xfrm>
          <a:prstGeom prst="trapezoid">
            <a:avLst>
              <a:gd fmla="val 25000" name="adj"/>
            </a:avLst>
          </a:prstGeom>
          <a:solidFill>
            <a:srgbClr val="7030A0">
              <a:alpha val="48240"/>
            </a:srgbClr>
          </a:solidFill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higher dimensions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Maximal Margin Classifier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311700" y="1152475"/>
            <a:ext cx="4552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Hind"/>
              <a:buChar char="●"/>
            </a:pPr>
            <a:r>
              <a:rPr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We want to find a </a:t>
            </a:r>
            <a:r>
              <a:rPr b="1"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separating hyperplane</a:t>
            </a:r>
            <a:endParaRPr sz="2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Hind"/>
              <a:buChar char="●"/>
            </a:pPr>
            <a:r>
              <a:rPr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Once we find candidates for the hyperplane, we try to maximize the </a:t>
            </a:r>
            <a:r>
              <a:rPr b="1"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r>
              <a:rPr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, the normal distance from borderline points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200"/>
              <a:buFont typeface="Hind"/>
              <a:buChar char="○"/>
            </a:pPr>
            <a:r>
              <a:rPr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b="1"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Support Vectors</a:t>
            </a:r>
            <a:r>
              <a:rPr lang="en" sz="2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matter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62" name="Google Shape;162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7624" y="1292175"/>
            <a:ext cx="345027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What if…</a:t>
            </a:r>
            <a:endParaRPr/>
          </a:p>
        </p:txBody>
      </p:sp>
      <p:pic>
        <p:nvPicPr>
          <p:cNvPr id="168" name="Google Shape;1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3438" y="1168400"/>
            <a:ext cx="3893862" cy="38395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8"/>
          <p:cNvCxnSpPr/>
          <p:nvPr/>
        </p:nvCxnSpPr>
        <p:spPr>
          <a:xfrm rot="10800000">
            <a:off x="5803800" y="3088300"/>
            <a:ext cx="1854300" cy="1115400"/>
          </a:xfrm>
          <a:prstGeom prst="straightConnector1">
            <a:avLst/>
          </a:prstGeom>
          <a:noFill/>
          <a:ln cap="flat" cmpd="sng" w="9525">
            <a:solidFill>
              <a:srgbClr val="7030A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28"/>
          <p:cNvSpPr txBox="1"/>
          <p:nvPr/>
        </p:nvSpPr>
        <p:spPr>
          <a:xfrm>
            <a:off x="7658100" y="4049811"/>
            <a:ext cx="93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Which Decision Boundary is better?</a:t>
            </a:r>
            <a:endParaRPr/>
          </a:p>
        </p:txBody>
      </p:sp>
      <p:grpSp>
        <p:nvGrpSpPr>
          <p:cNvPr id="176" name="Google Shape;176;p29"/>
          <p:cNvGrpSpPr/>
          <p:nvPr/>
        </p:nvGrpSpPr>
        <p:grpSpPr>
          <a:xfrm>
            <a:off x="678125" y="1549400"/>
            <a:ext cx="3513875" cy="3470275"/>
            <a:chOff x="1008325" y="1104900"/>
            <a:chExt cx="3513875" cy="3470275"/>
          </a:xfrm>
        </p:grpSpPr>
        <p:pic>
          <p:nvPicPr>
            <p:cNvPr id="177" name="Google Shape;177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08325" y="1104900"/>
              <a:ext cx="3513875" cy="3470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8" name="Google Shape;178;p29"/>
            <p:cNvCxnSpPr/>
            <p:nvPr/>
          </p:nvCxnSpPr>
          <p:spPr>
            <a:xfrm>
              <a:off x="1645100" y="1339525"/>
              <a:ext cx="2296500" cy="2866800"/>
            </a:xfrm>
            <a:prstGeom prst="straightConnector1">
              <a:avLst/>
            </a:prstGeom>
            <a:noFill/>
            <a:ln cap="flat" cmpd="sng" w="19050">
              <a:solidFill>
                <a:srgbClr val="674EA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79" name="Google Shape;179;p2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8775" y="1549400"/>
            <a:ext cx="3429000" cy="3429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9"/>
          <p:cNvCxnSpPr/>
          <p:nvPr/>
        </p:nvCxnSpPr>
        <p:spPr>
          <a:xfrm>
            <a:off x="4293600" y="1383150"/>
            <a:ext cx="0" cy="3636600"/>
          </a:xfrm>
          <a:prstGeom prst="straightConnector1">
            <a:avLst/>
          </a:prstGeom>
          <a:noFill/>
          <a:ln cap="flat" cmpd="sng" w="9525">
            <a:solidFill>
              <a:srgbClr val="7030A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81" name="Google Shape;181;p29"/>
          <p:cNvSpPr txBox="1"/>
          <p:nvPr/>
        </p:nvSpPr>
        <p:spPr>
          <a:xfrm>
            <a:off x="1422400" y="1143000"/>
            <a:ext cx="120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Boundary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6282038" y="1129674"/>
            <a:ext cx="120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Boundary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Margins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82275" y="1152475"/>
            <a:ext cx="2925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latin typeface="Hind"/>
                <a:ea typeface="Hind"/>
                <a:cs typeface="Hind"/>
                <a:sym typeface="Hind"/>
              </a:rPr>
              <a:t>Use cost function to penalize misclassified points</a:t>
            </a:r>
            <a:endParaRPr sz="2200"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latin typeface="Hind"/>
                <a:ea typeface="Hind"/>
                <a:cs typeface="Hind"/>
                <a:sym typeface="Hind"/>
              </a:rPr>
              <a:t>Choice of cost function makes margin “hard” vs. “soft”</a:t>
            </a:r>
            <a:endParaRPr/>
          </a:p>
        </p:txBody>
      </p:sp>
      <p:pic>
        <p:nvPicPr>
          <p:cNvPr id="189" name="Google Shape;1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2600" y="1089025"/>
            <a:ext cx="52197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Hard Margins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152475"/>
            <a:ext cx="3311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High penalty value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85750" lvl="0" marL="361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The hyperplane can be dictated by a single outlier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96" name="Google Shape;196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146175"/>
            <a:ext cx="3429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Soft Margins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311700" y="1152475"/>
            <a:ext cx="4088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Used in non-linearly separable datasets</a:t>
            </a:r>
            <a:endParaRPr/>
          </a:p>
          <a:p>
            <a:pPr indent="-1905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Allow for misclassification</a:t>
            </a:r>
            <a:endParaRPr/>
          </a:p>
          <a:p>
            <a:pPr indent="0" lvl="0" marL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Can account for “dirty” boundaries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03" name="Google Shape;2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225" y="1017725"/>
            <a:ext cx="4759075" cy="34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Misclassification Penalty C</a:t>
            </a:r>
            <a:endParaRPr/>
          </a:p>
        </p:txBody>
      </p:sp>
      <p:pic>
        <p:nvPicPr>
          <p:cNvPr id="209" name="Google Shape;209;p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578230"/>
            <a:ext cx="76200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Kernels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152475"/>
            <a:ext cx="4763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You cannot linearly divide the 2 classes on the </a:t>
            </a:r>
            <a:r>
              <a:rPr i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xy</a:t>
            </a: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plane at right</a:t>
            </a:r>
            <a:endParaRPr/>
          </a:p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Introduce new feature, </a:t>
            </a:r>
            <a:r>
              <a:rPr i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 = x</a:t>
            </a:r>
            <a:r>
              <a:rPr baseline="30000" i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+ y</a:t>
            </a:r>
            <a:r>
              <a:rPr baseline="30000" i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i="1" sz="2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200"/>
              <a:t>Or, use </a:t>
            </a:r>
            <a:r>
              <a:rPr b="1"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radial kernel</a:t>
            </a:r>
            <a:endParaRPr/>
          </a:p>
          <a:p>
            <a:pPr indent="-342900" lvl="0" marL="419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 2 dimensional data onto 3 dimensional data. Now a hyperplane is easy to find.</a:t>
            </a:r>
            <a:endParaRPr/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16" name="Google Shape;216;p3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5475" y="-12500"/>
            <a:ext cx="2695450" cy="232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47249" y="2835300"/>
            <a:ext cx="2571901" cy="219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/>
          <p:nvPr/>
        </p:nvSpPr>
        <p:spPr>
          <a:xfrm>
            <a:off x="6933199" y="2400300"/>
            <a:ext cx="164700" cy="34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BA7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4"/>
          <p:cNvSpPr txBox="1"/>
          <p:nvPr/>
        </p:nvSpPr>
        <p:spPr>
          <a:xfrm>
            <a:off x="7258050" y="2400300"/>
            <a:ext cx="157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Transformation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Kernels </a:t>
            </a:r>
            <a:endParaRPr/>
          </a:p>
        </p:txBody>
      </p:sp>
      <p:pic>
        <p:nvPicPr>
          <p:cNvPr descr="Related image" id="225" name="Google Shape;225;p3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925" y="967950"/>
            <a:ext cx="6548725" cy="377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SVM has MANY Hyperparameters</a:t>
            </a:r>
            <a:endParaRPr/>
          </a:p>
        </p:txBody>
      </p:sp>
      <p:sp>
        <p:nvSpPr>
          <p:cNvPr id="231" name="Google Shape;231;p36"/>
          <p:cNvSpPr/>
          <p:nvPr/>
        </p:nvSpPr>
        <p:spPr>
          <a:xfrm>
            <a:off x="747925" y="2324100"/>
            <a:ext cx="2393400" cy="171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3367363" y="2324100"/>
            <a:ext cx="2393400" cy="171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5986825" y="2324100"/>
            <a:ext cx="2393400" cy="1714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747925" y="1457771"/>
            <a:ext cx="7632300" cy="57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SVM</a:t>
            </a:r>
            <a:endParaRPr b="0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3626803" y="2470517"/>
            <a:ext cx="1874400" cy="377100"/>
          </a:xfrm>
          <a:prstGeom prst="ellipse">
            <a:avLst/>
          </a:prstGeom>
          <a:solidFill>
            <a:srgbClr val="7030A0">
              <a:alpha val="4784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Gamma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/>
          <p:nvPr/>
        </p:nvSpPr>
        <p:spPr>
          <a:xfrm>
            <a:off x="6246265" y="2470517"/>
            <a:ext cx="1874400" cy="377100"/>
          </a:xfrm>
          <a:prstGeom prst="ellipse">
            <a:avLst/>
          </a:prstGeom>
          <a:solidFill>
            <a:srgbClr val="7030A0">
              <a:alpha val="4784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Kernels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6"/>
          <p:cNvSpPr/>
          <p:nvPr/>
        </p:nvSpPr>
        <p:spPr>
          <a:xfrm>
            <a:off x="1007365" y="2470517"/>
            <a:ext cx="1874400" cy="377100"/>
          </a:xfrm>
          <a:prstGeom prst="ellipse">
            <a:avLst/>
          </a:prstGeom>
          <a:solidFill>
            <a:srgbClr val="7030A0">
              <a:alpha val="4784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6"/>
          <p:cNvSpPr txBox="1"/>
          <p:nvPr/>
        </p:nvSpPr>
        <p:spPr>
          <a:xfrm>
            <a:off x="916225" y="3027449"/>
            <a:ext cx="2056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“penalty cost” for misclassifications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(soft margins)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6"/>
          <p:cNvSpPr txBox="1"/>
          <p:nvPr/>
        </p:nvSpPr>
        <p:spPr>
          <a:xfrm>
            <a:off x="3535662" y="3027460"/>
            <a:ext cx="2056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far the influence of a single training example reaches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6"/>
          <p:cNvSpPr txBox="1"/>
          <p:nvPr/>
        </p:nvSpPr>
        <p:spPr>
          <a:xfrm>
            <a:off x="6155124" y="3026500"/>
            <a:ext cx="2056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Method of transforming our data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/>
              <a:t>Finding the Best Hyper Parameters</a:t>
            </a:r>
            <a:endParaRPr/>
          </a:p>
        </p:txBody>
      </p:sp>
      <p:sp>
        <p:nvSpPr>
          <p:cNvPr id="246" name="Google Shape;246;p37"/>
          <p:cNvSpPr/>
          <p:nvPr/>
        </p:nvSpPr>
        <p:spPr>
          <a:xfrm>
            <a:off x="3131820" y="2217420"/>
            <a:ext cx="1737300" cy="1645800"/>
          </a:xfrm>
          <a:prstGeom prst="ellipse">
            <a:avLst/>
          </a:prstGeom>
          <a:solidFill>
            <a:srgbClr val="7030A0">
              <a:alpha val="4784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Optimize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7"/>
          <p:cNvSpPr/>
          <p:nvPr/>
        </p:nvSpPr>
        <p:spPr>
          <a:xfrm>
            <a:off x="5697240" y="1168135"/>
            <a:ext cx="1802700" cy="1374900"/>
          </a:xfrm>
          <a:prstGeom prst="wedgeRoundRectCallout">
            <a:avLst>
              <a:gd fmla="val -80510" name="adj1"/>
              <a:gd fmla="val 32228" name="adj2"/>
              <a:gd fmla="val 0" name="adj3"/>
            </a:avLst>
          </a:prstGeom>
          <a:noFill/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7"/>
          <p:cNvSpPr/>
          <p:nvPr/>
        </p:nvSpPr>
        <p:spPr>
          <a:xfrm>
            <a:off x="5697240" y="3520440"/>
            <a:ext cx="1874400" cy="1374900"/>
          </a:xfrm>
          <a:prstGeom prst="wedgeRoundRectCallout">
            <a:avLst>
              <a:gd fmla="val -78236" name="adj1"/>
              <a:gd fmla="val -68467" name="adj2"/>
              <a:gd fmla="val 0" name="adj3"/>
            </a:avLst>
          </a:prstGeom>
          <a:noFill/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Bayesian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7"/>
          <p:cNvSpPr/>
          <p:nvPr/>
        </p:nvSpPr>
        <p:spPr>
          <a:xfrm>
            <a:off x="311700" y="2352930"/>
            <a:ext cx="1802700" cy="1374900"/>
          </a:xfrm>
          <a:prstGeom prst="wedgeRoundRectCallout">
            <a:avLst>
              <a:gd fmla="val 86750" name="adj1"/>
              <a:gd fmla="val -25547" name="adj2"/>
              <a:gd fmla="val 0" name="adj3"/>
            </a:avLst>
          </a:prstGeom>
          <a:noFill/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311700" y="445025"/>
            <a:ext cx="667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Curse of Dimensionality</a:t>
            </a:r>
            <a:endParaRPr i="0" sz="2400" u="none" cap="none" strike="noStrike"/>
          </a:p>
        </p:txBody>
      </p:sp>
      <p:sp>
        <p:nvSpPr>
          <p:cNvPr id="255" name="Google Shape;255;p38"/>
          <p:cNvSpPr/>
          <p:nvPr/>
        </p:nvSpPr>
        <p:spPr>
          <a:xfrm>
            <a:off x="311700" y="1248318"/>
            <a:ext cx="7906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595959"/>
                </a:solidFill>
                <a:latin typeface="Hind"/>
                <a:ea typeface="Hind"/>
                <a:cs typeface="Hind"/>
                <a:sym typeface="Hind"/>
              </a:rPr>
              <a:t>Our search space for the optimal hyper-parameters increases </a:t>
            </a:r>
            <a:r>
              <a:rPr b="1" i="0" lang="en" sz="2400" u="none" cap="none" strike="noStrike">
                <a:solidFill>
                  <a:srgbClr val="595959"/>
                </a:solidFill>
                <a:latin typeface="Hind"/>
                <a:ea typeface="Hind"/>
                <a:cs typeface="Hind"/>
                <a:sym typeface="Hind"/>
              </a:rPr>
              <a:t>exponentially</a:t>
            </a:r>
            <a:r>
              <a:rPr b="0" i="0" lang="en" sz="2400" u="none" cap="none" strike="noStrike">
                <a:solidFill>
                  <a:srgbClr val="595959"/>
                </a:solidFill>
                <a:latin typeface="Hind"/>
                <a:ea typeface="Hind"/>
                <a:cs typeface="Hind"/>
                <a:sym typeface="Hind"/>
              </a:rPr>
              <a:t> as the number of hyper parameters we are considering increases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3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1789" l="1741" r="2078" t="2039"/>
          <a:stretch/>
        </p:blipFill>
        <p:spPr>
          <a:xfrm>
            <a:off x="740675" y="2774655"/>
            <a:ext cx="2619745" cy="227598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8"/>
          <p:cNvSpPr/>
          <p:nvPr/>
        </p:nvSpPr>
        <p:spPr>
          <a:xfrm>
            <a:off x="3746016" y="3519044"/>
            <a:ext cx="1314300" cy="596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1468" y="2774655"/>
            <a:ext cx="3478540" cy="208526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8"/>
          <p:cNvSpPr txBox="1"/>
          <p:nvPr/>
        </p:nvSpPr>
        <p:spPr>
          <a:xfrm>
            <a:off x="3831560" y="2995824"/>
            <a:ext cx="1143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dimension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8280050" y="191109"/>
            <a:ext cx="717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/>
              <a:t>Overview</a:t>
            </a:r>
            <a:endParaRPr/>
          </a:p>
        </p:txBody>
      </p:sp>
      <p:graphicFrame>
        <p:nvGraphicFramePr>
          <p:cNvPr id="266" name="Google Shape;266;p39"/>
          <p:cNvGraphicFramePr/>
          <p:nvPr/>
        </p:nvGraphicFramePr>
        <p:xfrm>
          <a:off x="731520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{68737B96-D2A4-4BE4-9E45-750DF5DB522A}</a:tableStyleId>
              </a:tblPr>
              <a:tblGrid>
                <a:gridCol w="3840475"/>
                <a:gridCol w="3840475"/>
              </a:tblGrid>
              <a:tr h="50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/>
                        <a:t>Perceptron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" sz="2000" u="none" cap="none" strike="noStrike"/>
                        <a:t>SVM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9087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</a:rPr>
                        <a:t>A very simple model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</a:rPr>
                        <a:t>Will perform poorly if data is not linearly separable</a:t>
                      </a:r>
                      <a:endParaRPr sz="1800" u="none" cap="none" strike="noStrike">
                        <a:solidFill>
                          <a:schemeClr val="dk2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</a:rPr>
                        <a:t>More complex model because we have to choose the “penalty cost” associated with misclassifications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" sz="1800" u="none" cap="none" strike="noStrike">
                          <a:solidFill>
                            <a:schemeClr val="dk2"/>
                          </a:solidFill>
                        </a:rPr>
                        <a:t>Can transform feature space by choosing a Kernel</a:t>
                      </a:r>
                      <a:endParaRPr sz="1400" u="none" cap="none" strike="noStrike"/>
                    </a:p>
                    <a:p>
                      <a:pPr indent="-1968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Demo</a:t>
            </a:r>
            <a:endParaRPr sz="4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4800"/>
              <a:t>Cross Validation</a:t>
            </a:r>
            <a:endParaRPr sz="4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type="title"/>
          </p:nvPr>
        </p:nvSpPr>
        <p:spPr>
          <a:xfrm>
            <a:off x="311700" y="48393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i="1" lang="en" sz="2400"/>
              <a:t>K</a:t>
            </a:r>
            <a:r>
              <a:rPr lang="en" sz="2400"/>
              <a:t>-fold Cross Validation</a:t>
            </a:r>
            <a:endParaRPr i="0" sz="2400" u="none" cap="none" strike="noStrike"/>
          </a:p>
        </p:txBody>
      </p:sp>
      <p:sp>
        <p:nvSpPr>
          <p:cNvPr id="282" name="Google Shape;282;p42"/>
          <p:cNvSpPr txBox="1"/>
          <p:nvPr>
            <p:ph idx="1" type="body"/>
          </p:nvPr>
        </p:nvSpPr>
        <p:spPr>
          <a:xfrm>
            <a:off x="4582650" y="1017725"/>
            <a:ext cx="4249500" cy="3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Create equally sized </a:t>
            </a:r>
            <a:r>
              <a:rPr b="0" i="1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k</a:t>
            </a: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 partitions, or </a:t>
            </a:r>
            <a:r>
              <a:rPr b="1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folds</a:t>
            </a: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, of training data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For each fold: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Treat the </a:t>
            </a:r>
            <a:r>
              <a:rPr b="0" i="1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k-1</a:t>
            </a: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 other folds as training data. 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Test on the chosen fold.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The average of these errors is the validation error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283" name="Google Shape;2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75" y="1675725"/>
            <a:ext cx="3185827" cy="17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2"/>
          <p:cNvSpPr txBox="1"/>
          <p:nvPr/>
        </p:nvSpPr>
        <p:spPr>
          <a:xfrm>
            <a:off x="1511175" y="3778275"/>
            <a:ext cx="242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Hind"/>
                <a:ea typeface="Hind"/>
                <a:cs typeface="Hind"/>
                <a:sym typeface="Hind"/>
              </a:rPr>
              <a:t>Often used in practice with </a:t>
            </a:r>
            <a:r>
              <a:rPr b="0" i="1" lang="en" sz="1800" u="none" cap="none" strike="noStrike">
                <a:solidFill>
                  <a:srgbClr val="434343"/>
                </a:solidFill>
                <a:latin typeface="Hind"/>
                <a:ea typeface="Hind"/>
                <a:cs typeface="Hind"/>
                <a:sym typeface="Hind"/>
              </a:rPr>
              <a:t>k</a:t>
            </a:r>
            <a:r>
              <a:rPr b="0" i="0" lang="en" sz="1800" u="none" cap="none" strike="noStrike">
                <a:solidFill>
                  <a:srgbClr val="434343"/>
                </a:solidFill>
                <a:latin typeface="Hind"/>
                <a:ea typeface="Hind"/>
                <a:cs typeface="Hind"/>
                <a:sym typeface="Hind"/>
              </a:rPr>
              <a:t>=5 or </a:t>
            </a:r>
            <a:r>
              <a:rPr b="0" i="1" lang="en" sz="1800" u="none" cap="none" strike="noStrike">
                <a:solidFill>
                  <a:srgbClr val="434343"/>
                </a:solidFill>
                <a:latin typeface="Hind"/>
                <a:ea typeface="Hind"/>
                <a:cs typeface="Hind"/>
                <a:sym typeface="Hind"/>
              </a:rPr>
              <a:t>k</a:t>
            </a:r>
            <a:r>
              <a:rPr b="0" i="0" lang="en" sz="1800" u="none" cap="none" strike="noStrike">
                <a:solidFill>
                  <a:srgbClr val="434343"/>
                </a:solidFill>
                <a:latin typeface="Hind"/>
                <a:ea typeface="Hind"/>
                <a:cs typeface="Hind"/>
                <a:sym typeface="Hind"/>
              </a:rPr>
              <a:t>=10.</a:t>
            </a:r>
            <a:endParaRPr b="0" i="0" sz="1800" u="none" cap="none" strike="noStrike">
              <a:solidFill>
                <a:srgbClr val="434343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 txBox="1"/>
          <p:nvPr>
            <p:ph type="title"/>
          </p:nvPr>
        </p:nvSpPr>
        <p:spPr>
          <a:xfrm>
            <a:off x="311700" y="4839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i="1" lang="en" sz="2400"/>
              <a:t>K</a:t>
            </a:r>
            <a:r>
              <a:rPr lang="en" sz="2400"/>
              <a:t>-fold Cross Validation</a:t>
            </a:r>
            <a:endParaRPr i="0" sz="2400" u="none" cap="none" strike="noStrike"/>
          </a:p>
        </p:txBody>
      </p:sp>
      <p:sp>
        <p:nvSpPr>
          <p:cNvPr id="290" name="Google Shape;290;p43"/>
          <p:cNvSpPr/>
          <p:nvPr/>
        </p:nvSpPr>
        <p:spPr>
          <a:xfrm>
            <a:off x="864375" y="1803425"/>
            <a:ext cx="7395000" cy="1109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Dataset</a:t>
            </a:r>
            <a:endParaRPr b="1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91" name="Google Shape;291;p43"/>
          <p:cNvSpPr txBox="1"/>
          <p:nvPr/>
        </p:nvSpPr>
        <p:spPr>
          <a:xfrm>
            <a:off x="2080875" y="3254700"/>
            <a:ext cx="4791300" cy="11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Suppose K = 5,</a:t>
            </a:r>
            <a:endParaRPr b="1" i="0" sz="28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5-Fold CV</a:t>
            </a:r>
            <a:endParaRPr b="1" i="0" sz="28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/>
          <p:nvPr/>
        </p:nvSpPr>
        <p:spPr>
          <a:xfrm>
            <a:off x="68853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5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97" name="Google Shape;297;p44"/>
          <p:cNvSpPr txBox="1"/>
          <p:nvPr>
            <p:ph type="title"/>
          </p:nvPr>
        </p:nvSpPr>
        <p:spPr>
          <a:xfrm>
            <a:off x="311700" y="48393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i="1" lang="en" sz="2400"/>
              <a:t>K</a:t>
            </a:r>
            <a:r>
              <a:rPr lang="en" sz="2400"/>
              <a:t>-fold Cross Validation</a:t>
            </a:r>
            <a:endParaRPr i="0" sz="2400" u="none" cap="none" strike="noStrike"/>
          </a:p>
        </p:txBody>
      </p:sp>
      <p:sp>
        <p:nvSpPr>
          <p:cNvPr id="298" name="Google Shape;298;p44"/>
          <p:cNvSpPr/>
          <p:nvPr/>
        </p:nvSpPr>
        <p:spPr>
          <a:xfrm>
            <a:off x="8745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1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23736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2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00" name="Google Shape;300;p44"/>
          <p:cNvSpPr/>
          <p:nvPr/>
        </p:nvSpPr>
        <p:spPr>
          <a:xfrm>
            <a:off x="38727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3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01" name="Google Shape;301;p44"/>
          <p:cNvSpPr/>
          <p:nvPr/>
        </p:nvSpPr>
        <p:spPr>
          <a:xfrm>
            <a:off x="53790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4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/>
          <p:nvPr/>
        </p:nvSpPr>
        <p:spPr>
          <a:xfrm>
            <a:off x="68853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07" name="Google Shape;3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en" sz="2400" u="none" cap="none" strike="noStrike"/>
              <a:t>K</a:t>
            </a:r>
            <a:r>
              <a:rPr i="0" lang="en" sz="2400" u="none" cap="none" strike="noStrike"/>
              <a:t>-fold Cross Validation</a:t>
            </a:r>
            <a:endParaRPr i="0" sz="2400" u="none" cap="none" strike="noStrike"/>
          </a:p>
        </p:txBody>
      </p:sp>
      <p:sp>
        <p:nvSpPr>
          <p:cNvPr id="308" name="Google Shape;308;p45"/>
          <p:cNvSpPr/>
          <p:nvPr/>
        </p:nvSpPr>
        <p:spPr>
          <a:xfrm>
            <a:off x="874500" y="2314025"/>
            <a:ext cx="1384200" cy="492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Test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09" name="Google Shape;309;p45"/>
          <p:cNvSpPr/>
          <p:nvPr/>
        </p:nvSpPr>
        <p:spPr>
          <a:xfrm>
            <a:off x="23736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10" name="Google Shape;310;p45"/>
          <p:cNvSpPr/>
          <p:nvPr/>
        </p:nvSpPr>
        <p:spPr>
          <a:xfrm>
            <a:off x="38727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11" name="Google Shape;311;p45"/>
          <p:cNvSpPr/>
          <p:nvPr/>
        </p:nvSpPr>
        <p:spPr>
          <a:xfrm>
            <a:off x="53790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12" name="Google Shape;312;p45"/>
          <p:cNvSpPr txBox="1"/>
          <p:nvPr/>
        </p:nvSpPr>
        <p:spPr>
          <a:xfrm>
            <a:off x="2585775" y="3532275"/>
            <a:ext cx="39378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Calculate MSE = mse1</a:t>
            </a:r>
            <a:endParaRPr b="1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/>
          <p:nvPr/>
        </p:nvSpPr>
        <p:spPr>
          <a:xfrm>
            <a:off x="68853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18" name="Google Shape;31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en" sz="2400" u="none" cap="none" strike="noStrike"/>
              <a:t>K</a:t>
            </a:r>
            <a:r>
              <a:rPr i="0" lang="en" sz="2400" u="none" cap="none" strike="noStrike"/>
              <a:t>-fold Cross Validation</a:t>
            </a:r>
            <a:endParaRPr i="0" sz="2400" u="none" cap="none" strike="noStrike"/>
          </a:p>
        </p:txBody>
      </p:sp>
      <p:sp>
        <p:nvSpPr>
          <p:cNvPr id="319" name="Google Shape;319;p46"/>
          <p:cNvSpPr/>
          <p:nvPr/>
        </p:nvSpPr>
        <p:spPr>
          <a:xfrm>
            <a:off x="8745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20" name="Google Shape;320;p46"/>
          <p:cNvSpPr/>
          <p:nvPr/>
        </p:nvSpPr>
        <p:spPr>
          <a:xfrm>
            <a:off x="2373600" y="2314025"/>
            <a:ext cx="1384200" cy="522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Test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21" name="Google Shape;321;p46"/>
          <p:cNvSpPr/>
          <p:nvPr/>
        </p:nvSpPr>
        <p:spPr>
          <a:xfrm>
            <a:off x="38727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22" name="Google Shape;322;p46"/>
          <p:cNvSpPr/>
          <p:nvPr/>
        </p:nvSpPr>
        <p:spPr>
          <a:xfrm>
            <a:off x="53790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2585775" y="3532275"/>
            <a:ext cx="39378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Calculate MSE = mse2</a:t>
            </a:r>
            <a:endParaRPr b="1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/>
          <p:nvPr/>
        </p:nvSpPr>
        <p:spPr>
          <a:xfrm>
            <a:off x="68853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29" name="Google Shape;32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en" sz="2400" u="none" cap="none" strike="noStrike"/>
              <a:t>K</a:t>
            </a:r>
            <a:r>
              <a:rPr i="0" lang="en" sz="2400" u="none" cap="none" strike="noStrike"/>
              <a:t>-fold Cross Validation</a:t>
            </a:r>
            <a:endParaRPr i="0" sz="2400" u="none" cap="none" strike="noStrike"/>
          </a:p>
        </p:txBody>
      </p:sp>
      <p:sp>
        <p:nvSpPr>
          <p:cNvPr id="330" name="Google Shape;330;p47"/>
          <p:cNvSpPr/>
          <p:nvPr/>
        </p:nvSpPr>
        <p:spPr>
          <a:xfrm>
            <a:off x="8745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31" name="Google Shape;331;p47"/>
          <p:cNvSpPr/>
          <p:nvPr/>
        </p:nvSpPr>
        <p:spPr>
          <a:xfrm>
            <a:off x="23736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32" name="Google Shape;332;p47"/>
          <p:cNvSpPr/>
          <p:nvPr/>
        </p:nvSpPr>
        <p:spPr>
          <a:xfrm>
            <a:off x="3872700" y="2314025"/>
            <a:ext cx="1384200" cy="522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Test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33" name="Google Shape;333;p47"/>
          <p:cNvSpPr/>
          <p:nvPr/>
        </p:nvSpPr>
        <p:spPr>
          <a:xfrm>
            <a:off x="53790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Training Sample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34" name="Google Shape;334;p47"/>
          <p:cNvSpPr txBox="1"/>
          <p:nvPr/>
        </p:nvSpPr>
        <p:spPr>
          <a:xfrm>
            <a:off x="2585775" y="3532275"/>
            <a:ext cx="39378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Calculate MSE = mse3</a:t>
            </a:r>
            <a:endParaRPr b="1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en" sz="2400" u="none" cap="none" strike="noStrike"/>
              <a:t>K</a:t>
            </a:r>
            <a:r>
              <a:rPr i="0" lang="en" sz="2400" u="none" cap="none" strike="noStrike"/>
              <a:t>-fold Cross Validation</a:t>
            </a:r>
            <a:endParaRPr i="0" sz="2400" u="none" cap="none" strike="noStrike"/>
          </a:p>
        </p:txBody>
      </p:sp>
      <p:sp>
        <p:nvSpPr>
          <p:cNvPr id="340" name="Google Shape;340;p48"/>
          <p:cNvSpPr txBox="1"/>
          <p:nvPr/>
        </p:nvSpPr>
        <p:spPr>
          <a:xfrm>
            <a:off x="2240400" y="1456650"/>
            <a:ext cx="46632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And so on</a:t>
            </a:r>
            <a:endParaRPr b="1" i="0" sz="6000" u="none" cap="none" strike="noStrike">
              <a:solidFill>
                <a:srgbClr val="613CB0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/>
          <p:nvPr/>
        </p:nvSpPr>
        <p:spPr>
          <a:xfrm>
            <a:off x="68853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5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46" name="Google Shape;34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1" lang="en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b="1" i="0" lang="en" sz="24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-fold Cross Validation</a:t>
            </a:r>
            <a:endParaRPr b="1" i="0" sz="24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7" name="Google Shape;347;p49"/>
          <p:cNvSpPr/>
          <p:nvPr/>
        </p:nvSpPr>
        <p:spPr>
          <a:xfrm>
            <a:off x="8745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1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48" name="Google Shape;348;p49"/>
          <p:cNvSpPr/>
          <p:nvPr/>
        </p:nvSpPr>
        <p:spPr>
          <a:xfrm>
            <a:off x="23736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2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49" name="Google Shape;349;p49"/>
          <p:cNvSpPr/>
          <p:nvPr/>
        </p:nvSpPr>
        <p:spPr>
          <a:xfrm>
            <a:off x="3872700" y="2314025"/>
            <a:ext cx="1384200" cy="52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3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50" name="Google Shape;350;p49"/>
          <p:cNvSpPr/>
          <p:nvPr/>
        </p:nvSpPr>
        <p:spPr>
          <a:xfrm>
            <a:off x="5379000" y="2314025"/>
            <a:ext cx="1384200" cy="492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Fold 4</a:t>
            </a:r>
            <a:endParaRPr b="1" i="0" sz="12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51" name="Google Shape;351;p49"/>
          <p:cNvSpPr txBox="1"/>
          <p:nvPr/>
        </p:nvSpPr>
        <p:spPr>
          <a:xfrm>
            <a:off x="1632700" y="3532275"/>
            <a:ext cx="5655600" cy="7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MSE = Avg(mse1...5)</a:t>
            </a:r>
            <a:endParaRPr b="1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1" lang="en" sz="2400"/>
              <a:t>K</a:t>
            </a:r>
            <a:r>
              <a:rPr lang="en" sz="2400"/>
              <a:t>-fold Cross Validation</a:t>
            </a:r>
            <a:endParaRPr sz="2400"/>
          </a:p>
        </p:txBody>
      </p:sp>
      <p:sp>
        <p:nvSpPr>
          <p:cNvPr id="357" name="Google Shape;357;p50"/>
          <p:cNvSpPr/>
          <p:nvPr/>
        </p:nvSpPr>
        <p:spPr>
          <a:xfrm>
            <a:off x="2297500" y="1574250"/>
            <a:ext cx="2280900" cy="19950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Matters less how we divide up</a:t>
            </a:r>
            <a:endParaRPr b="1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58" name="Google Shape;358;p50"/>
          <p:cNvSpPr/>
          <p:nvPr/>
        </p:nvSpPr>
        <p:spPr>
          <a:xfrm>
            <a:off x="4632200" y="1574250"/>
            <a:ext cx="2214300" cy="19950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Selection bias not present</a:t>
            </a:r>
            <a:endParaRPr b="1" i="0" sz="24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1"/>
          <p:cNvSpPr txBox="1"/>
          <p:nvPr>
            <p:ph type="title"/>
          </p:nvPr>
        </p:nvSpPr>
        <p:spPr>
          <a:xfrm>
            <a:off x="311700" y="48393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400"/>
              <a:t>Leave-1-Out Cross Validation</a:t>
            </a:r>
            <a:endParaRPr b="1" i="0" sz="2400" u="none" cap="none" strike="noStrike"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64" name="Google Shape;364;p51"/>
          <p:cNvSpPr txBox="1"/>
          <p:nvPr>
            <p:ph idx="1" type="body"/>
          </p:nvPr>
        </p:nvSpPr>
        <p:spPr>
          <a:xfrm>
            <a:off x="449800" y="1017725"/>
            <a:ext cx="8382300" cy="3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For each </a:t>
            </a:r>
            <a:r>
              <a:rPr lang="en" sz="2000">
                <a:latin typeface="Hind"/>
                <a:ea typeface="Hind"/>
                <a:cs typeface="Hind"/>
                <a:sym typeface="Hind"/>
              </a:rPr>
              <a:t>sample</a:t>
            </a: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: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Treat </a:t>
            </a:r>
            <a:r>
              <a:rPr lang="en" sz="2000">
                <a:latin typeface="Hind"/>
                <a:ea typeface="Hind"/>
                <a:cs typeface="Hind"/>
                <a:sym typeface="Hind"/>
              </a:rPr>
              <a:t>all other data</a:t>
            </a: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 as training data. 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Hind"/>
              <a:buChar char="●"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Test on </a:t>
            </a:r>
            <a:r>
              <a:rPr lang="en" sz="2000">
                <a:latin typeface="Hind"/>
                <a:ea typeface="Hind"/>
                <a:cs typeface="Hind"/>
                <a:sym typeface="Hind"/>
              </a:rPr>
              <a:t>that one sample</a:t>
            </a:r>
            <a:endParaRPr b="0" i="0" sz="2000" u="none" cap="none" strike="noStrike">
              <a:solidFill>
                <a:schemeClr val="dk2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Hind"/>
                <a:ea typeface="Hind"/>
                <a:cs typeface="Hind"/>
                <a:sym typeface="Hind"/>
              </a:rPr>
              <a:t>The average of these errors is the validation error</a:t>
            </a:r>
            <a:endParaRPr sz="2000"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" sz="2000">
                <a:latin typeface="Hind"/>
                <a:ea typeface="Hind"/>
                <a:cs typeface="Hind"/>
                <a:sym typeface="Hind"/>
              </a:rPr>
              <a:t>Pro: </a:t>
            </a:r>
            <a:r>
              <a:rPr lang="en" sz="2000">
                <a:latin typeface="Hind"/>
                <a:ea typeface="Hind"/>
                <a:cs typeface="Hind"/>
                <a:sym typeface="Hind"/>
              </a:rPr>
              <a:t>Better on small datasets</a:t>
            </a:r>
            <a:endParaRPr sz="2000"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" sz="2000">
                <a:latin typeface="Hind"/>
                <a:ea typeface="Hind"/>
                <a:cs typeface="Hind"/>
                <a:sym typeface="Hind"/>
              </a:rPr>
              <a:t>Pro: </a:t>
            </a:r>
            <a:r>
              <a:rPr lang="en" sz="2000">
                <a:latin typeface="Hind"/>
                <a:ea typeface="Hind"/>
                <a:cs typeface="Hind"/>
                <a:sym typeface="Hind"/>
              </a:rPr>
              <a:t>More realistic (trained on most of the data)</a:t>
            </a:r>
            <a:endParaRPr sz="2000"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1" lang="en" sz="2000">
                <a:latin typeface="Hind"/>
                <a:ea typeface="Hind"/>
                <a:cs typeface="Hind"/>
                <a:sym typeface="Hind"/>
              </a:rPr>
              <a:t>Con: </a:t>
            </a:r>
            <a:r>
              <a:rPr lang="en" sz="2000">
                <a:latin typeface="Hind"/>
                <a:ea typeface="Hind"/>
                <a:cs typeface="Hind"/>
                <a:sym typeface="Hind"/>
              </a:rPr>
              <a:t>Takes longer to run</a:t>
            </a:r>
            <a:endParaRPr sz="2000"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sz="2000"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613CB0"/>
                </a:solidFill>
                <a:latin typeface="Hind"/>
                <a:ea typeface="Hind"/>
                <a:cs typeface="Hind"/>
                <a:sym typeface="Hind"/>
              </a:rPr>
              <a:t>Coming Up</a:t>
            </a:r>
            <a:endParaRPr i="0" sz="1400" u="none" cap="none" strike="noStrike">
              <a:solidFill>
                <a:srgbClr val="613CB0"/>
              </a:solidFill>
              <a:latin typeface="Hind"/>
              <a:ea typeface="Hind"/>
              <a:cs typeface="Hind"/>
              <a:sym typeface="Hind"/>
            </a:endParaRPr>
          </a:p>
        </p:txBody>
      </p:sp>
      <p:sp>
        <p:nvSpPr>
          <p:cNvPr id="370" name="Google Shape;370;p52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Helvetica Neue"/>
              <a:buChar char="●"/>
            </a:pPr>
            <a:r>
              <a:rPr b="1"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Assignment 3: </a:t>
            </a:r>
            <a:r>
              <a:rPr lang="en" sz="16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Releasing Friday night, due next Friday</a:t>
            </a:r>
            <a:endParaRPr b="0" i="0" sz="16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71" name="Google Shape;37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300" y="4493296"/>
            <a:ext cx="1835400" cy="529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
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oboto"/>
      <p:regular r:id="rId37"/>
      <p:bold r:id="rId38"/>
      <p:italic r:id="rId39"/>
      <p:boldItalic r:id="rId40"/>
    </p:embeddedFont>
    <p:embeddedFont>
      <p:font typeface="Hind"/>
      <p:regular r:id="rId41"/>
      <p:bold r:id="rId42"/>
    </p:embeddedFont>
    <p:embeddedFont>
      <p:font typeface="Helvetica Neue"/>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2" Type="http://schemas.openxmlformats.org/officeDocument/2006/relationships/font" Target="fonts/Hind-bold.fntdata"/><Relationship Id="rId41" Type="http://schemas.openxmlformats.org/officeDocument/2006/relationships/font" Target="fonts/Hind-regular.fntdata"/><Relationship Id="rId22" Type="http://schemas.openxmlformats.org/officeDocument/2006/relationships/slide" Target="slides/slide17.xml"/><Relationship Id="rId44" Type="http://schemas.openxmlformats.org/officeDocument/2006/relationships/font" Target="fonts/HelveticaNeue-bold.fntdata"/><Relationship Id="rId21" Type="http://schemas.openxmlformats.org/officeDocument/2006/relationships/slide" Target="slides/slide16.xml"/><Relationship Id="rId43" Type="http://schemas.openxmlformats.org/officeDocument/2006/relationships/font" Target="fonts/HelveticaNeue-regular.fntdata"/><Relationship Id="rId24" Type="http://schemas.openxmlformats.org/officeDocument/2006/relationships/slide" Target="slides/slide19.xml"/><Relationship Id="rId46" Type="http://schemas.openxmlformats.org/officeDocument/2006/relationships/font" Target="fonts/HelveticaNeue-boldItalic.fntdata"/><Relationship Id="rId23" Type="http://schemas.openxmlformats.org/officeDocument/2006/relationships/slide" Target="slides/slide18.xml"/><Relationship Id="rId45"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37be44c4b0fc52b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h37be44c4b0fc52b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SLOW DOWN!!!!!!!!!!!!!!!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37be44c4b0fc52bc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h37be44c4b0fc52b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37be44c4b0fc52b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37be44c4b0fc52b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37be44c4b0fc52bc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h37be44c4b0fc52b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37be44c4b0fc52bc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Roboto"/>
                <a:ea typeface="Roboto"/>
                <a:cs typeface="Roboto"/>
                <a:sym typeface="Roboto"/>
              </a:rPr>
              <a:t>A classifier in machine learning is an algorithm that automatically orders or categorizes data into one or more of a set of “classes.”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 sz="1200">
                <a:solidFill>
                  <a:schemeClr val="dk1"/>
                </a:solidFill>
                <a:latin typeface="Roboto"/>
                <a:ea typeface="Roboto"/>
                <a:cs typeface="Roboto"/>
                <a:sym typeface="Roboto"/>
              </a:rPr>
              <a:t> Some examples of classification include spam detection, churn prediction, sentiment analysis, dog breed detection and so on. </a:t>
            </a:r>
            <a:endParaRPr sz="1200">
              <a:solidFill>
                <a:schemeClr val="dk1"/>
              </a:solidFill>
              <a:latin typeface="Roboto"/>
              <a:ea typeface="Roboto"/>
              <a:cs typeface="Roboto"/>
              <a:sym typeface="Roboto"/>
            </a:endParaRPr>
          </a:p>
        </p:txBody>
      </p:sp>
      <p:sp>
        <p:nvSpPr>
          <p:cNvPr id="81" name="Google Shape;81;h37be44c4b0fc52b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37be44c4b0fc52bc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h37be44c4b0fc52bc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100"/>
              <a:buNone/>
            </a:pPr>
            <a:r>
              <a:rPr lang="en"/>
              <a:t>Distinct categories</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37be44c4b0fc52bc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h37be44c4b0fc52b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regression helps predict a continuous quantity, classification predicts discrete class labels.</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Example: regression is what will the temperature be tomorrow? Classification is will it rain or not tmrw?</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37be44c4b0fc52bc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rPr lang="en" sz="1200">
                <a:solidFill>
                  <a:schemeClr val="dk1"/>
                </a:solidFill>
                <a:latin typeface="Roboto"/>
                <a:ea typeface="Roboto"/>
                <a:cs typeface="Roboto"/>
                <a:sym typeface="Roboto"/>
              </a:rPr>
              <a:t>Lazy learners, also known as instance-based learners, store the training data and make predictions by comparing new instances directly to the training examples, which can be computationally intensive.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 sz="1200">
                <a:solidFill>
                  <a:schemeClr val="dk1"/>
                </a:solidFill>
                <a:latin typeface="Roboto"/>
                <a:ea typeface="Roboto"/>
                <a:cs typeface="Roboto"/>
                <a:sym typeface="Roboto"/>
              </a:rPr>
              <a:t>In contrast, eager learners, such as decision trees and neural networks, build a model during training and use that model to make predictions, making them faster at inference but potentially less adaptable to changes in the data.</a:t>
            </a:r>
            <a:endParaRPr>
              <a:solidFill>
                <a:schemeClr val="dk1"/>
              </a:solidFill>
            </a:endParaRPr>
          </a:p>
        </p:txBody>
      </p:sp>
      <p:sp>
        <p:nvSpPr>
          <p:cNvPr id="98" name="Google Shape;98;h37be44c4b0fc52b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37be44c4b0fc52bc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h37be44c4b0fc52b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1200">
                <a:solidFill>
                  <a:schemeClr val="dk1"/>
                </a:solidFill>
                <a:latin typeface="Roboto"/>
                <a:ea typeface="Roboto"/>
                <a:cs typeface="Roboto"/>
                <a:sym typeface="Roboto"/>
              </a:rPr>
              <a:t>A k-Nearest Neighbors (KNN) classifier is a type of lazy learner or instance-based learner used in machine learning for classification tasks. It classifies a new data point by finding the k training examples (data points) in its vicinity that are closest to it in terms of a chosen distance metric (e.g., Euclidean distance). The majority class among these k neighbors is assigned as the predicted class for the new data point. KNN is a simple and intuitive algorithm, but it can be computationally expensive for large datasets and may require careful selection of the value for k.</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7be44c4b0fc52bc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h37be44c4b0fc52bc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1500"/>
              </a:spcBef>
              <a:spcAft>
                <a:spcPts val="0"/>
              </a:spcAft>
              <a:buClr>
                <a:schemeClr val="dk1"/>
              </a:buClr>
              <a:buSzPts val="1200"/>
              <a:buFont typeface="Roboto"/>
              <a:buNone/>
            </a:pPr>
            <a:r>
              <a:rPr lang="en" sz="1200">
                <a:solidFill>
                  <a:schemeClr val="dk1"/>
                </a:solidFill>
                <a:latin typeface="Roboto"/>
                <a:ea typeface="Roboto"/>
                <a:cs typeface="Roboto"/>
                <a:sym typeface="Roboto"/>
              </a:rPr>
              <a:t>Feature Relevance: It assumes that all features used in the dataset are relevant to the classification task. If irrelevant or noisy features are included, they can negatively impact the algorithm's performance.</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Local Smoothness: KNN assumes that data points of the same class are often found near each other in the feature space, meaning that regions with similar feature values tend to have the same class labels.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Stationarity: KNN assumes that the distribution of data does not change significantly over the local neighborhoods defined by the value of k. In other words, it assumes a certain level of stationarity in the data, meaning that the relationships between features and classes don't change abruptly over short distances.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Distance Metric Choice: The algorithm assumes that the choice of distance metric (e.g., Euclidean distance, Manhattan distance, etc.) is appropriate for the problem at hand. Selecting the right distance metric is crucial for the algorithm's performance.</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K Value Selection: The choice of the value of k (the number of nearest neighbors to consider) is important. KNN assumes that an appropriate k can be chosen that balances bias and variance, leading to good generalization to new, unseen data.</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Class Distribution: KNN assumes that the class distribution in the dataset is relatively balanced. In cases of imbalanced datasets, it might favor the majority class in predictions.</a:t>
            </a:r>
            <a:endParaRPr sz="120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n" sz="1200">
                <a:solidFill>
                  <a:schemeClr val="dk1"/>
                </a:solidFill>
                <a:latin typeface="Roboto"/>
                <a:ea typeface="Roboto"/>
                <a:cs typeface="Roboto"/>
                <a:sym typeface="Roboto"/>
              </a:rPr>
              <a:t>Normalization of Features: It is often assumed that the features have been properly scaled or normalized to</a:t>
            </a:r>
            <a:endParaRPr sz="1200">
              <a:solidFill>
                <a:schemeClr val="dk1"/>
              </a:solidFill>
              <a:latin typeface="Roboto"/>
              <a:ea typeface="Roboto"/>
              <a:cs typeface="Roboto"/>
              <a:sym typeface="Roboto"/>
            </a:endParaRPr>
          </a:p>
          <a:p>
            <a:pPr indent="0" lvl="0" marL="0" marR="0" rtl="0" algn="l">
              <a:lnSpc>
                <a:spcPct val="100000"/>
              </a:lnSpc>
              <a:spcBef>
                <a:spcPts val="1500"/>
              </a:spcBef>
              <a:spcAft>
                <a:spcPts val="0"/>
              </a:spcAft>
              <a:buClr>
                <a:srgbClr val="000000"/>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7be44c4b0fc52bc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h37be44c4b0fc52bc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37be44c4b0fc52bc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h37be44c4b0fc52bc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The "k" in the k-Nearest Neighbors (KNN) algorithm refers to the number of nearest neighbors that are considered when making a prediction for a new data point. In other words, it is the parameter that determines how many data points from the training dataset are taken into account when classifying a new data point.</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Choosing the right value for k is a crucial aspect of using KNN effectively. A small value of k, like 1 or 3, means that the algorithm will consider only the nearest neighbors, which can make the classification sensitive to noise in the data. On the other hand, a large value of k, like 10 or 20, can make the algorithm more robust to noise but might cause it to miss fine-grained patterns in the data.</a:t>
            </a:r>
            <a:endParaRPr sz="1200">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 sz="1200">
                <a:solidFill>
                  <a:schemeClr val="dk1"/>
                </a:solidFill>
                <a:latin typeface="Roboto"/>
                <a:ea typeface="Roboto"/>
                <a:cs typeface="Roboto"/>
                <a:sym typeface="Roboto"/>
              </a:rPr>
              <a:t>The choice of k depends on the specific dataset and problem you are working on. It often involves a trade-off between bias and variance. Smaller values of k lead to lower bias but higher variance, while larger values of k lead to higher bias but lower variance. Cross-validation and hyperparameter tuning techniques can help in selecting an appropriate value for k that optimizes the model's performance on the given task.</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37be44c4b0fc52bc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h37be44c4b0fc52bc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Here we want to predict the classification of what the blue diamond will be</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37be44c4b0fc52bc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h37be44c4b0fc52bc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As you can see, there are 3 circles and 3 triangles near the blue diamond</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37be44c4b0fc52bc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h37be44c4b0fc52bc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We choose a radius here</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37be44c4b0fc52bc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h37be44c4b0fc52bc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37be44c4b0fc52bc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h37be44c4b0fc52b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37be44c4b0fc52b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37be44c4b0fc52b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37be44c4b0fc52bc_0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h37be44c4b0fc52bc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37be44c4b0fc52bc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h37be44c4b0fc52bc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37be44c4b0fc52b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h37be44c4b0fc52bc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High k = smooth line</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This is because the model considers more neighbors when predicting</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sz="1200">
                <a:solidFill>
                  <a:schemeClr val="dk1"/>
                </a:solidFill>
                <a:latin typeface="Roboto"/>
                <a:ea typeface="Roboto"/>
                <a:cs typeface="Roboto"/>
                <a:sym typeface="Roboto"/>
              </a:rPr>
              <a:t>If you choose an extremely large k-value, it can effectively turn the model into a "majority vote" or "average" predictor. This means that the model's prediction becomes dominated by the most common or likely class in the entire dataset.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 sz="1200">
                <a:solidFill>
                  <a:schemeClr val="dk1"/>
                </a:solidFill>
                <a:latin typeface="Roboto"/>
                <a:ea typeface="Roboto"/>
                <a:cs typeface="Roboto"/>
                <a:sym typeface="Roboto"/>
              </a:rPr>
              <a:t>Again, need to find the proper balance</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37be44c4b0fc52bc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h37be44c4b0fc52bc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h37be44c4b0fc52bc_0_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h37be44c4b0fc52bc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37be44c4b0fc52bc_0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h37be44c4b0fc52bc_0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1350">
                <a:solidFill>
                  <a:schemeClr val="dk1"/>
                </a:solidFill>
              </a:rPr>
              <a:t>“If you have the disease when you take the test, what is the chance it comes back positive?”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h209fe85da33117fc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h209fe85da33117fc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1350">
                <a:solidFill>
                  <a:schemeClr val="dk1"/>
                </a:solidFill>
              </a:rPr>
              <a:t>“If you have the disease when you take the test, what is the chance it comes back positive?”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37be44c4b0fc52bc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h37be44c4b0fc52bc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Answer the question in the attendance form!</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7be44c4b0fc52bc_0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h37be44c4b0fc52bc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h37be44c4b0fc52bc_0_2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h37be44c4b0fc52bc_0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h37be44c4b0fc52bc_0_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h37be44c4b0fc52bc_0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37be44c4b0fc52bc_0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h37be44c4b0fc52bc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37be44c4b0fc52bc_0_2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h37be44c4b0fc52bc_0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engineering.cornell.edu/cornell-engineering-student-project-teams-join-a-team" TargetMode="External"/><Relationship Id="rId4" Type="http://schemas.openxmlformats.org/officeDocument/2006/relationships/hyperlink" Target="https://cornelldata.science/recruitment" TargetMode="External"/><Relationship Id="rId5"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hyperlink" Target="https://xyclade.github.io/MachineLearning/Images/Under-fitting.p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hyperlink" Target="https://en.wikipedia.org/wiki/Overfitting#/media/File:Overfitted_Data.p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00850" y="4493296"/>
            <a:ext cx="1835400" cy="529729"/>
          </a:xfrm>
          <a:prstGeom prst="rect">
            <a:avLst/>
          </a:prstGeom>
          <a:noFill/>
          <a:ln>
            <a:noFill/>
          </a:ln>
        </p:spPr>
      </p:pic>
      <p:sp>
        <p:nvSpPr>
          <p:cNvPr id="55" name="Google Shape;55;p13"/>
          <p:cNvSpPr txBox="1"/>
          <p:nvPr>
            <p:ph idx="4294967295" type="ctrTitle"/>
          </p:nvPr>
        </p:nvSpPr>
        <p:spPr>
          <a:xfrm>
            <a:off x="1018544" y="604290"/>
            <a:ext cx="7107000" cy="1302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3200" u="none" cap="none" strike="noStrike">
                <a:solidFill>
                  <a:srgbClr val="613CB0"/>
                </a:solidFill>
                <a:latin typeface="Hind"/>
                <a:ea typeface="Hind"/>
                <a:cs typeface="Hind"/>
                <a:sym typeface="Hind"/>
              </a:rPr>
              <a:t>Lecture 6: Intro to Classifiers</a:t>
            </a:r>
            <a:endParaRPr b="1" i="0" sz="3200" u="none" cap="none" strike="noStrike">
              <a:solidFill>
                <a:srgbClr val="613CB0"/>
              </a:solidFill>
              <a:latin typeface="Hind"/>
              <a:ea typeface="Hind"/>
              <a:cs typeface="Hind"/>
              <a:sym typeface="Hind"/>
            </a:endParaRPr>
          </a:p>
        </p:txBody>
      </p:sp>
      <p:sp>
        <p:nvSpPr>
          <p:cNvPr id="56" name="Google Shape;56;p13"/>
          <p:cNvSpPr txBox="1"/>
          <p:nvPr/>
        </p:nvSpPr>
        <p:spPr>
          <a:xfrm>
            <a:off x="1018468" y="1538638"/>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500" u="none" cap="none" strike="noStrike">
                <a:solidFill>
                  <a:srgbClr val="3F3F3F"/>
                </a:solidFill>
                <a:latin typeface="Helvetica Neue"/>
                <a:ea typeface="Helvetica Neue"/>
                <a:cs typeface="Helvetica Neue"/>
                <a:sym typeface="Helvetica Neue"/>
              </a:rPr>
              <a:t>INFO 1998: Introduction to Machine Learning</a:t>
            </a:r>
            <a:endParaRPr b="0" i="0" sz="1700" u="none" cap="none" strike="noStrike">
              <a:solidFill>
                <a:srgbClr val="000000"/>
              </a:solidFill>
              <a:latin typeface="Arial"/>
              <a:ea typeface="Arial"/>
              <a:cs typeface="Arial"/>
              <a:sym typeface="Arial"/>
            </a:endParaRPr>
          </a:p>
        </p:txBody>
      </p:sp>
      <p:pic>
        <p:nvPicPr>
          <p:cNvPr id="57" name="Google Shape;57;p13" title="info1998_lec6_attendance_qr.png"/>
          <p:cNvPicPr preferRelativeResize="0"/>
          <p:nvPr/>
        </p:nvPicPr>
        <p:blipFill>
          <a:blip r:embed="rId4">
            <a:alphaModFix/>
          </a:blip>
          <a:stretch>
            <a:fillRect/>
          </a:stretch>
        </p:blipFill>
        <p:spPr>
          <a:xfrm>
            <a:off x="2980944" y="1920240"/>
            <a:ext cx="2926080" cy="29260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idx="4294967295" type="ctrTitle"/>
          </p:nvPr>
        </p:nvSpPr>
        <p:spPr>
          <a:xfrm>
            <a:off x="1018532" y="1653165"/>
            <a:ext cx="7107000" cy="1302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3200" u="none" cap="none" strike="noStrike">
                <a:solidFill>
                  <a:srgbClr val="613CB0"/>
                </a:solidFill>
                <a:latin typeface="Hind"/>
                <a:ea typeface="Hind"/>
                <a:cs typeface="Hind"/>
                <a:sym typeface="Hind"/>
              </a:rPr>
              <a:t>Lecture 6: Intro to Classifiers</a:t>
            </a:r>
            <a:endParaRPr b="1" i="0" sz="3200" u="none" cap="none" strike="noStrike">
              <a:solidFill>
                <a:srgbClr val="613CB0"/>
              </a:solidFill>
              <a:latin typeface="Hind"/>
              <a:ea typeface="Hind"/>
              <a:cs typeface="Hind"/>
              <a:sym typeface="Hind"/>
            </a:endParaRPr>
          </a:p>
        </p:txBody>
      </p:sp>
      <p:sp>
        <p:nvSpPr>
          <p:cNvPr id="63" name="Google Shape;63;p14"/>
          <p:cNvSpPr txBox="1"/>
          <p:nvPr/>
        </p:nvSpPr>
        <p:spPr>
          <a:xfrm>
            <a:off x="1018456" y="2587513"/>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500" u="none" cap="none" strike="noStrike">
                <a:solidFill>
                  <a:srgbClr val="3F3F3F"/>
                </a:solidFill>
                <a:latin typeface="Helvetica Neue"/>
                <a:ea typeface="Helvetica Neue"/>
                <a:cs typeface="Helvetica Neue"/>
                <a:sym typeface="Helvetica Neue"/>
              </a:rPr>
              <a:t>INFO 1998: Introduction to Machine Learning</a:t>
            </a:r>
            <a:endParaRPr b="0" i="0" sz="1700" u="none" cap="none" strike="noStrike">
              <a:solidFill>
                <a:srgbClr val="000000"/>
              </a:solidFill>
              <a:latin typeface="Arial"/>
              <a:ea typeface="Arial"/>
              <a:cs typeface="Arial"/>
              <a:sym typeface="Arial"/>
            </a:endParaRPr>
          </a:p>
        </p:txBody>
      </p:sp>
      <p:pic>
        <p:nvPicPr>
          <p:cNvPr id="64" name="Google Shape;64;p14"/>
          <p:cNvPicPr preferRelativeResize="0"/>
          <p:nvPr/>
        </p:nvPicPr>
        <p:blipFill>
          <a:blip r:embed="rId3">
            <a:alphaModFix/>
          </a:blip>
          <a:stretch>
            <a:fillRect/>
          </a:stretch>
        </p:blipFill>
        <p:spPr>
          <a:xfrm>
            <a:off x="100850" y="4493296"/>
            <a:ext cx="1835400" cy="52972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idx="1" type="body"/>
          </p:nvPr>
        </p:nvSpPr>
        <p:spPr>
          <a:xfrm>
            <a:off x="311700" y="1152475"/>
            <a:ext cx="5315100" cy="3416400"/>
          </a:xfrm>
          <a:prstGeom prst="rect">
            <a:avLst/>
          </a:prstGeom>
        </p:spPr>
        <p:txBody>
          <a:bodyPr anchorCtr="0" anchor="t" bIns="91425" lIns="91425" spcFirstLastPara="1" rIns="91425" wrap="square" tIns="91425">
            <a:normAutofit/>
          </a:bodyPr>
          <a:lstStyle/>
          <a:p>
            <a:pPr indent="-330200" lvl="0" marL="457200" marR="0" rtl="0" algn="l">
              <a:lnSpc>
                <a:spcPct val="105000"/>
              </a:lnSpc>
              <a:spcBef>
                <a:spcPts val="0"/>
              </a:spcBef>
              <a:spcAft>
                <a:spcPts val="0"/>
              </a:spcAft>
              <a:buSzPts val="1600"/>
              <a:buFont typeface="Helvetica Neue"/>
              <a:buChar char="●"/>
            </a:pPr>
            <a:r>
              <a:rPr lang="en" sz="1600">
                <a:latin typeface="Helvetica Neue"/>
                <a:ea typeface="Helvetica Neue"/>
                <a:cs typeface="Helvetica Neue"/>
                <a:sym typeface="Helvetica Neue"/>
              </a:rPr>
              <a:t>All subteams are recruiting freshmen this semester!</a:t>
            </a:r>
            <a:endParaRPr sz="1600">
              <a:latin typeface="Helvetica Neue"/>
              <a:ea typeface="Helvetica Neue"/>
              <a:cs typeface="Helvetica Neue"/>
              <a:sym typeface="Helvetica Neue"/>
            </a:endParaRPr>
          </a:p>
          <a:p>
            <a:pPr indent="-330200" lvl="1" marL="914400" marR="0" rtl="0" algn="l">
              <a:lnSpc>
                <a:spcPct val="105000"/>
              </a:lnSpc>
              <a:spcBef>
                <a:spcPts val="0"/>
              </a:spcBef>
              <a:spcAft>
                <a:spcPts val="0"/>
              </a:spcAft>
              <a:buSzPts val="1600"/>
              <a:buFont typeface="Helvetica Neue"/>
              <a:buChar char="○"/>
            </a:pPr>
            <a:r>
              <a:rPr lang="en" sz="1600">
                <a:latin typeface="Helvetica Neue"/>
                <a:ea typeface="Helvetica Neue"/>
                <a:cs typeface="Helvetica Neue"/>
                <a:sym typeface="Helvetica Neue"/>
              </a:rPr>
              <a:t>Deadline: </a:t>
            </a:r>
            <a:r>
              <a:rPr b="1" lang="en" sz="1600">
                <a:latin typeface="Helvetica Neue"/>
                <a:ea typeface="Helvetica Neue"/>
                <a:cs typeface="Helvetica Neue"/>
                <a:sym typeface="Helvetica Neue"/>
              </a:rPr>
              <a:t>October 15th, 11:59pm</a:t>
            </a:r>
            <a:endParaRPr b="1" sz="1600">
              <a:latin typeface="Helvetica Neue"/>
              <a:ea typeface="Helvetica Neue"/>
              <a:cs typeface="Helvetica Neue"/>
              <a:sym typeface="Helvetica Neue"/>
            </a:endParaRPr>
          </a:p>
          <a:p>
            <a:pPr indent="-330200" lvl="1" marL="914400" marR="0" rtl="0" algn="l">
              <a:lnSpc>
                <a:spcPct val="105000"/>
              </a:lnSpc>
              <a:spcBef>
                <a:spcPts val="0"/>
              </a:spcBef>
              <a:spcAft>
                <a:spcPts val="0"/>
              </a:spcAft>
              <a:buSzPts val="1600"/>
              <a:buFont typeface="Helvetica Neue"/>
              <a:buChar char="○"/>
            </a:pPr>
            <a:r>
              <a:rPr lang="en" sz="1600">
                <a:latin typeface="Helvetica Neue"/>
                <a:ea typeface="Helvetica Neue"/>
                <a:cs typeface="Helvetica Neue"/>
                <a:sym typeface="Helvetica Neue"/>
              </a:rPr>
              <a:t>Don’t forget to also submit the College of Engineering </a:t>
            </a:r>
            <a:r>
              <a:rPr lang="en" sz="1600" u="sng">
                <a:solidFill>
                  <a:schemeClr val="hlink"/>
                </a:solidFill>
                <a:latin typeface="Helvetica Neue"/>
                <a:ea typeface="Helvetica Neue"/>
                <a:cs typeface="Helvetica Neue"/>
                <a:sym typeface="Helvetica Neue"/>
                <a:hlinkClick r:id="rId3"/>
              </a:rPr>
              <a:t>application</a:t>
            </a:r>
            <a:r>
              <a:rPr lang="en" sz="1600">
                <a:latin typeface="Helvetica Neue"/>
                <a:ea typeface="Helvetica Neue"/>
                <a:cs typeface="Helvetica Neue"/>
                <a:sym typeface="Helvetica Neue"/>
              </a:rPr>
              <a:t>.</a:t>
            </a:r>
            <a:endParaRPr sz="1600">
              <a:latin typeface="Helvetica Neue"/>
              <a:ea typeface="Helvetica Neue"/>
              <a:cs typeface="Helvetica Neue"/>
              <a:sym typeface="Helvetica Neue"/>
            </a:endParaRPr>
          </a:p>
          <a:p>
            <a:pPr indent="0" lvl="0" marL="0" marR="0" rtl="0" algn="l">
              <a:lnSpc>
                <a:spcPct val="105000"/>
              </a:lnSpc>
              <a:spcBef>
                <a:spcPts val="0"/>
              </a:spcBef>
              <a:spcAft>
                <a:spcPts val="0"/>
              </a:spcAft>
              <a:buNone/>
            </a:pPr>
            <a:r>
              <a:t/>
            </a:r>
            <a:endParaRPr sz="1600">
              <a:latin typeface="Helvetica Neue"/>
              <a:ea typeface="Helvetica Neue"/>
              <a:cs typeface="Helvetica Neue"/>
              <a:sym typeface="Helvetica Neue"/>
            </a:endParaRPr>
          </a:p>
          <a:p>
            <a:pPr indent="-330200" lvl="0" marL="457200" marR="0" rtl="0" algn="l">
              <a:lnSpc>
                <a:spcPct val="105000"/>
              </a:lnSpc>
              <a:spcBef>
                <a:spcPts val="0"/>
              </a:spcBef>
              <a:spcAft>
                <a:spcPts val="0"/>
              </a:spcAft>
              <a:buSzPts val="1600"/>
              <a:buFont typeface="Helvetica Neue"/>
              <a:buChar char="●"/>
            </a:pPr>
            <a:r>
              <a:rPr lang="en" sz="1600">
                <a:latin typeface="Helvetica Neue"/>
                <a:ea typeface="Helvetica Neue"/>
                <a:cs typeface="Helvetica Neue"/>
                <a:sym typeface="Helvetica Neue"/>
              </a:rPr>
              <a:t>Application Link: </a:t>
            </a:r>
            <a:r>
              <a:rPr lang="en" sz="1600" u="sng">
                <a:solidFill>
                  <a:schemeClr val="hlink"/>
                </a:solidFill>
                <a:latin typeface="Helvetica Neue"/>
                <a:ea typeface="Helvetica Neue"/>
                <a:cs typeface="Helvetica Neue"/>
                <a:sym typeface="Helvetica Neue"/>
                <a:hlinkClick r:id="rId4"/>
              </a:rPr>
              <a:t>https://cornelldata.science/recruitment</a:t>
            </a:r>
            <a:r>
              <a:rPr lang="en" sz="1600">
                <a:latin typeface="Helvetica Neue"/>
                <a:ea typeface="Helvetica Neue"/>
                <a:cs typeface="Helvetica Neue"/>
                <a:sym typeface="Helvetica Neue"/>
              </a:rPr>
              <a:t>    </a:t>
            </a:r>
            <a:endParaRPr sz="1600">
              <a:latin typeface="Helvetica Neue"/>
              <a:ea typeface="Helvetica Neue"/>
              <a:cs typeface="Helvetica Neue"/>
              <a:sym typeface="Helvetica Neue"/>
            </a:endParaRPr>
          </a:p>
          <a:p>
            <a:pPr indent="0" lvl="0" marL="457200" rtl="0" algn="l">
              <a:spcBef>
                <a:spcPts val="0"/>
              </a:spcBef>
              <a:spcAft>
                <a:spcPts val="0"/>
              </a:spcAft>
              <a:buNone/>
            </a:pPr>
            <a:r>
              <a:t/>
            </a:r>
            <a:endParaRPr sz="1500">
              <a:solidFill>
                <a:schemeClr val="dk1"/>
              </a:solidFill>
              <a:latin typeface="Helvetica Neue"/>
              <a:ea typeface="Helvetica Neue"/>
              <a:cs typeface="Helvetica Neue"/>
              <a:sym typeface="Helvetica Neue"/>
            </a:endParaRPr>
          </a:p>
          <a:p>
            <a:pPr indent="-330200" lvl="0" marL="457200" marR="0" rtl="0" algn="l">
              <a:lnSpc>
                <a:spcPct val="105000"/>
              </a:lnSpc>
              <a:spcBef>
                <a:spcPts val="1200"/>
              </a:spcBef>
              <a:spcAft>
                <a:spcPts val="0"/>
              </a:spcAft>
              <a:buSzPts val="1600"/>
              <a:buFont typeface="Helvetica Neue"/>
              <a:buChar char="●"/>
            </a:pPr>
            <a:r>
              <a:rPr lang="en" sz="1600">
                <a:latin typeface="Helvetica Neue"/>
                <a:ea typeface="Helvetica Neue"/>
                <a:cs typeface="Helvetica Neue"/>
                <a:sym typeface="Helvetica Neue"/>
              </a:rPr>
              <a:t>If you’re enjoying this class…</a:t>
            </a:r>
            <a:endParaRPr sz="1600">
              <a:latin typeface="Helvetica Neue"/>
              <a:ea typeface="Helvetica Neue"/>
              <a:cs typeface="Helvetica Neue"/>
              <a:sym typeface="Helvetica Neue"/>
            </a:endParaRPr>
          </a:p>
          <a:p>
            <a:pPr indent="-330200" lvl="1" marL="914400" marR="0" rtl="0" algn="l">
              <a:lnSpc>
                <a:spcPct val="105000"/>
              </a:lnSpc>
              <a:spcBef>
                <a:spcPts val="0"/>
              </a:spcBef>
              <a:spcAft>
                <a:spcPts val="0"/>
              </a:spcAft>
              <a:buSzPts val="1600"/>
              <a:buFont typeface="Helvetica Neue"/>
              <a:buChar char="○"/>
            </a:pPr>
            <a:r>
              <a:rPr lang="en" sz="1600">
                <a:latin typeface="Helvetica Neue"/>
                <a:ea typeface="Helvetica Neue"/>
                <a:cs typeface="Helvetica Neue"/>
                <a:sym typeface="Helvetica Neue"/>
              </a:rPr>
              <a:t>you’ll LOVE being on CDS 👀</a:t>
            </a:r>
            <a:endParaRPr sz="1600">
              <a:latin typeface="Helvetica Neue"/>
              <a:ea typeface="Helvetica Neue"/>
              <a:cs typeface="Helvetica Neue"/>
              <a:sym typeface="Helvetica Neue"/>
            </a:endParaRPr>
          </a:p>
          <a:p>
            <a:pPr indent="0" lvl="0" marL="0" marR="0" rtl="0" algn="l">
              <a:lnSpc>
                <a:spcPct val="105000"/>
              </a:lnSpc>
              <a:spcBef>
                <a:spcPts val="0"/>
              </a:spcBef>
              <a:spcAft>
                <a:spcPts val="0"/>
              </a:spcAft>
              <a:buNone/>
            </a:pPr>
            <a:r>
              <a:t/>
            </a:r>
            <a:endParaRPr sz="1600">
              <a:latin typeface="Helvetica Neue"/>
              <a:ea typeface="Helvetica Neue"/>
              <a:cs typeface="Helvetica Neue"/>
              <a:sym typeface="Helvetica Neue"/>
            </a:endParaRPr>
          </a:p>
        </p:txBody>
      </p:sp>
      <p:sp>
        <p:nvSpPr>
          <p:cNvPr id="70" name="Google Shape;7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633BB"/>
                </a:solidFill>
                <a:latin typeface="Hind"/>
                <a:ea typeface="Hind"/>
                <a:cs typeface="Hind"/>
                <a:sym typeface="Hind"/>
              </a:rPr>
              <a:t>Apply to Cornell Data Science! </a:t>
            </a:r>
            <a:r>
              <a:rPr b="0" lang="en">
                <a:solidFill>
                  <a:schemeClr val="dk2"/>
                </a:solidFill>
              </a:rPr>
              <a:t>📣</a:t>
            </a:r>
            <a:endParaRPr b="0">
              <a:solidFill>
                <a:schemeClr val="dk2"/>
              </a:solidFill>
            </a:endParaRPr>
          </a:p>
          <a:p>
            <a:pPr indent="0" lvl="0" marL="0" marR="0" rtl="0" algn="l">
              <a:lnSpc>
                <a:spcPct val="100000"/>
              </a:lnSpc>
              <a:spcBef>
                <a:spcPts val="0"/>
              </a:spcBef>
              <a:spcAft>
                <a:spcPts val="0"/>
              </a:spcAft>
              <a:buClr>
                <a:schemeClr val="dk1"/>
              </a:buClr>
              <a:buSzPts val="1100"/>
              <a:buFont typeface="Arial"/>
              <a:buNone/>
            </a:pPr>
            <a:r>
              <a:t/>
            </a:r>
            <a:endParaRPr sz="2400">
              <a:solidFill>
                <a:srgbClr val="6633BB"/>
              </a:solidFill>
              <a:latin typeface="Hind"/>
              <a:ea typeface="Hind"/>
              <a:cs typeface="Hind"/>
              <a:sym typeface="Hind"/>
            </a:endParaRPr>
          </a:p>
        </p:txBody>
      </p:sp>
      <p:pic>
        <p:nvPicPr>
          <p:cNvPr id="71" name="Google Shape;71;p15"/>
          <p:cNvPicPr preferRelativeResize="0"/>
          <p:nvPr/>
        </p:nvPicPr>
        <p:blipFill>
          <a:blip r:embed="rId5">
            <a:alphaModFix/>
          </a:blip>
          <a:stretch>
            <a:fillRect/>
          </a:stretch>
        </p:blipFill>
        <p:spPr>
          <a:xfrm>
            <a:off x="5702925" y="357888"/>
            <a:ext cx="3125299" cy="4167076"/>
          </a:xfrm>
          <a:prstGeom prst="rect">
            <a:avLst/>
          </a:prstGeom>
          <a:noFill/>
          <a:ln>
            <a:noFill/>
          </a:ln>
        </p:spPr>
      </p:pic>
      <p:sp>
        <p:nvSpPr>
          <p:cNvPr id="72" name="Google Shape;72;p15"/>
          <p:cNvSpPr txBox="1"/>
          <p:nvPr/>
        </p:nvSpPr>
        <p:spPr>
          <a:xfrm>
            <a:off x="6500200" y="4492675"/>
            <a:ext cx="2223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2"/>
                </a:solidFill>
                <a:latin typeface="Helvetica Neue"/>
                <a:ea typeface="Helvetica Neue"/>
                <a:cs typeface="Helvetica Neue"/>
                <a:sym typeface="Helvetica Neue"/>
              </a:rPr>
              <a:t>Subteam UTea trip!</a:t>
            </a:r>
            <a:endParaRPr i="1">
              <a:solidFill>
                <a:schemeClr val="dk2"/>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600">
                <a:solidFill>
                  <a:srgbClr val="613CB0"/>
                </a:solidFill>
                <a:latin typeface="Hind"/>
                <a:ea typeface="Hind"/>
                <a:cs typeface="Hind"/>
                <a:sym typeface="Hind"/>
              </a:rPr>
              <a:t>Agenda</a:t>
            </a:r>
            <a:endParaRPr i="0" sz="2600" u="none" cap="none" strike="noStrike">
              <a:solidFill>
                <a:srgbClr val="613CB0"/>
              </a:solidFill>
              <a:latin typeface="Hind"/>
              <a:ea typeface="Hind"/>
              <a:cs typeface="Hind"/>
              <a:sym typeface="Hind"/>
            </a:endParaRPr>
          </a:p>
        </p:txBody>
      </p:sp>
      <p:sp>
        <p:nvSpPr>
          <p:cNvPr id="78" name="Google Shape;7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Arial"/>
              <a:buAutoNum type="arabicPeriod"/>
            </a:pPr>
            <a:r>
              <a:rPr b="1" lang="en">
                <a:latin typeface="Helvetica Neue"/>
                <a:ea typeface="Helvetica Neue"/>
                <a:cs typeface="Helvetica Neue"/>
                <a:sym typeface="Helvetica Neue"/>
              </a:rPr>
              <a:t>What is a Classifier?</a:t>
            </a:r>
            <a:endParaRPr sz="2000"/>
          </a:p>
          <a:p>
            <a:pPr indent="-355600" lvl="0" marL="457200" rtl="0" algn="l">
              <a:lnSpc>
                <a:spcPct val="115000"/>
              </a:lnSpc>
              <a:spcBef>
                <a:spcPts val="0"/>
              </a:spcBef>
              <a:spcAft>
                <a:spcPts val="0"/>
              </a:spcAft>
              <a:buSzPts val="2000"/>
              <a:buFont typeface="Arial"/>
              <a:buAutoNum type="arabicPeriod"/>
            </a:pPr>
            <a:r>
              <a:rPr b="1" lang="en">
                <a:latin typeface="Helvetica Neue"/>
                <a:ea typeface="Helvetica Neue"/>
                <a:cs typeface="Helvetica Neue"/>
                <a:sym typeface="Helvetica Neue"/>
              </a:rPr>
              <a:t>K-Nearest Neighbors Classifier</a:t>
            </a:r>
            <a:endParaRPr sz="2000"/>
          </a:p>
          <a:p>
            <a:pPr indent="-355600" lvl="0" marL="457200" rtl="0" algn="l">
              <a:lnSpc>
                <a:spcPct val="115000"/>
              </a:lnSpc>
              <a:spcBef>
                <a:spcPts val="0"/>
              </a:spcBef>
              <a:spcAft>
                <a:spcPts val="0"/>
              </a:spcAft>
              <a:buSzPts val="2000"/>
              <a:buFont typeface="Arial"/>
              <a:buAutoNum type="arabicPeriod"/>
            </a:pPr>
            <a:r>
              <a:rPr b="1" lang="en">
                <a:latin typeface="Helvetica Neue"/>
                <a:ea typeface="Helvetica Neue"/>
                <a:cs typeface="Helvetica Neue"/>
                <a:sym typeface="Helvetica Neue"/>
              </a:rPr>
              <a:t>Review of Underfitting v. Overfitting</a:t>
            </a:r>
            <a:endParaRPr sz="2000"/>
          </a:p>
          <a:p>
            <a:pPr indent="-355600" lvl="0" marL="457200" rtl="0" algn="l">
              <a:lnSpc>
                <a:spcPct val="115000"/>
              </a:lnSpc>
              <a:spcBef>
                <a:spcPts val="0"/>
              </a:spcBef>
              <a:spcAft>
                <a:spcPts val="0"/>
              </a:spcAft>
              <a:buSzPts val="2000"/>
              <a:buFont typeface="Arial"/>
              <a:buAutoNum type="arabicPeriod"/>
            </a:pPr>
            <a:r>
              <a:rPr b="1" lang="en">
                <a:latin typeface="Helvetica Neue"/>
                <a:ea typeface="Helvetica Neue"/>
                <a:cs typeface="Helvetica Neue"/>
                <a:sym typeface="Helvetica Neue"/>
              </a:rPr>
              <a:t>Confusion Matrices</a:t>
            </a:r>
            <a:endParaRPr>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p:nvPr/>
        </p:nvSpPr>
        <p:spPr>
          <a:xfrm>
            <a:off x="1922228" y="2134107"/>
            <a:ext cx="5299500" cy="7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613CB0"/>
                </a:solidFill>
                <a:latin typeface="Hind"/>
                <a:ea typeface="Hind"/>
                <a:cs typeface="Hind"/>
                <a:sym typeface="Hind"/>
              </a:rPr>
              <a:t>What are Classifiers?</a:t>
            </a:r>
            <a:endParaRPr b="0" i="0" sz="4000" u="none" cap="none" strike="noStrike">
              <a:solidFill>
                <a:srgbClr val="613CB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are Classifiers?</a:t>
            </a:r>
            <a:endParaRPr i="0" sz="2400" u="none" cap="none" strike="noStrike">
              <a:solidFill>
                <a:srgbClr val="613CB0"/>
              </a:solidFill>
              <a:latin typeface="Hind"/>
              <a:ea typeface="Hind"/>
              <a:cs typeface="Hind"/>
              <a:sym typeface="Hind"/>
            </a:endParaRPr>
          </a:p>
        </p:txBody>
      </p:sp>
      <p:sp>
        <p:nvSpPr>
          <p:cNvPr id="89" name="Google Shape;89;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 sz="2200">
                <a:latin typeface="Helvetica Neue"/>
                <a:ea typeface="Helvetica Neue"/>
                <a:cs typeface="Helvetica Neue"/>
                <a:sym typeface="Helvetica Neue"/>
              </a:rPr>
              <a:t>Classifiers are able to help answer questions like…</a:t>
            </a:r>
            <a:endParaRPr>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2200">
                <a:latin typeface="Helvetica Neue"/>
                <a:ea typeface="Helvetica Neue"/>
                <a:cs typeface="Helvetica Neue"/>
                <a:sym typeface="Helvetica Neue"/>
              </a:rPr>
              <a:t>“What species is this?” </a:t>
            </a:r>
            <a:endParaRPr>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2200">
                <a:latin typeface="Helvetica Neue"/>
                <a:ea typeface="Helvetica Neue"/>
                <a:cs typeface="Helvetica Neue"/>
                <a:sym typeface="Helvetica Neue"/>
              </a:rPr>
              <a:t>“What major is a student in based on their classes?”</a:t>
            </a:r>
            <a:endParaRPr>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2200">
                <a:latin typeface="Helvetica Neue"/>
                <a:ea typeface="Helvetica Neue"/>
                <a:cs typeface="Helvetica Neue"/>
                <a:sym typeface="Helvetica Neue"/>
              </a:rPr>
              <a:t>“Which Hogwarts House do I belong to?”</a:t>
            </a:r>
            <a:endParaRPr>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2200">
                <a:latin typeface="Helvetica Neue"/>
                <a:ea typeface="Helvetica Neue"/>
                <a:cs typeface="Helvetica Neue"/>
                <a:sym typeface="Helvetica Neue"/>
              </a:rPr>
              <a:t>“Am I going to pass this class?”</a:t>
            </a:r>
            <a:endParaRPr>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What are Classifiers?</a:t>
            </a:r>
            <a:endParaRPr i="0" sz="2400" u="none" cap="none" strike="noStrike">
              <a:solidFill>
                <a:srgbClr val="613CB0"/>
              </a:solidFill>
              <a:latin typeface="Hind"/>
              <a:ea typeface="Hind"/>
              <a:cs typeface="Hind"/>
              <a:sym typeface="Hind"/>
            </a:endParaRPr>
          </a:p>
        </p:txBody>
      </p:sp>
      <p:sp>
        <p:nvSpPr>
          <p:cNvPr id="95" name="Google Shape;95;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Arial"/>
              <a:buChar char="●"/>
            </a:pPr>
            <a:r>
              <a:rPr lang="en" sz="2200">
                <a:latin typeface="Helvetica Neue"/>
                <a:ea typeface="Helvetica Neue"/>
                <a:cs typeface="Helvetica Neue"/>
                <a:sym typeface="Helvetica Neue"/>
              </a:rPr>
              <a:t>Classifiers predict the class/category of a set of data points</a:t>
            </a:r>
            <a:r>
              <a:rPr lang="en"/>
              <a:t>. </a:t>
            </a:r>
            <a:r>
              <a:rPr lang="en" sz="2200">
                <a:latin typeface="Helvetica Neue"/>
                <a:ea typeface="Helvetica Neue"/>
                <a:cs typeface="Helvetica Neue"/>
                <a:sym typeface="Helvetica Neue"/>
              </a:rPr>
              <a:t>This class/category is based off of the target variable we are looking at.</a:t>
            </a:r>
            <a:endParaRPr sz="2200">
              <a:latin typeface="Helvetica Neue"/>
              <a:ea typeface="Helvetica Neue"/>
              <a:cs typeface="Helvetica Neue"/>
              <a:sym typeface="Helvetica Neue"/>
            </a:endParaRPr>
          </a:p>
          <a:p>
            <a:pPr indent="0" lvl="0" marL="457200" marR="0" rtl="0" algn="l">
              <a:lnSpc>
                <a:spcPct val="115000"/>
              </a:lnSpc>
              <a:spcBef>
                <a:spcPts val="0"/>
              </a:spcBef>
              <a:spcAft>
                <a:spcPts val="0"/>
              </a:spcAft>
              <a:buSzPts val="1800"/>
              <a:buNone/>
            </a:pPr>
            <a:r>
              <a:t/>
            </a:r>
            <a:endParaRPr sz="2200">
              <a:latin typeface="Helvetica Neue"/>
              <a:ea typeface="Helvetica Neue"/>
              <a:cs typeface="Helvetica Neue"/>
              <a:sym typeface="Helvetica Neue"/>
            </a:endParaRPr>
          </a:p>
          <a:p>
            <a:pPr indent="-342900" lvl="0" marL="457200" marR="0" rtl="0" algn="l">
              <a:lnSpc>
                <a:spcPct val="115000"/>
              </a:lnSpc>
              <a:spcBef>
                <a:spcPts val="0"/>
              </a:spcBef>
              <a:spcAft>
                <a:spcPts val="0"/>
              </a:spcAft>
              <a:buClr>
                <a:schemeClr val="dk2"/>
              </a:buClr>
              <a:buSzPts val="1800"/>
              <a:buFont typeface="Arial"/>
              <a:buChar char="●"/>
            </a:pPr>
            <a:r>
              <a:rPr lang="en" sz="2200">
                <a:latin typeface="Helvetica Neue"/>
                <a:ea typeface="Helvetica Neue"/>
                <a:cs typeface="Helvetica Neue"/>
                <a:sym typeface="Helvetica Neue"/>
              </a:rPr>
              <a:t>Difference between linear regression and classifiers</a:t>
            </a:r>
            <a:endParaRPr/>
          </a:p>
          <a:p>
            <a:pPr indent="-317500" lvl="1" marL="914400" rtl="0" algn="l">
              <a:lnSpc>
                <a:spcPct val="115000"/>
              </a:lnSpc>
              <a:spcBef>
                <a:spcPts val="0"/>
              </a:spcBef>
              <a:spcAft>
                <a:spcPts val="0"/>
              </a:spcAft>
              <a:buSzPts val="1400"/>
              <a:buChar char="○"/>
            </a:pPr>
            <a:r>
              <a:rPr lang="en" sz="1800">
                <a:latin typeface="Helvetica Neue"/>
                <a:ea typeface="Helvetica Neue"/>
                <a:cs typeface="Helvetica Neue"/>
                <a:sym typeface="Helvetica Neue"/>
              </a:rPr>
              <a:t>Linear regression is used to predict the value of a </a:t>
            </a:r>
            <a:r>
              <a:rPr b="1" lang="en" sz="1800">
                <a:latin typeface="Helvetica Neue"/>
                <a:ea typeface="Helvetica Neue"/>
                <a:cs typeface="Helvetica Neue"/>
                <a:sym typeface="Helvetica Neue"/>
              </a:rPr>
              <a:t>continuous variable</a:t>
            </a:r>
            <a:endParaRPr/>
          </a:p>
          <a:p>
            <a:pPr indent="-317500" lvl="1" marL="914400" rtl="0" algn="l">
              <a:lnSpc>
                <a:spcPct val="115000"/>
              </a:lnSpc>
              <a:spcBef>
                <a:spcPts val="0"/>
              </a:spcBef>
              <a:spcAft>
                <a:spcPts val="0"/>
              </a:spcAft>
              <a:buSzPts val="1400"/>
              <a:buChar char="○"/>
            </a:pPr>
            <a:r>
              <a:rPr lang="en" sz="1800">
                <a:latin typeface="Helvetica Neue"/>
                <a:ea typeface="Helvetica Neue"/>
                <a:cs typeface="Helvetica Neue"/>
                <a:sym typeface="Helvetica Neue"/>
              </a:rPr>
              <a:t>Classifiers are used to predict </a:t>
            </a:r>
            <a:r>
              <a:rPr b="1" lang="en" sz="1800">
                <a:latin typeface="Helvetica Neue"/>
                <a:ea typeface="Helvetica Neue"/>
                <a:cs typeface="Helvetica Neue"/>
                <a:sym typeface="Helvetica Neue"/>
              </a:rPr>
              <a:t>categorical or binary variables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p:nvPr/>
        </p:nvSpPr>
        <p:spPr>
          <a:xfrm>
            <a:off x="1922228" y="1910030"/>
            <a:ext cx="5299500" cy="1323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613CB0"/>
                </a:solidFill>
                <a:latin typeface="Hind"/>
                <a:ea typeface="Hind"/>
                <a:cs typeface="Hind"/>
                <a:sym typeface="Hind"/>
              </a:rPr>
              <a:t>K-Nearest Neighbors Classifier</a:t>
            </a:r>
            <a:endParaRPr b="0" i="0" sz="4000" u="none" cap="none" strike="noStrike">
              <a:solidFill>
                <a:srgbClr val="613CB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What is the KNN Classifier?</a:t>
            </a:r>
            <a:endParaRPr i="0" sz="2400" u="none" cap="none" strike="noStrike">
              <a:solidFill>
                <a:srgbClr val="613CB0"/>
              </a:solidFill>
              <a:latin typeface="Hind"/>
              <a:ea typeface="Hind"/>
              <a:cs typeface="Hind"/>
              <a:sym typeface="Hind"/>
            </a:endParaRPr>
          </a:p>
        </p:txBody>
      </p:sp>
      <p:sp>
        <p:nvSpPr>
          <p:cNvPr id="106" name="Google Shape;106;p21"/>
          <p:cNvSpPr txBox="1"/>
          <p:nvPr>
            <p:ph idx="1" type="body"/>
          </p:nvPr>
        </p:nvSpPr>
        <p:spPr>
          <a:xfrm>
            <a:off x="311700" y="1152475"/>
            <a:ext cx="44991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Arial"/>
              <a:buChar char="●"/>
            </a:pPr>
            <a:r>
              <a:rPr lang="en" sz="2200">
                <a:latin typeface="Helvetica Neue"/>
                <a:ea typeface="Helvetica Neue"/>
                <a:cs typeface="Helvetica Neue"/>
                <a:sym typeface="Helvetica Neue"/>
              </a:rPr>
              <a:t>Lazy learner classifier</a:t>
            </a:r>
            <a:endParaRPr/>
          </a:p>
          <a:p>
            <a:pPr indent="-342900" lvl="0" marL="457200" marR="0" rtl="0" algn="l">
              <a:lnSpc>
                <a:spcPct val="115000"/>
              </a:lnSpc>
              <a:spcBef>
                <a:spcPts val="0"/>
              </a:spcBef>
              <a:spcAft>
                <a:spcPts val="0"/>
              </a:spcAft>
              <a:buClr>
                <a:schemeClr val="dk2"/>
              </a:buClr>
              <a:buSzPts val="1800"/>
              <a:buFont typeface="Arial"/>
              <a:buChar char="●"/>
            </a:pPr>
            <a:r>
              <a:rPr lang="en" sz="2200">
                <a:latin typeface="Helvetica Neue"/>
                <a:ea typeface="Helvetica Neue"/>
                <a:cs typeface="Helvetica Neue"/>
                <a:sym typeface="Helvetica Neue"/>
              </a:rPr>
              <a:t>Easy to interpret</a:t>
            </a:r>
            <a:endParaRPr/>
          </a:p>
          <a:p>
            <a:pPr indent="-342900" lvl="0" marL="457200" marR="0" rtl="0" algn="l">
              <a:lnSpc>
                <a:spcPct val="115000"/>
              </a:lnSpc>
              <a:spcBef>
                <a:spcPts val="0"/>
              </a:spcBef>
              <a:spcAft>
                <a:spcPts val="0"/>
              </a:spcAft>
              <a:buClr>
                <a:schemeClr val="dk2"/>
              </a:buClr>
              <a:buSzPts val="1800"/>
              <a:buFont typeface="Arial"/>
              <a:buChar char="●"/>
            </a:pPr>
            <a:r>
              <a:rPr lang="en" sz="2200">
                <a:latin typeface="Helvetica Neue"/>
                <a:ea typeface="Helvetica Neue"/>
                <a:cs typeface="Helvetica Neue"/>
                <a:sym typeface="Helvetica Neue"/>
              </a:rPr>
              <a:t>Fast to calculate</a:t>
            </a:r>
            <a:endParaRPr/>
          </a:p>
          <a:p>
            <a:pPr indent="-342900" lvl="0" marL="457200" marR="0" rtl="0" algn="l">
              <a:lnSpc>
                <a:spcPct val="115000"/>
              </a:lnSpc>
              <a:spcBef>
                <a:spcPts val="0"/>
              </a:spcBef>
              <a:spcAft>
                <a:spcPts val="0"/>
              </a:spcAft>
              <a:buClr>
                <a:schemeClr val="dk2"/>
              </a:buClr>
              <a:buSzPts val="1800"/>
              <a:buFont typeface="Arial"/>
              <a:buChar char="●"/>
            </a:pPr>
            <a:r>
              <a:rPr lang="en" sz="2200">
                <a:latin typeface="Helvetica Neue"/>
                <a:ea typeface="Helvetica Neue"/>
                <a:cs typeface="Helvetica Neue"/>
                <a:sym typeface="Helvetica Neue"/>
              </a:rPr>
              <a:t>Good for coarse analysis</a:t>
            </a:r>
            <a:endParaRPr/>
          </a:p>
        </p:txBody>
      </p:sp>
      <p:pic>
        <p:nvPicPr>
          <p:cNvPr id="107" name="Google Shape;107;p21"/>
          <p:cNvPicPr preferRelativeResize="0"/>
          <p:nvPr/>
        </p:nvPicPr>
        <p:blipFill rotWithShape="1">
          <a:blip r:embed="rId3">
            <a:alphaModFix/>
          </a:blip>
          <a:srcRect b="0" l="0" r="0" t="0"/>
          <a:stretch/>
        </p:blipFill>
        <p:spPr>
          <a:xfrm>
            <a:off x="5127236" y="287313"/>
            <a:ext cx="3458790" cy="4568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a:t>
            </a:r>
            <a:endParaRPr i="0" sz="2400" u="none" cap="none" strike="noStrike">
              <a:solidFill>
                <a:srgbClr val="613CB0"/>
              </a:solidFill>
              <a:latin typeface="Hind"/>
              <a:ea typeface="Hind"/>
              <a:cs typeface="Hind"/>
              <a:sym typeface="Hind"/>
            </a:endParaRPr>
          </a:p>
        </p:txBody>
      </p:sp>
      <p:sp>
        <p:nvSpPr>
          <p:cNvPr id="113" name="Google Shape;113;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Clr>
                <a:schemeClr val="dk1"/>
              </a:buClr>
              <a:buSzPts val="1800"/>
              <a:buFont typeface="Arial"/>
              <a:buNone/>
            </a:pPr>
            <a:r>
              <a:rPr lang="en" sz="2200">
                <a:latin typeface="Helvetica Neue"/>
                <a:ea typeface="Helvetica Neue"/>
                <a:cs typeface="Helvetica Neue"/>
                <a:sym typeface="Helvetica Neue"/>
              </a:rPr>
              <a:t>Uses the k (a user specified value) nearest data points to predict the unknown one</a:t>
            </a:r>
            <a:endParaRPr sz="22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sz="22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2200">
                <a:latin typeface="Helvetica Neue"/>
                <a:ea typeface="Helvetica Neue"/>
                <a:cs typeface="Helvetica Neue"/>
                <a:sym typeface="Helvetica Neue"/>
              </a:rPr>
              <a:t>A simple assumption: the values </a:t>
            </a:r>
            <a:r>
              <a:rPr b="1" lang="en" sz="2200">
                <a:latin typeface="Helvetica Neue"/>
                <a:ea typeface="Helvetica Neue"/>
                <a:cs typeface="Helvetica Neue"/>
                <a:sym typeface="Helvetica Neue"/>
              </a:rPr>
              <a:t>nearest</a:t>
            </a:r>
            <a:r>
              <a:rPr lang="en" sz="2200">
                <a:latin typeface="Helvetica Neue"/>
                <a:ea typeface="Helvetica Neue"/>
                <a:cs typeface="Helvetica Neue"/>
                <a:sym typeface="Helvetica Neue"/>
              </a:rPr>
              <a:t> to a data point are </a:t>
            </a:r>
            <a:r>
              <a:rPr b="1" lang="en" sz="2200">
                <a:latin typeface="Helvetica Neue"/>
                <a:ea typeface="Helvetica Neue"/>
                <a:cs typeface="Helvetica Neue"/>
                <a:sym typeface="Helvetica Neue"/>
              </a:rPr>
              <a:t>similar</a:t>
            </a:r>
            <a:r>
              <a:rPr lang="en" sz="2200">
                <a:latin typeface="Helvetica Neue"/>
                <a:ea typeface="Helvetica Neue"/>
                <a:cs typeface="Helvetica Neue"/>
                <a:sym typeface="Helvetica Neue"/>
              </a:rPr>
              <a:t> to it</a:t>
            </a:r>
            <a:endParaRPr sz="2200">
              <a:latin typeface="Helvetica Neue"/>
              <a:ea typeface="Helvetica Neue"/>
              <a:cs typeface="Helvetica Neue"/>
              <a:sym typeface="Helvetica Neue"/>
            </a:endParaRPr>
          </a:p>
          <a:p>
            <a:pPr indent="-323850" lvl="0" marL="457200" rtl="0" algn="l">
              <a:lnSpc>
                <a:spcPct val="115000"/>
              </a:lnSpc>
              <a:spcBef>
                <a:spcPts val="0"/>
              </a:spcBef>
              <a:spcAft>
                <a:spcPts val="0"/>
              </a:spcAft>
              <a:buSzPts val="1500"/>
              <a:buFont typeface="Helvetica Neue"/>
              <a:buChar char="●"/>
            </a:pPr>
            <a:r>
              <a:rPr lang="en" sz="2200">
                <a:latin typeface="Helvetica Neue"/>
                <a:ea typeface="Helvetica Neue"/>
                <a:cs typeface="Helvetica Neue"/>
                <a:sym typeface="Helvetica Neue"/>
              </a:rPr>
              <a:t>k is a </a:t>
            </a:r>
            <a:r>
              <a:rPr b="1" lang="en" sz="2200">
                <a:latin typeface="Helvetica Neue"/>
                <a:ea typeface="Helvetica Neue"/>
                <a:cs typeface="Helvetica Neue"/>
                <a:sym typeface="Helvetica Neue"/>
              </a:rPr>
              <a:t>hyperparameter </a:t>
            </a:r>
            <a:r>
              <a:rPr lang="en" sz="2200">
                <a:latin typeface="Helvetica Neue"/>
                <a:ea typeface="Helvetica Neue"/>
                <a:cs typeface="Helvetica Neue"/>
                <a:sym typeface="Helvetica Neue"/>
              </a:rPr>
              <a:t>of the KNN model</a:t>
            </a:r>
            <a:endParaRPr sz="2200">
              <a:latin typeface="Helvetica Neue"/>
              <a:ea typeface="Helvetica Neue"/>
              <a:cs typeface="Helvetica Neue"/>
              <a:sym typeface="Helvetica Neue"/>
            </a:endParaRPr>
          </a:p>
          <a:p>
            <a:pPr indent="-368300" lvl="1" marL="914400" rtl="0" algn="l">
              <a:lnSpc>
                <a:spcPct val="115000"/>
              </a:lnSpc>
              <a:spcBef>
                <a:spcPts val="0"/>
              </a:spcBef>
              <a:spcAft>
                <a:spcPts val="0"/>
              </a:spcAft>
              <a:buSzPts val="2200"/>
              <a:buFont typeface="Helvetica Neue"/>
              <a:buChar char="○"/>
            </a:pPr>
            <a:r>
              <a:rPr lang="en" sz="2200">
                <a:latin typeface="Helvetica Neue"/>
                <a:ea typeface="Helvetica Neue"/>
                <a:cs typeface="Helvetica Neue"/>
                <a:sym typeface="Helvetica Neue"/>
              </a:rPr>
              <a:t>a parameter which affects the training process</a:t>
            </a:r>
            <a:endParaRPr sz="2200">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a:t>
            </a:r>
            <a:endParaRPr i="0" sz="2400" u="none" cap="none" strike="noStrike">
              <a:solidFill>
                <a:srgbClr val="613CB0"/>
              </a:solidFill>
              <a:latin typeface="Hind"/>
              <a:ea typeface="Hind"/>
              <a:cs typeface="Hind"/>
              <a:sym typeface="Hind"/>
            </a:endParaRPr>
          </a:p>
        </p:txBody>
      </p:sp>
      <p:sp>
        <p:nvSpPr>
          <p:cNvPr id="119" name="Google Shape;119;p23"/>
          <p:cNvSpPr/>
          <p:nvPr/>
        </p:nvSpPr>
        <p:spPr>
          <a:xfrm>
            <a:off x="1064102" y="1744222"/>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20" name="Google Shape;120;p23"/>
          <p:cNvSpPr/>
          <p:nvPr/>
        </p:nvSpPr>
        <p:spPr>
          <a:xfrm>
            <a:off x="2274073" y="2827084"/>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21" name="Google Shape;121;p23"/>
          <p:cNvSpPr/>
          <p:nvPr/>
        </p:nvSpPr>
        <p:spPr>
          <a:xfrm>
            <a:off x="4692642" y="2336990"/>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22" name="Google Shape;122;p23"/>
          <p:cNvSpPr/>
          <p:nvPr/>
        </p:nvSpPr>
        <p:spPr>
          <a:xfrm>
            <a:off x="3727788" y="3018429"/>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23" name="Google Shape;123;p23"/>
          <p:cNvSpPr/>
          <p:nvPr/>
        </p:nvSpPr>
        <p:spPr>
          <a:xfrm>
            <a:off x="4069695" y="4293509"/>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24" name="Google Shape;124;p23"/>
          <p:cNvSpPr/>
          <p:nvPr/>
        </p:nvSpPr>
        <p:spPr>
          <a:xfrm>
            <a:off x="1472907" y="3803415"/>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25" name="Google Shape;125;p23"/>
          <p:cNvSpPr/>
          <p:nvPr/>
        </p:nvSpPr>
        <p:spPr>
          <a:xfrm>
            <a:off x="3167884" y="1744222"/>
            <a:ext cx="502200" cy="490200"/>
          </a:xfrm>
          <a:prstGeom prst="ellipse">
            <a:avLst/>
          </a:prstGeom>
          <a:solidFill>
            <a:srgbClr val="B2B2B2"/>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t>
            </a:r>
            <a:endParaRPr b="0" i="0" sz="1400" u="none" cap="none" strike="noStrike">
              <a:solidFill>
                <a:schemeClr val="lt1"/>
              </a:solidFill>
              <a:latin typeface="Arial"/>
              <a:ea typeface="Arial"/>
              <a:cs typeface="Arial"/>
              <a:sym typeface="Arial"/>
            </a:endParaRPr>
          </a:p>
        </p:txBody>
      </p:sp>
      <p:sp>
        <p:nvSpPr>
          <p:cNvPr id="126" name="Google Shape;126;p23"/>
          <p:cNvSpPr/>
          <p:nvPr/>
        </p:nvSpPr>
        <p:spPr>
          <a:xfrm>
            <a:off x="6164178" y="772678"/>
            <a:ext cx="502200" cy="490200"/>
          </a:xfrm>
          <a:prstGeom prst="ellipse">
            <a:avLst/>
          </a:prstGeom>
          <a:solidFill>
            <a:srgbClr val="D5A6BD"/>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B</a:t>
            </a:r>
            <a:endParaRPr b="0" i="0" sz="1400" u="none" cap="none" strike="noStrike">
              <a:solidFill>
                <a:schemeClr val="lt1"/>
              </a:solidFill>
              <a:latin typeface="Arial"/>
              <a:ea typeface="Arial"/>
              <a:cs typeface="Arial"/>
              <a:sym typeface="Arial"/>
            </a:endParaRPr>
          </a:p>
        </p:txBody>
      </p:sp>
      <p:sp>
        <p:nvSpPr>
          <p:cNvPr id="127" name="Google Shape;127;p23"/>
          <p:cNvSpPr/>
          <p:nvPr/>
        </p:nvSpPr>
        <p:spPr>
          <a:xfrm>
            <a:off x="7301995" y="3263476"/>
            <a:ext cx="502200" cy="490200"/>
          </a:xfrm>
          <a:prstGeom prst="ellipse">
            <a:avLst/>
          </a:prstGeom>
          <a:solidFill>
            <a:srgbClr val="D5A6BD"/>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B</a:t>
            </a:r>
            <a:endParaRPr b="0" i="0" sz="1400" u="none" cap="none" strike="noStrike">
              <a:solidFill>
                <a:schemeClr val="lt1"/>
              </a:solidFill>
              <a:latin typeface="Arial"/>
              <a:ea typeface="Arial"/>
              <a:cs typeface="Arial"/>
              <a:sym typeface="Arial"/>
            </a:endParaRPr>
          </a:p>
        </p:txBody>
      </p:sp>
      <p:sp>
        <p:nvSpPr>
          <p:cNvPr id="128" name="Google Shape;128;p23"/>
          <p:cNvSpPr/>
          <p:nvPr/>
        </p:nvSpPr>
        <p:spPr>
          <a:xfrm>
            <a:off x="5345975" y="3313321"/>
            <a:ext cx="502200" cy="490200"/>
          </a:xfrm>
          <a:prstGeom prst="ellipse">
            <a:avLst/>
          </a:prstGeom>
          <a:solidFill>
            <a:srgbClr val="D5A6BD"/>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B</a:t>
            </a:r>
            <a:endParaRPr b="0" i="0" sz="1400" u="none" cap="none" strike="noStrike">
              <a:solidFill>
                <a:schemeClr val="lt1"/>
              </a:solidFill>
              <a:latin typeface="Arial"/>
              <a:ea typeface="Arial"/>
              <a:cs typeface="Arial"/>
              <a:sym typeface="Arial"/>
            </a:endParaRPr>
          </a:p>
        </p:txBody>
      </p:sp>
      <p:sp>
        <p:nvSpPr>
          <p:cNvPr id="129" name="Google Shape;129;p23"/>
          <p:cNvSpPr/>
          <p:nvPr/>
        </p:nvSpPr>
        <p:spPr>
          <a:xfrm>
            <a:off x="8309703" y="2336990"/>
            <a:ext cx="502200" cy="490200"/>
          </a:xfrm>
          <a:prstGeom prst="ellipse">
            <a:avLst/>
          </a:prstGeom>
          <a:solidFill>
            <a:srgbClr val="B4A7D6"/>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C</a:t>
            </a:r>
            <a:endParaRPr b="0" i="0" sz="1400" u="none" cap="none" strike="noStrike">
              <a:solidFill>
                <a:schemeClr val="lt1"/>
              </a:solidFill>
              <a:latin typeface="Arial"/>
              <a:ea typeface="Arial"/>
              <a:cs typeface="Arial"/>
              <a:sym typeface="Arial"/>
            </a:endParaRPr>
          </a:p>
        </p:txBody>
      </p:sp>
      <p:sp>
        <p:nvSpPr>
          <p:cNvPr id="130" name="Google Shape;130;p23"/>
          <p:cNvSpPr/>
          <p:nvPr/>
        </p:nvSpPr>
        <p:spPr>
          <a:xfrm>
            <a:off x="6666483" y="4296988"/>
            <a:ext cx="502200" cy="490200"/>
          </a:xfrm>
          <a:prstGeom prst="ellipse">
            <a:avLst/>
          </a:prstGeom>
          <a:solidFill>
            <a:srgbClr val="B4A7D6"/>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C</a:t>
            </a:r>
            <a:endParaRPr b="0" i="0" sz="1400" u="none" cap="none" strike="noStrike">
              <a:solidFill>
                <a:schemeClr val="lt1"/>
              </a:solidFill>
              <a:latin typeface="Arial"/>
              <a:ea typeface="Arial"/>
              <a:cs typeface="Arial"/>
              <a:sym typeface="Arial"/>
            </a:endParaRPr>
          </a:p>
        </p:txBody>
      </p:sp>
      <p:sp>
        <p:nvSpPr>
          <p:cNvPr id="131" name="Google Shape;131;p23"/>
          <p:cNvSpPr/>
          <p:nvPr/>
        </p:nvSpPr>
        <p:spPr>
          <a:xfrm>
            <a:off x="6501172" y="2044739"/>
            <a:ext cx="502200" cy="490200"/>
          </a:xfrm>
          <a:prstGeom prst="ellipse">
            <a:avLst/>
          </a:prstGeom>
          <a:solidFill>
            <a:srgbClr val="D5A6BD"/>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B</a:t>
            </a:r>
            <a:endParaRPr b="0" i="0" sz="1400" u="none" cap="none" strike="noStrike">
              <a:solidFill>
                <a:schemeClr val="lt1"/>
              </a:solidFill>
              <a:latin typeface="Arial"/>
              <a:ea typeface="Arial"/>
              <a:cs typeface="Arial"/>
              <a:sym typeface="Arial"/>
            </a:endParaRPr>
          </a:p>
        </p:txBody>
      </p:sp>
      <p:sp>
        <p:nvSpPr>
          <p:cNvPr id="132" name="Google Shape;132;p23"/>
          <p:cNvSpPr/>
          <p:nvPr/>
        </p:nvSpPr>
        <p:spPr>
          <a:xfrm>
            <a:off x="7553147" y="1389930"/>
            <a:ext cx="502200" cy="490200"/>
          </a:xfrm>
          <a:prstGeom prst="ellipse">
            <a:avLst/>
          </a:prstGeom>
          <a:solidFill>
            <a:srgbClr val="B4A7D6"/>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C</a:t>
            </a:r>
            <a:endParaRPr b="0" i="0" sz="1400" u="none" cap="none" strike="noStrike">
              <a:solidFill>
                <a:schemeClr val="lt1"/>
              </a:solidFill>
              <a:latin typeface="Arial"/>
              <a:ea typeface="Arial"/>
              <a:cs typeface="Arial"/>
              <a:sym typeface="Arial"/>
            </a:endParaRPr>
          </a:p>
        </p:txBody>
      </p:sp>
      <p:sp>
        <p:nvSpPr>
          <p:cNvPr id="133" name="Google Shape;133;p23"/>
          <p:cNvSpPr/>
          <p:nvPr/>
        </p:nvSpPr>
        <p:spPr>
          <a:xfrm>
            <a:off x="8430299" y="405108"/>
            <a:ext cx="502200" cy="490200"/>
          </a:xfrm>
          <a:prstGeom prst="ellipse">
            <a:avLst/>
          </a:prstGeom>
          <a:solidFill>
            <a:srgbClr val="B4A7D6"/>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C</a:t>
            </a:r>
            <a:endParaRPr b="0" i="0" sz="1400" u="none" cap="none" strike="noStrike">
              <a:solidFill>
                <a:schemeClr val="lt1"/>
              </a:solidFill>
              <a:latin typeface="Arial"/>
              <a:ea typeface="Arial"/>
              <a:cs typeface="Arial"/>
              <a:sym typeface="Arial"/>
            </a:endParaRPr>
          </a:p>
        </p:txBody>
      </p:sp>
      <p:sp>
        <p:nvSpPr>
          <p:cNvPr id="134" name="Google Shape;134;p23"/>
          <p:cNvSpPr/>
          <p:nvPr/>
        </p:nvSpPr>
        <p:spPr>
          <a:xfrm>
            <a:off x="2830616" y="4229862"/>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35" name="Google Shape;135;p23"/>
          <p:cNvSpPr/>
          <p:nvPr/>
        </p:nvSpPr>
        <p:spPr>
          <a:xfrm>
            <a:off x="465543" y="2778960"/>
            <a:ext cx="502200" cy="490200"/>
          </a:xfrm>
          <a:prstGeom prst="ellipse">
            <a:avLst/>
          </a:prstGeom>
          <a:solidFill>
            <a:srgbClr val="613CB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sp>
        <p:nvSpPr>
          <p:cNvPr id="136" name="Google Shape;136;p23"/>
          <p:cNvSpPr/>
          <p:nvPr/>
        </p:nvSpPr>
        <p:spPr>
          <a:xfrm rot="10800000">
            <a:off x="3684721" y="206031"/>
            <a:ext cx="1896900" cy="1435500"/>
          </a:xfrm>
          <a:prstGeom prst="teardrop">
            <a:avLst>
              <a:gd fmla="val 100000" name="adj"/>
            </a:avLst>
          </a:prstGeom>
          <a:solidFill>
            <a:srgbClr val="B2B2B2"/>
          </a:solidFill>
          <a:ln cap="flat" cmpd="sng" w="25400">
            <a:solidFill>
              <a:srgbClr val="9B9B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7" name="Google Shape;137;p23"/>
          <p:cNvSpPr/>
          <p:nvPr/>
        </p:nvSpPr>
        <p:spPr>
          <a:xfrm>
            <a:off x="3840480" y="537409"/>
            <a:ext cx="1726800" cy="138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Hind"/>
                <a:ea typeface="Hind"/>
                <a:cs typeface="Hind"/>
                <a:sym typeface="Hind"/>
              </a:rPr>
              <a:t>Most around me got an A, maybe I got an A as well then.</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 (Step-By-Step Example)</a:t>
            </a:r>
            <a:endParaRPr i="0" sz="2400" u="none" cap="none" strike="noStrike">
              <a:solidFill>
                <a:srgbClr val="613CB0"/>
              </a:solidFill>
              <a:latin typeface="Hind"/>
              <a:ea typeface="Hind"/>
              <a:cs typeface="Hind"/>
              <a:sym typeface="Hind"/>
            </a:endParaRPr>
          </a:p>
        </p:txBody>
      </p:sp>
      <p:sp>
        <p:nvSpPr>
          <p:cNvPr id="143" name="Google Shape;143;p24"/>
          <p:cNvSpPr/>
          <p:nvPr/>
        </p:nvSpPr>
        <p:spPr>
          <a:xfrm>
            <a:off x="311700" y="1296268"/>
            <a:ext cx="5379000" cy="677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Define </a:t>
            </a:r>
            <a:r>
              <a:rPr b="0" i="0" lang="en" sz="2400" u="none" cap="none" strike="noStrike">
                <a:solidFill>
                  <a:srgbClr val="595959"/>
                </a:solidFill>
                <a:latin typeface="Hind"/>
                <a:ea typeface="Hind"/>
                <a:cs typeface="Hind"/>
                <a:sym typeface="Hind"/>
              </a:rPr>
              <a:t>a </a:t>
            </a:r>
            <a:r>
              <a:rPr b="0" i="1" lang="en" sz="2400" u="none" cap="none" strike="noStrike">
                <a:solidFill>
                  <a:srgbClr val="595959"/>
                </a:solidFill>
                <a:latin typeface="Hind"/>
                <a:ea typeface="Hind"/>
                <a:cs typeface="Hind"/>
                <a:sym typeface="Hind"/>
              </a:rPr>
              <a:t>k</a:t>
            </a:r>
            <a:r>
              <a:rPr b="0" i="0" lang="en" sz="2400" u="none" cap="none" strike="noStrike">
                <a:solidFill>
                  <a:srgbClr val="595959"/>
                </a:solidFill>
                <a:latin typeface="Hind"/>
                <a:ea typeface="Hind"/>
                <a:cs typeface="Hind"/>
                <a:sym typeface="Hind"/>
              </a:rPr>
              <a:t> value (in this case k = 3)</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cxnSp>
        <p:nvCxnSpPr>
          <p:cNvPr id="144" name="Google Shape;144;p24"/>
          <p:cNvCxnSpPr/>
          <p:nvPr/>
        </p:nvCxnSpPr>
        <p:spPr>
          <a:xfrm>
            <a:off x="7307251" y="1089183"/>
            <a:ext cx="0" cy="30456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cxnSp>
        <p:nvCxnSpPr>
          <p:cNvPr id="145" name="Google Shape;145;p24"/>
          <p:cNvCxnSpPr/>
          <p:nvPr/>
        </p:nvCxnSpPr>
        <p:spPr>
          <a:xfrm>
            <a:off x="5573864" y="2588077"/>
            <a:ext cx="32583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sp>
        <p:nvSpPr>
          <p:cNvPr id="146" name="Google Shape;146;p24"/>
          <p:cNvSpPr/>
          <p:nvPr/>
        </p:nvSpPr>
        <p:spPr>
          <a:xfrm>
            <a:off x="6310158" y="170973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7" name="Google Shape;147;p24"/>
          <p:cNvSpPr/>
          <p:nvPr/>
        </p:nvSpPr>
        <p:spPr>
          <a:xfrm>
            <a:off x="6941442" y="214095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8" name="Google Shape;148;p24"/>
          <p:cNvSpPr/>
          <p:nvPr/>
        </p:nvSpPr>
        <p:spPr>
          <a:xfrm>
            <a:off x="6058848" y="2818980"/>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9" name="Google Shape;149;p24"/>
          <p:cNvSpPr/>
          <p:nvPr/>
        </p:nvSpPr>
        <p:spPr>
          <a:xfrm>
            <a:off x="7883032" y="294925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0" name="Google Shape;150;p24"/>
          <p:cNvSpPr/>
          <p:nvPr/>
        </p:nvSpPr>
        <p:spPr>
          <a:xfrm>
            <a:off x="8543581" y="305704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1" name="Google Shape;151;p24"/>
          <p:cNvSpPr/>
          <p:nvPr/>
        </p:nvSpPr>
        <p:spPr>
          <a:xfrm>
            <a:off x="7958456" y="373931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 (Step-By-Step Example)</a:t>
            </a:r>
            <a:endParaRPr i="0" sz="2400" u="none" cap="none" strike="noStrike">
              <a:solidFill>
                <a:srgbClr val="613CB0"/>
              </a:solidFill>
              <a:latin typeface="Hind"/>
              <a:ea typeface="Hind"/>
              <a:cs typeface="Hind"/>
              <a:sym typeface="Hind"/>
            </a:endParaRPr>
          </a:p>
        </p:txBody>
      </p:sp>
      <p:sp>
        <p:nvSpPr>
          <p:cNvPr id="157" name="Google Shape;157;p25"/>
          <p:cNvSpPr/>
          <p:nvPr/>
        </p:nvSpPr>
        <p:spPr>
          <a:xfrm>
            <a:off x="311700" y="1296268"/>
            <a:ext cx="5379000" cy="117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Define </a:t>
            </a:r>
            <a:r>
              <a:rPr b="0" i="0" lang="en" sz="2400" u="none" cap="none" strike="noStrike">
                <a:solidFill>
                  <a:srgbClr val="595959"/>
                </a:solidFill>
                <a:latin typeface="Hind"/>
                <a:ea typeface="Hind"/>
                <a:cs typeface="Hind"/>
                <a:sym typeface="Hind"/>
              </a:rPr>
              <a:t>a </a:t>
            </a:r>
            <a:r>
              <a:rPr b="0" i="1" lang="en" sz="2400" u="none" cap="none" strike="noStrike">
                <a:solidFill>
                  <a:srgbClr val="595959"/>
                </a:solidFill>
                <a:latin typeface="Hind"/>
                <a:ea typeface="Hind"/>
                <a:cs typeface="Hind"/>
                <a:sym typeface="Hind"/>
              </a:rPr>
              <a:t>k</a:t>
            </a:r>
            <a:r>
              <a:rPr b="0" i="0" lang="en" sz="2400" u="none" cap="none" strike="noStrike">
                <a:solidFill>
                  <a:srgbClr val="595959"/>
                </a:solidFill>
                <a:latin typeface="Hind"/>
                <a:ea typeface="Hind"/>
                <a:cs typeface="Hind"/>
                <a:sym typeface="Hind"/>
              </a:rPr>
              <a:t> value (in this case k = 3)</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Pick</a:t>
            </a:r>
            <a:r>
              <a:rPr b="0" i="0" lang="en" sz="2400" u="none" cap="none" strike="noStrike">
                <a:solidFill>
                  <a:srgbClr val="595959"/>
                </a:solidFill>
                <a:latin typeface="Hind"/>
                <a:ea typeface="Hind"/>
                <a:cs typeface="Hind"/>
                <a:sym typeface="Hind"/>
              </a:rPr>
              <a:t> a point to predict (blue diamond)</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cxnSp>
        <p:nvCxnSpPr>
          <p:cNvPr id="158" name="Google Shape;158;p25"/>
          <p:cNvCxnSpPr/>
          <p:nvPr/>
        </p:nvCxnSpPr>
        <p:spPr>
          <a:xfrm>
            <a:off x="7307251" y="1089183"/>
            <a:ext cx="0" cy="30456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cxnSp>
        <p:nvCxnSpPr>
          <p:cNvPr id="159" name="Google Shape;159;p25"/>
          <p:cNvCxnSpPr/>
          <p:nvPr/>
        </p:nvCxnSpPr>
        <p:spPr>
          <a:xfrm>
            <a:off x="5573864" y="2588077"/>
            <a:ext cx="32583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sp>
        <p:nvSpPr>
          <p:cNvPr id="160" name="Google Shape;160;p25"/>
          <p:cNvSpPr/>
          <p:nvPr/>
        </p:nvSpPr>
        <p:spPr>
          <a:xfrm>
            <a:off x="6310158" y="170973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1" name="Google Shape;161;p25"/>
          <p:cNvSpPr/>
          <p:nvPr/>
        </p:nvSpPr>
        <p:spPr>
          <a:xfrm>
            <a:off x="6941442" y="214095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2" name="Google Shape;162;p25"/>
          <p:cNvSpPr/>
          <p:nvPr/>
        </p:nvSpPr>
        <p:spPr>
          <a:xfrm>
            <a:off x="6058848" y="2818980"/>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3" name="Google Shape;163;p25"/>
          <p:cNvSpPr/>
          <p:nvPr/>
        </p:nvSpPr>
        <p:spPr>
          <a:xfrm>
            <a:off x="7883032" y="294925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4" name="Google Shape;164;p25"/>
          <p:cNvSpPr/>
          <p:nvPr/>
        </p:nvSpPr>
        <p:spPr>
          <a:xfrm>
            <a:off x="8543581" y="305704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5" name="Google Shape;165;p25"/>
          <p:cNvSpPr/>
          <p:nvPr/>
        </p:nvSpPr>
        <p:spPr>
          <a:xfrm>
            <a:off x="7958456" y="373931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6" name="Google Shape;166;p25"/>
          <p:cNvSpPr/>
          <p:nvPr/>
        </p:nvSpPr>
        <p:spPr>
          <a:xfrm>
            <a:off x="6101482" y="2188664"/>
            <a:ext cx="143100" cy="184800"/>
          </a:xfrm>
          <a:prstGeom prst="diamond">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 (Step-By-Step Example)</a:t>
            </a:r>
            <a:endParaRPr i="0" sz="2400" u="none" cap="none" strike="noStrike">
              <a:solidFill>
                <a:srgbClr val="613CB0"/>
              </a:solidFill>
              <a:latin typeface="Hind"/>
              <a:ea typeface="Hind"/>
              <a:cs typeface="Hind"/>
              <a:sym typeface="Hind"/>
            </a:endParaRPr>
          </a:p>
        </p:txBody>
      </p:sp>
      <p:sp>
        <p:nvSpPr>
          <p:cNvPr id="172" name="Google Shape;172;p26"/>
          <p:cNvSpPr/>
          <p:nvPr/>
        </p:nvSpPr>
        <p:spPr>
          <a:xfrm>
            <a:off x="311700" y="1296268"/>
            <a:ext cx="5379000" cy="167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Define </a:t>
            </a:r>
            <a:r>
              <a:rPr b="0" i="0" lang="en" sz="2400" u="none" cap="none" strike="noStrike">
                <a:solidFill>
                  <a:srgbClr val="595959"/>
                </a:solidFill>
                <a:latin typeface="Hind"/>
                <a:ea typeface="Hind"/>
                <a:cs typeface="Hind"/>
                <a:sym typeface="Hind"/>
              </a:rPr>
              <a:t>a </a:t>
            </a:r>
            <a:r>
              <a:rPr b="0" i="1" lang="en" sz="2400" u="none" cap="none" strike="noStrike">
                <a:solidFill>
                  <a:srgbClr val="595959"/>
                </a:solidFill>
                <a:latin typeface="Hind"/>
                <a:ea typeface="Hind"/>
                <a:cs typeface="Hind"/>
                <a:sym typeface="Hind"/>
              </a:rPr>
              <a:t>k</a:t>
            </a:r>
            <a:r>
              <a:rPr b="0" i="0" lang="en" sz="2400" u="none" cap="none" strike="noStrike">
                <a:solidFill>
                  <a:srgbClr val="595959"/>
                </a:solidFill>
                <a:latin typeface="Hind"/>
                <a:ea typeface="Hind"/>
                <a:cs typeface="Hind"/>
                <a:sym typeface="Hind"/>
              </a:rPr>
              <a:t> value (in this case k = 3)</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Pick</a:t>
            </a:r>
            <a:r>
              <a:rPr b="0" i="0" lang="en" sz="2400" u="none" cap="none" strike="noStrike">
                <a:solidFill>
                  <a:srgbClr val="595959"/>
                </a:solidFill>
                <a:latin typeface="Hind"/>
                <a:ea typeface="Hind"/>
                <a:cs typeface="Hind"/>
                <a:sym typeface="Hind"/>
              </a:rPr>
              <a:t> a point to predict (blue diamond)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Count</a:t>
            </a:r>
            <a:r>
              <a:rPr b="0" i="0" lang="en" sz="2400" u="none" cap="none" strike="noStrike">
                <a:solidFill>
                  <a:srgbClr val="595959"/>
                </a:solidFill>
                <a:latin typeface="Hind"/>
                <a:ea typeface="Hind"/>
                <a:cs typeface="Hind"/>
                <a:sym typeface="Hind"/>
              </a:rPr>
              <a:t> the number of closest points</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cxnSp>
        <p:nvCxnSpPr>
          <p:cNvPr id="173" name="Google Shape;173;p26"/>
          <p:cNvCxnSpPr/>
          <p:nvPr/>
        </p:nvCxnSpPr>
        <p:spPr>
          <a:xfrm>
            <a:off x="7307251" y="1089183"/>
            <a:ext cx="0" cy="30456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cxnSp>
        <p:nvCxnSpPr>
          <p:cNvPr id="174" name="Google Shape;174;p26"/>
          <p:cNvCxnSpPr/>
          <p:nvPr/>
        </p:nvCxnSpPr>
        <p:spPr>
          <a:xfrm>
            <a:off x="5573864" y="2588077"/>
            <a:ext cx="32583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sp>
        <p:nvSpPr>
          <p:cNvPr id="175" name="Google Shape;175;p26"/>
          <p:cNvSpPr/>
          <p:nvPr/>
        </p:nvSpPr>
        <p:spPr>
          <a:xfrm>
            <a:off x="6310158" y="170973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6" name="Google Shape;176;p26"/>
          <p:cNvSpPr/>
          <p:nvPr/>
        </p:nvSpPr>
        <p:spPr>
          <a:xfrm>
            <a:off x="6941442" y="214095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 name="Google Shape;177;p26"/>
          <p:cNvSpPr/>
          <p:nvPr/>
        </p:nvSpPr>
        <p:spPr>
          <a:xfrm>
            <a:off x="6058848" y="2818980"/>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8" name="Google Shape;178;p26"/>
          <p:cNvSpPr/>
          <p:nvPr/>
        </p:nvSpPr>
        <p:spPr>
          <a:xfrm>
            <a:off x="7883032" y="294925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26"/>
          <p:cNvSpPr/>
          <p:nvPr/>
        </p:nvSpPr>
        <p:spPr>
          <a:xfrm>
            <a:off x="8543581" y="305704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26"/>
          <p:cNvSpPr/>
          <p:nvPr/>
        </p:nvSpPr>
        <p:spPr>
          <a:xfrm>
            <a:off x="7958456" y="373931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1" name="Google Shape;181;p26"/>
          <p:cNvSpPr/>
          <p:nvPr/>
        </p:nvSpPr>
        <p:spPr>
          <a:xfrm>
            <a:off x="6101482" y="2188664"/>
            <a:ext cx="143100" cy="184800"/>
          </a:xfrm>
          <a:prstGeom prst="diamond">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2" name="Google Shape;182;p26"/>
          <p:cNvSpPr/>
          <p:nvPr/>
        </p:nvSpPr>
        <p:spPr>
          <a:xfrm>
            <a:off x="6099882" y="4416355"/>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3" name="Google Shape;183;p26"/>
          <p:cNvSpPr/>
          <p:nvPr/>
        </p:nvSpPr>
        <p:spPr>
          <a:xfrm>
            <a:off x="6097805" y="469847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4" name="Google Shape;184;p26"/>
          <p:cNvSpPr txBox="1"/>
          <p:nvPr/>
        </p:nvSpPr>
        <p:spPr>
          <a:xfrm>
            <a:off x="6357865" y="4310173"/>
            <a:ext cx="89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ind"/>
                <a:ea typeface="Hind"/>
                <a:cs typeface="Hind"/>
                <a:sym typeface="Hind"/>
              </a:rPr>
              <a:t>3</a:t>
            </a:r>
            <a:endParaRPr b="0" i="0" sz="1400" u="none" cap="none" strike="noStrike">
              <a:solidFill>
                <a:srgbClr val="000000"/>
              </a:solidFill>
              <a:latin typeface="Arial"/>
              <a:ea typeface="Arial"/>
              <a:cs typeface="Arial"/>
              <a:sym typeface="Arial"/>
            </a:endParaRPr>
          </a:p>
        </p:txBody>
      </p:sp>
      <p:sp>
        <p:nvSpPr>
          <p:cNvPr id="185" name="Google Shape;185;p26"/>
          <p:cNvSpPr txBox="1"/>
          <p:nvPr/>
        </p:nvSpPr>
        <p:spPr>
          <a:xfrm>
            <a:off x="6357865" y="4596372"/>
            <a:ext cx="89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ind"/>
                <a:ea typeface="Hind"/>
                <a:cs typeface="Hind"/>
                <a:sym typeface="Hind"/>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 (Step-By-Step Example)</a:t>
            </a:r>
            <a:endParaRPr i="0" sz="2400" u="none" cap="none" strike="noStrike">
              <a:solidFill>
                <a:srgbClr val="613CB0"/>
              </a:solidFill>
              <a:latin typeface="Hind"/>
              <a:ea typeface="Hind"/>
              <a:cs typeface="Hind"/>
              <a:sym typeface="Hind"/>
            </a:endParaRPr>
          </a:p>
        </p:txBody>
      </p:sp>
      <p:sp>
        <p:nvSpPr>
          <p:cNvPr id="191" name="Google Shape;191;p27"/>
          <p:cNvSpPr/>
          <p:nvPr/>
        </p:nvSpPr>
        <p:spPr>
          <a:xfrm>
            <a:off x="159300" y="1296275"/>
            <a:ext cx="4964100" cy="321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Define </a:t>
            </a:r>
            <a:r>
              <a:rPr b="0" i="0" lang="en" sz="2400" u="none" cap="none" strike="noStrike">
                <a:solidFill>
                  <a:srgbClr val="595959"/>
                </a:solidFill>
                <a:latin typeface="Hind"/>
                <a:ea typeface="Hind"/>
                <a:cs typeface="Hind"/>
                <a:sym typeface="Hind"/>
              </a:rPr>
              <a:t>a </a:t>
            </a:r>
            <a:r>
              <a:rPr b="0" i="1" lang="en" sz="2400" u="none" cap="none" strike="noStrike">
                <a:solidFill>
                  <a:srgbClr val="595959"/>
                </a:solidFill>
                <a:latin typeface="Hind"/>
                <a:ea typeface="Hind"/>
                <a:cs typeface="Hind"/>
                <a:sym typeface="Hind"/>
              </a:rPr>
              <a:t>k</a:t>
            </a:r>
            <a:r>
              <a:rPr b="0" i="0" lang="en" sz="2400" u="none" cap="none" strike="noStrike">
                <a:solidFill>
                  <a:srgbClr val="595959"/>
                </a:solidFill>
                <a:latin typeface="Hind"/>
                <a:ea typeface="Hind"/>
                <a:cs typeface="Hind"/>
                <a:sym typeface="Hind"/>
              </a:rPr>
              <a:t> value (in this case k = 3)</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Pick</a:t>
            </a:r>
            <a:r>
              <a:rPr b="0" i="0" lang="en" sz="2400" u="none" cap="none" strike="noStrike">
                <a:solidFill>
                  <a:srgbClr val="595959"/>
                </a:solidFill>
                <a:latin typeface="Hind"/>
                <a:ea typeface="Hind"/>
                <a:cs typeface="Hind"/>
                <a:sym typeface="Hind"/>
              </a:rPr>
              <a:t> a point to predict</a:t>
            </a:r>
            <a:endParaRPr sz="2400">
              <a:solidFill>
                <a:srgbClr val="595959"/>
              </a:solidFill>
              <a:latin typeface="Hind"/>
              <a:ea typeface="Hind"/>
              <a:cs typeface="Hind"/>
              <a:sym typeface="Hind"/>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595959"/>
                </a:solidFill>
                <a:latin typeface="Hind"/>
                <a:ea typeface="Hind"/>
                <a:cs typeface="Hind"/>
                <a:sym typeface="Hind"/>
              </a:rPr>
              <a:t>(blue diamond)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Count</a:t>
            </a:r>
            <a:r>
              <a:rPr b="0" i="0" lang="en" sz="2400" u="none" cap="none" strike="noStrike">
                <a:solidFill>
                  <a:srgbClr val="595959"/>
                </a:solidFill>
                <a:latin typeface="Hind"/>
                <a:ea typeface="Hind"/>
                <a:cs typeface="Hind"/>
                <a:sym typeface="Hind"/>
              </a:rPr>
              <a:t> the number of closest 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Increase</a:t>
            </a:r>
            <a:r>
              <a:rPr b="0" i="0" lang="en" sz="2400" u="none" cap="none" strike="noStrike">
                <a:solidFill>
                  <a:srgbClr val="595959"/>
                </a:solidFill>
                <a:latin typeface="Hind"/>
                <a:ea typeface="Hind"/>
                <a:cs typeface="Hind"/>
                <a:sym typeface="Hind"/>
              </a:rPr>
              <a:t> the radius until the number of points </a:t>
            </a:r>
            <a:r>
              <a:rPr lang="en" sz="2400">
                <a:solidFill>
                  <a:srgbClr val="595959"/>
                </a:solidFill>
                <a:latin typeface="Hind"/>
                <a:ea typeface="Hind"/>
                <a:cs typeface="Hind"/>
                <a:sym typeface="Hind"/>
              </a:rPr>
              <a:t>in circle</a:t>
            </a:r>
            <a:r>
              <a:rPr b="0" i="0" lang="en" sz="2400" u="none" cap="none" strike="noStrike">
                <a:solidFill>
                  <a:srgbClr val="595959"/>
                </a:solidFill>
                <a:latin typeface="Hind"/>
                <a:ea typeface="Hind"/>
                <a:cs typeface="Hind"/>
                <a:sym typeface="Hind"/>
              </a:rPr>
              <a:t> adds up to 3</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cxnSp>
        <p:nvCxnSpPr>
          <p:cNvPr id="192" name="Google Shape;192;p27"/>
          <p:cNvCxnSpPr/>
          <p:nvPr/>
        </p:nvCxnSpPr>
        <p:spPr>
          <a:xfrm>
            <a:off x="7307251" y="1089183"/>
            <a:ext cx="0" cy="30456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cxnSp>
        <p:nvCxnSpPr>
          <p:cNvPr id="193" name="Google Shape;193;p27"/>
          <p:cNvCxnSpPr/>
          <p:nvPr/>
        </p:nvCxnSpPr>
        <p:spPr>
          <a:xfrm>
            <a:off x="5573864" y="2588077"/>
            <a:ext cx="32583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sp>
        <p:nvSpPr>
          <p:cNvPr id="194" name="Google Shape;194;p27"/>
          <p:cNvSpPr/>
          <p:nvPr/>
        </p:nvSpPr>
        <p:spPr>
          <a:xfrm>
            <a:off x="6310158" y="170973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5" name="Google Shape;195;p27"/>
          <p:cNvSpPr/>
          <p:nvPr/>
        </p:nvSpPr>
        <p:spPr>
          <a:xfrm>
            <a:off x="6941442" y="214095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6" name="Google Shape;196;p27"/>
          <p:cNvSpPr/>
          <p:nvPr/>
        </p:nvSpPr>
        <p:spPr>
          <a:xfrm>
            <a:off x="6058848" y="2818980"/>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7" name="Google Shape;197;p27"/>
          <p:cNvSpPr/>
          <p:nvPr/>
        </p:nvSpPr>
        <p:spPr>
          <a:xfrm>
            <a:off x="7883032" y="294925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8" name="Google Shape;198;p27"/>
          <p:cNvSpPr/>
          <p:nvPr/>
        </p:nvSpPr>
        <p:spPr>
          <a:xfrm>
            <a:off x="8543581" y="305704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9" name="Google Shape;199;p27"/>
          <p:cNvSpPr/>
          <p:nvPr/>
        </p:nvSpPr>
        <p:spPr>
          <a:xfrm>
            <a:off x="7958456" y="373931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0" name="Google Shape;200;p27"/>
          <p:cNvSpPr/>
          <p:nvPr/>
        </p:nvSpPr>
        <p:spPr>
          <a:xfrm>
            <a:off x="6101482" y="2188664"/>
            <a:ext cx="143100" cy="184800"/>
          </a:xfrm>
          <a:prstGeom prst="diamond">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1" name="Google Shape;201;p27"/>
          <p:cNvSpPr/>
          <p:nvPr/>
        </p:nvSpPr>
        <p:spPr>
          <a:xfrm>
            <a:off x="6099882" y="4416355"/>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2" name="Google Shape;202;p27"/>
          <p:cNvSpPr/>
          <p:nvPr/>
        </p:nvSpPr>
        <p:spPr>
          <a:xfrm>
            <a:off x="6097805" y="469847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3" name="Google Shape;203;p27"/>
          <p:cNvSpPr txBox="1"/>
          <p:nvPr/>
        </p:nvSpPr>
        <p:spPr>
          <a:xfrm>
            <a:off x="6357865" y="4310173"/>
            <a:ext cx="89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ind"/>
                <a:ea typeface="Hind"/>
                <a:cs typeface="Hind"/>
                <a:sym typeface="Hind"/>
              </a:rPr>
              <a:t>3/3</a:t>
            </a:r>
            <a:endParaRPr b="0" i="0" sz="1400" u="none" cap="none" strike="noStrike">
              <a:solidFill>
                <a:srgbClr val="000000"/>
              </a:solidFill>
              <a:latin typeface="Arial"/>
              <a:ea typeface="Arial"/>
              <a:cs typeface="Arial"/>
              <a:sym typeface="Arial"/>
            </a:endParaRPr>
          </a:p>
        </p:txBody>
      </p:sp>
      <p:sp>
        <p:nvSpPr>
          <p:cNvPr id="204" name="Google Shape;204;p27"/>
          <p:cNvSpPr txBox="1"/>
          <p:nvPr/>
        </p:nvSpPr>
        <p:spPr>
          <a:xfrm>
            <a:off x="6357865" y="4596372"/>
            <a:ext cx="89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ind"/>
                <a:ea typeface="Hind"/>
                <a:cs typeface="Hind"/>
                <a:sym typeface="Hind"/>
              </a:rPr>
              <a:t>0/3</a:t>
            </a:r>
            <a:endParaRPr b="0" i="0" sz="1400" u="none" cap="none" strike="noStrike">
              <a:solidFill>
                <a:srgbClr val="000000"/>
              </a:solidFill>
              <a:latin typeface="Arial"/>
              <a:ea typeface="Arial"/>
              <a:cs typeface="Arial"/>
              <a:sym typeface="Arial"/>
            </a:endParaRPr>
          </a:p>
        </p:txBody>
      </p:sp>
      <p:sp>
        <p:nvSpPr>
          <p:cNvPr id="205" name="Google Shape;205;p27"/>
          <p:cNvSpPr/>
          <p:nvPr/>
        </p:nvSpPr>
        <p:spPr>
          <a:xfrm>
            <a:off x="5288012" y="1416536"/>
            <a:ext cx="1770000" cy="17292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How Does It Work? (Step-By-Step Example)</a:t>
            </a:r>
            <a:endParaRPr i="0" sz="2400" u="none" cap="none" strike="noStrike">
              <a:solidFill>
                <a:srgbClr val="613CB0"/>
              </a:solidFill>
              <a:latin typeface="Hind"/>
              <a:ea typeface="Hind"/>
              <a:cs typeface="Hind"/>
              <a:sym typeface="Hind"/>
            </a:endParaRPr>
          </a:p>
        </p:txBody>
      </p:sp>
      <p:sp>
        <p:nvSpPr>
          <p:cNvPr id="211" name="Google Shape;211;p28"/>
          <p:cNvSpPr/>
          <p:nvPr/>
        </p:nvSpPr>
        <p:spPr>
          <a:xfrm>
            <a:off x="159300" y="1296268"/>
            <a:ext cx="5379000" cy="340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Define </a:t>
            </a:r>
            <a:r>
              <a:rPr b="0" i="0" lang="en" sz="2400" u="none" cap="none" strike="noStrike">
                <a:solidFill>
                  <a:srgbClr val="595959"/>
                </a:solidFill>
                <a:latin typeface="Hind"/>
                <a:ea typeface="Hind"/>
                <a:cs typeface="Hind"/>
                <a:sym typeface="Hind"/>
              </a:rPr>
              <a:t>a </a:t>
            </a:r>
            <a:r>
              <a:rPr b="0" i="1" lang="en" sz="2400" u="none" cap="none" strike="noStrike">
                <a:solidFill>
                  <a:srgbClr val="595959"/>
                </a:solidFill>
                <a:latin typeface="Hind"/>
                <a:ea typeface="Hind"/>
                <a:cs typeface="Hind"/>
                <a:sym typeface="Hind"/>
              </a:rPr>
              <a:t>k</a:t>
            </a:r>
            <a:r>
              <a:rPr b="0" i="0" lang="en" sz="2400" u="none" cap="none" strike="noStrike">
                <a:solidFill>
                  <a:srgbClr val="595959"/>
                </a:solidFill>
                <a:latin typeface="Hind"/>
                <a:ea typeface="Hind"/>
                <a:cs typeface="Hind"/>
                <a:sym typeface="Hind"/>
              </a:rPr>
              <a:t> value (in this case k = 3)</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Pick</a:t>
            </a:r>
            <a:r>
              <a:rPr b="0" i="0" lang="en" sz="2400" u="none" cap="none" strike="noStrike">
                <a:solidFill>
                  <a:srgbClr val="595959"/>
                </a:solidFill>
                <a:latin typeface="Hind"/>
                <a:ea typeface="Hind"/>
                <a:cs typeface="Hind"/>
                <a:sym typeface="Hind"/>
              </a:rPr>
              <a:t> a point to predict (blue diamond)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Count</a:t>
            </a:r>
            <a:r>
              <a:rPr b="0" i="0" lang="en" sz="2400" u="none" cap="none" strike="noStrike">
                <a:solidFill>
                  <a:srgbClr val="595959"/>
                </a:solidFill>
                <a:latin typeface="Hind"/>
                <a:ea typeface="Hind"/>
                <a:cs typeface="Hind"/>
                <a:sym typeface="Hind"/>
              </a:rPr>
              <a:t> the number of closest 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Increase</a:t>
            </a:r>
            <a:r>
              <a:rPr b="0" i="0" lang="en" sz="2400" u="none" cap="none" strike="noStrike">
                <a:solidFill>
                  <a:srgbClr val="595959"/>
                </a:solidFill>
                <a:latin typeface="Hind"/>
                <a:ea typeface="Hind"/>
                <a:cs typeface="Hind"/>
                <a:sym typeface="Hind"/>
              </a:rPr>
              <a:t> the radius until the number of points within the radius adds up to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400"/>
              <a:buFont typeface="Arial"/>
              <a:buNone/>
            </a:pPr>
            <a:r>
              <a:rPr b="1" i="0" lang="en" sz="2400" u="none" cap="none" strike="noStrike">
                <a:solidFill>
                  <a:srgbClr val="595959"/>
                </a:solidFill>
                <a:latin typeface="Hind"/>
                <a:ea typeface="Hind"/>
                <a:cs typeface="Hind"/>
                <a:sym typeface="Hind"/>
              </a:rPr>
              <a:t>Predict </a:t>
            </a:r>
            <a:r>
              <a:rPr b="0" i="0" lang="en" sz="2400" u="none" cap="none" strike="noStrike">
                <a:solidFill>
                  <a:srgbClr val="595959"/>
                </a:solidFill>
                <a:latin typeface="Hind"/>
                <a:ea typeface="Hind"/>
                <a:cs typeface="Hind"/>
                <a:sym typeface="Hind"/>
              </a:rPr>
              <a:t>the blue diamond to be a blue circle!</a:t>
            </a: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cxnSp>
        <p:nvCxnSpPr>
          <p:cNvPr id="212" name="Google Shape;212;p28"/>
          <p:cNvCxnSpPr/>
          <p:nvPr/>
        </p:nvCxnSpPr>
        <p:spPr>
          <a:xfrm>
            <a:off x="7307251" y="1089183"/>
            <a:ext cx="0" cy="30456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cxnSp>
        <p:nvCxnSpPr>
          <p:cNvPr id="213" name="Google Shape;213;p28"/>
          <p:cNvCxnSpPr/>
          <p:nvPr/>
        </p:nvCxnSpPr>
        <p:spPr>
          <a:xfrm>
            <a:off x="5573864" y="2588077"/>
            <a:ext cx="32583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5290"/>
              </a:srgbClr>
            </a:outerShdw>
          </a:effectLst>
        </p:spPr>
      </p:cxnSp>
      <p:sp>
        <p:nvSpPr>
          <p:cNvPr id="214" name="Google Shape;214;p28"/>
          <p:cNvSpPr/>
          <p:nvPr/>
        </p:nvSpPr>
        <p:spPr>
          <a:xfrm>
            <a:off x="6310158" y="170973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5" name="Google Shape;215;p28"/>
          <p:cNvSpPr/>
          <p:nvPr/>
        </p:nvSpPr>
        <p:spPr>
          <a:xfrm>
            <a:off x="6941442" y="2140957"/>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6" name="Google Shape;216;p28"/>
          <p:cNvSpPr/>
          <p:nvPr/>
        </p:nvSpPr>
        <p:spPr>
          <a:xfrm>
            <a:off x="6058848" y="2818980"/>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7" name="Google Shape;217;p28"/>
          <p:cNvSpPr/>
          <p:nvPr/>
        </p:nvSpPr>
        <p:spPr>
          <a:xfrm>
            <a:off x="7883032" y="294925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8" name="Google Shape;218;p28"/>
          <p:cNvSpPr/>
          <p:nvPr/>
        </p:nvSpPr>
        <p:spPr>
          <a:xfrm>
            <a:off x="8543581" y="305704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9" name="Google Shape;219;p28"/>
          <p:cNvSpPr/>
          <p:nvPr/>
        </p:nvSpPr>
        <p:spPr>
          <a:xfrm>
            <a:off x="7958456" y="3739313"/>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0" name="Google Shape;220;p28"/>
          <p:cNvSpPr/>
          <p:nvPr/>
        </p:nvSpPr>
        <p:spPr>
          <a:xfrm>
            <a:off x="6099882" y="4416355"/>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1" name="Google Shape;221;p28"/>
          <p:cNvSpPr/>
          <p:nvPr/>
        </p:nvSpPr>
        <p:spPr>
          <a:xfrm>
            <a:off x="6097805" y="4698475"/>
            <a:ext cx="111300" cy="103500"/>
          </a:xfrm>
          <a:prstGeom prst="triangle">
            <a:avLst>
              <a:gd fmla="val 50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2" name="Google Shape;222;p28"/>
          <p:cNvSpPr txBox="1"/>
          <p:nvPr/>
        </p:nvSpPr>
        <p:spPr>
          <a:xfrm>
            <a:off x="6357865" y="4310173"/>
            <a:ext cx="89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ind"/>
                <a:ea typeface="Hind"/>
                <a:cs typeface="Hind"/>
                <a:sym typeface="Hind"/>
              </a:rPr>
              <a:t>3/3</a:t>
            </a:r>
            <a:endParaRPr b="0" i="0" sz="1400" u="none" cap="none" strike="noStrike">
              <a:solidFill>
                <a:srgbClr val="000000"/>
              </a:solidFill>
              <a:latin typeface="Arial"/>
              <a:ea typeface="Arial"/>
              <a:cs typeface="Arial"/>
              <a:sym typeface="Arial"/>
            </a:endParaRPr>
          </a:p>
        </p:txBody>
      </p:sp>
      <p:sp>
        <p:nvSpPr>
          <p:cNvPr id="223" name="Google Shape;223;p28"/>
          <p:cNvSpPr txBox="1"/>
          <p:nvPr/>
        </p:nvSpPr>
        <p:spPr>
          <a:xfrm>
            <a:off x="6357865" y="4596372"/>
            <a:ext cx="89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ind"/>
                <a:ea typeface="Hind"/>
                <a:cs typeface="Hind"/>
                <a:sym typeface="Hind"/>
              </a:rPr>
              <a:t>0/3</a:t>
            </a:r>
            <a:endParaRPr b="0" i="0" sz="1400" u="none" cap="none" strike="noStrike">
              <a:solidFill>
                <a:srgbClr val="000000"/>
              </a:solidFill>
              <a:latin typeface="Arial"/>
              <a:ea typeface="Arial"/>
              <a:cs typeface="Arial"/>
              <a:sym typeface="Arial"/>
            </a:endParaRPr>
          </a:p>
        </p:txBody>
      </p:sp>
      <p:sp>
        <p:nvSpPr>
          <p:cNvPr id="224" name="Google Shape;224;p28"/>
          <p:cNvSpPr/>
          <p:nvPr/>
        </p:nvSpPr>
        <p:spPr>
          <a:xfrm>
            <a:off x="6125313" y="2227594"/>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5" name="Google Shape;225;p28"/>
          <p:cNvSpPr/>
          <p:nvPr/>
        </p:nvSpPr>
        <p:spPr>
          <a:xfrm>
            <a:off x="5288012" y="1416536"/>
            <a:ext cx="1770000" cy="17292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p:nvPr/>
        </p:nvSpPr>
        <p:spPr>
          <a:xfrm>
            <a:off x="0" y="-22983423"/>
            <a:ext cx="1437000" cy="6100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4587"/>
              </a:buClr>
              <a:buSzPts val="4000"/>
              <a:buFont typeface="Arial"/>
              <a:buNone/>
            </a:pPr>
            <a:r>
              <a:rPr b="1" i="0" lang="en" sz="4000" u="none" cap="none" strike="noStrike">
                <a:solidFill>
                  <a:srgbClr val="1C4587"/>
                </a:solidFill>
                <a:latin typeface="Hind"/>
                <a:ea typeface="Hind"/>
                <a:cs typeface="Hind"/>
                <a:sym typeface="Hind"/>
              </a:rPr>
              <a:t>Demo</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 sz="1800" u="none" cap="none" strike="noStrike">
                <a:solidFill>
                  <a:schemeClr val="dk1"/>
                </a:solidFill>
                <a:latin typeface="Arial"/>
                <a:ea typeface="Arial"/>
                <a:cs typeface="Arial"/>
                <a:sym typeface="Arial"/>
              </a:rPr>
              <a:t>  </a:t>
            </a:r>
            <a:r>
              <a:rPr b="0" i="0" lang="en" sz="772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31" name="Google Shape;231;p29"/>
          <p:cNvSpPr/>
          <p:nvPr/>
        </p:nvSpPr>
        <p:spPr>
          <a:xfrm>
            <a:off x="2286000" y="2214151"/>
            <a:ext cx="4572000" cy="715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 sz="3900" u="none" cap="none" strike="noStrike">
                <a:solidFill>
                  <a:srgbClr val="613CB0"/>
                </a:solidFill>
                <a:latin typeface="Hind"/>
                <a:ea typeface="Hind"/>
                <a:cs typeface="Hind"/>
                <a:sym typeface="Hind"/>
              </a:rPr>
              <a:t>Demo</a:t>
            </a:r>
            <a:br>
              <a:rPr i="0" lang="en" sz="1300" u="none" cap="none" strike="noStrike">
                <a:solidFill>
                  <a:srgbClr val="613CB0"/>
                </a:solidFill>
                <a:latin typeface="Hind"/>
                <a:ea typeface="Hind"/>
                <a:cs typeface="Hind"/>
                <a:sym typeface="Hind"/>
              </a:rPr>
            </a:br>
            <a:endParaRPr i="0" sz="1300" u="none" cap="none" strike="noStrike">
              <a:solidFill>
                <a:srgbClr val="613CB0"/>
              </a:solidFill>
              <a:latin typeface="Hind"/>
              <a:ea typeface="Hind"/>
              <a:cs typeface="Hind"/>
              <a:sym typeface="Hi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rgbClr val="613CB0"/>
                </a:solidFill>
                <a:latin typeface="Hind"/>
                <a:ea typeface="Hind"/>
                <a:cs typeface="Hind"/>
                <a:sym typeface="Hind"/>
              </a:rPr>
              <a:t>Underfitting v. Overfitting</a:t>
            </a:r>
            <a:endParaRPr b="1">
              <a:solidFill>
                <a:srgbClr val="613CB0"/>
              </a:solidFill>
              <a:latin typeface="Hind"/>
              <a:ea typeface="Hind"/>
              <a:cs typeface="Hind"/>
              <a:sym typeface="Hi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i="0" lang="en" sz="2400" u="none" cap="none" strike="noStrike">
                <a:solidFill>
                  <a:srgbClr val="613CB0"/>
                </a:solidFill>
                <a:latin typeface="Hind"/>
                <a:ea typeface="Hind"/>
                <a:cs typeface="Hind"/>
                <a:sym typeface="Hind"/>
              </a:rPr>
              <a:t>Underfitting</a:t>
            </a:r>
            <a:endParaRPr i="0" sz="2400" u="none" cap="none" strike="noStrike">
              <a:solidFill>
                <a:srgbClr val="613CB0"/>
              </a:solidFill>
              <a:latin typeface="Hind"/>
              <a:ea typeface="Hind"/>
              <a:cs typeface="Hind"/>
              <a:sym typeface="Hind"/>
            </a:endParaRPr>
          </a:p>
        </p:txBody>
      </p:sp>
      <p:sp>
        <p:nvSpPr>
          <p:cNvPr id="242" name="Google Shape;242;p31"/>
          <p:cNvSpPr txBox="1"/>
          <p:nvPr>
            <p:ph idx="1" type="body"/>
          </p:nvPr>
        </p:nvSpPr>
        <p:spPr>
          <a:xfrm>
            <a:off x="311700" y="1152475"/>
            <a:ext cx="4295100" cy="98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2"/>
                </a:solidFill>
                <a:latin typeface="Hind"/>
                <a:ea typeface="Hind"/>
                <a:cs typeface="Hind"/>
                <a:sym typeface="Hind"/>
              </a:rPr>
              <a:t>Underfitting means we have </a:t>
            </a:r>
            <a:r>
              <a:rPr b="0" i="0" lang="en" sz="2000" u="sng" cap="none" strike="noStrike">
                <a:solidFill>
                  <a:schemeClr val="dk2"/>
                </a:solidFill>
                <a:latin typeface="Hind"/>
                <a:ea typeface="Hind"/>
                <a:cs typeface="Hind"/>
                <a:sym typeface="Hind"/>
              </a:rPr>
              <a:t>high bias</a:t>
            </a:r>
            <a:r>
              <a:rPr b="0" i="0" lang="en" sz="2000" u="none" cap="none" strike="noStrike">
                <a:solidFill>
                  <a:schemeClr val="dk2"/>
                </a:solidFill>
                <a:latin typeface="Hind"/>
                <a:ea typeface="Hind"/>
                <a:cs typeface="Hind"/>
                <a:sym typeface="Hind"/>
              </a:rPr>
              <a:t> and </a:t>
            </a:r>
            <a:r>
              <a:rPr b="0" i="0" lang="en" sz="2000" u="sng" cap="none" strike="noStrike">
                <a:solidFill>
                  <a:schemeClr val="dk2"/>
                </a:solidFill>
                <a:latin typeface="Hind"/>
                <a:ea typeface="Hind"/>
                <a:cs typeface="Hind"/>
                <a:sym typeface="Hind"/>
              </a:rPr>
              <a:t>low variance</a:t>
            </a:r>
            <a:r>
              <a:rPr b="0" i="0" lang="en" sz="2000" u="none" cap="none" strike="noStrike">
                <a:solidFill>
                  <a:schemeClr val="dk2"/>
                </a:solidFill>
                <a:latin typeface="Hind"/>
                <a:ea typeface="Hind"/>
                <a:cs typeface="Hind"/>
                <a:sym typeface="Hind"/>
              </a:rPr>
              <a:t>.</a:t>
            </a:r>
            <a:endParaRPr b="0" i="0" sz="2000" u="none" cap="none" strike="noStrike">
              <a:solidFill>
                <a:schemeClr val="dk2"/>
              </a:solidFill>
              <a:latin typeface="Hind"/>
              <a:ea typeface="Hind"/>
              <a:cs typeface="Hind"/>
              <a:sym typeface="Hind"/>
            </a:endParaRPr>
          </a:p>
        </p:txBody>
      </p:sp>
      <p:pic>
        <p:nvPicPr>
          <p:cNvPr id="243" name="Google Shape;243;p31"/>
          <p:cNvPicPr preferRelativeResize="0"/>
          <p:nvPr/>
        </p:nvPicPr>
        <p:blipFill rotWithShape="1">
          <a:blip r:embed="rId3">
            <a:alphaModFix/>
          </a:blip>
          <a:srcRect b="0" l="0" r="0" t="0"/>
          <a:stretch/>
        </p:blipFill>
        <p:spPr>
          <a:xfrm>
            <a:off x="4929700" y="1053725"/>
            <a:ext cx="3841176" cy="3318226"/>
          </a:xfrm>
          <a:prstGeom prst="rect">
            <a:avLst/>
          </a:prstGeom>
          <a:noFill/>
          <a:ln>
            <a:noFill/>
          </a:ln>
        </p:spPr>
      </p:pic>
      <p:sp>
        <p:nvSpPr>
          <p:cNvPr id="244" name="Google Shape;244;p31"/>
          <p:cNvSpPr txBox="1"/>
          <p:nvPr/>
        </p:nvSpPr>
        <p:spPr>
          <a:xfrm>
            <a:off x="8323825" y="4650425"/>
            <a:ext cx="657900" cy="41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sng" cap="none" strike="noStrike">
                <a:solidFill>
                  <a:schemeClr val="hlink"/>
                </a:solidFill>
                <a:latin typeface="Hind"/>
                <a:ea typeface="Hind"/>
                <a:cs typeface="Hind"/>
                <a:sym typeface="Hind"/>
                <a:hlinkClick r:id="rId4"/>
              </a:rPr>
              <a:t>Source</a:t>
            </a:r>
            <a:endParaRPr b="0" i="0" sz="1000" u="none" cap="none" strike="noStrike">
              <a:solidFill>
                <a:srgbClr val="000000"/>
              </a:solidFill>
              <a:latin typeface="Hind"/>
              <a:ea typeface="Hind"/>
              <a:cs typeface="Hind"/>
              <a:sym typeface="Hind"/>
            </a:endParaRPr>
          </a:p>
        </p:txBody>
      </p:sp>
      <p:sp>
        <p:nvSpPr>
          <p:cNvPr id="245" name="Google Shape;245;p31"/>
          <p:cNvSpPr txBox="1"/>
          <p:nvPr/>
        </p:nvSpPr>
        <p:spPr>
          <a:xfrm>
            <a:off x="311700" y="2137675"/>
            <a:ext cx="4295100" cy="2103900"/>
          </a:xfrm>
          <a:prstGeom prst="rect">
            <a:avLst/>
          </a:prstGeom>
          <a:solidFill>
            <a:srgbClr val="F4CCCC"/>
          </a:solid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2"/>
              </a:buClr>
              <a:buSzPts val="2000"/>
              <a:buFont typeface="Hind"/>
              <a:buChar char="●"/>
            </a:pPr>
            <a:r>
              <a:rPr b="0" i="0" lang="en" sz="2000" u="none" cap="none" strike="noStrike">
                <a:solidFill>
                  <a:schemeClr val="dk2"/>
                </a:solidFill>
                <a:latin typeface="Hind"/>
                <a:ea typeface="Hind"/>
                <a:cs typeface="Hind"/>
                <a:sym typeface="Hind"/>
              </a:rPr>
              <a:t>Lack of relevant variables/factor</a:t>
            </a:r>
            <a:endParaRPr b="0" i="0" sz="2000" u="none" cap="none" strike="noStrike">
              <a:solidFill>
                <a:schemeClr val="dk2"/>
              </a:solidFill>
              <a:latin typeface="Hind"/>
              <a:ea typeface="Hind"/>
              <a:cs typeface="Hind"/>
              <a:sym typeface="Hind"/>
            </a:endParaRPr>
          </a:p>
          <a:p>
            <a:pPr indent="-355600" lvl="0" marL="457200" marR="0" rtl="0" algn="l">
              <a:lnSpc>
                <a:spcPct val="115000"/>
              </a:lnSpc>
              <a:spcBef>
                <a:spcPts val="0"/>
              </a:spcBef>
              <a:spcAft>
                <a:spcPts val="0"/>
              </a:spcAft>
              <a:buClr>
                <a:schemeClr val="dk2"/>
              </a:buClr>
              <a:buSzPts val="2000"/>
              <a:buFont typeface="Hind"/>
              <a:buChar char="●"/>
            </a:pPr>
            <a:r>
              <a:rPr b="0" i="0" lang="en" sz="2000" u="none" cap="none" strike="noStrike">
                <a:solidFill>
                  <a:schemeClr val="dk2"/>
                </a:solidFill>
                <a:latin typeface="Hind"/>
                <a:ea typeface="Hind"/>
                <a:cs typeface="Hind"/>
                <a:sym typeface="Hind"/>
              </a:rPr>
              <a:t>Imposing limiting assumptions </a:t>
            </a:r>
            <a:endParaRPr b="0" i="0" sz="2000" u="none" cap="none" strike="noStrike">
              <a:solidFill>
                <a:schemeClr val="dk2"/>
              </a:solidFill>
              <a:latin typeface="Hind"/>
              <a:ea typeface="Hind"/>
              <a:cs typeface="Hind"/>
              <a:sym typeface="Hind"/>
            </a:endParaRPr>
          </a:p>
          <a:p>
            <a:pPr indent="-355600" lvl="1" marL="914400" marR="0" rtl="0" algn="l">
              <a:lnSpc>
                <a:spcPct val="115000"/>
              </a:lnSpc>
              <a:spcBef>
                <a:spcPts val="0"/>
              </a:spcBef>
              <a:spcAft>
                <a:spcPts val="0"/>
              </a:spcAft>
              <a:buClr>
                <a:schemeClr val="dk2"/>
              </a:buClr>
              <a:buSzPts val="2000"/>
              <a:buFont typeface="Hind"/>
              <a:buChar char="○"/>
            </a:pPr>
            <a:r>
              <a:rPr b="0" i="0" lang="en" sz="2000" u="none" cap="none" strike="noStrike">
                <a:solidFill>
                  <a:schemeClr val="dk2"/>
                </a:solidFill>
                <a:latin typeface="Hind"/>
                <a:ea typeface="Hind"/>
                <a:cs typeface="Hind"/>
                <a:sym typeface="Hind"/>
              </a:rPr>
              <a:t>Linearity</a:t>
            </a:r>
            <a:endParaRPr b="0" i="0" sz="2000" u="none" cap="none" strike="noStrike">
              <a:solidFill>
                <a:schemeClr val="dk2"/>
              </a:solidFill>
              <a:latin typeface="Hind"/>
              <a:ea typeface="Hind"/>
              <a:cs typeface="Hind"/>
              <a:sym typeface="Hind"/>
            </a:endParaRPr>
          </a:p>
          <a:p>
            <a:pPr indent="-355600" lvl="1" marL="914400" marR="0" rtl="0" algn="l">
              <a:lnSpc>
                <a:spcPct val="115000"/>
              </a:lnSpc>
              <a:spcBef>
                <a:spcPts val="0"/>
              </a:spcBef>
              <a:spcAft>
                <a:spcPts val="0"/>
              </a:spcAft>
              <a:buClr>
                <a:schemeClr val="dk2"/>
              </a:buClr>
              <a:buSzPts val="2000"/>
              <a:buFont typeface="Hind"/>
              <a:buChar char="○"/>
            </a:pPr>
            <a:r>
              <a:rPr b="0" i="0" lang="en" sz="2000" u="none" cap="none" strike="noStrike">
                <a:solidFill>
                  <a:schemeClr val="dk2"/>
                </a:solidFill>
                <a:latin typeface="Hind"/>
                <a:ea typeface="Hind"/>
                <a:cs typeface="Hind"/>
                <a:sym typeface="Hind"/>
              </a:rPr>
              <a:t>Assumptions on distribution</a:t>
            </a:r>
            <a:endParaRPr b="0" i="0" sz="2000" u="none" cap="none" strike="noStrike">
              <a:solidFill>
                <a:schemeClr val="dk2"/>
              </a:solidFill>
              <a:latin typeface="Hind"/>
              <a:ea typeface="Hind"/>
              <a:cs typeface="Hind"/>
              <a:sym typeface="Hind"/>
            </a:endParaRPr>
          </a:p>
          <a:p>
            <a:pPr indent="-355600" lvl="1" marL="914400" marR="0" rtl="0" algn="l">
              <a:lnSpc>
                <a:spcPct val="115000"/>
              </a:lnSpc>
              <a:spcBef>
                <a:spcPts val="0"/>
              </a:spcBef>
              <a:spcAft>
                <a:spcPts val="0"/>
              </a:spcAft>
              <a:buClr>
                <a:schemeClr val="dk2"/>
              </a:buClr>
              <a:buSzPts val="2000"/>
              <a:buFont typeface="Hind"/>
              <a:buChar char="○"/>
            </a:pPr>
            <a:r>
              <a:rPr b="0" i="0" lang="en" sz="2000" u="none" cap="none" strike="noStrike">
                <a:solidFill>
                  <a:schemeClr val="dk2"/>
                </a:solidFill>
                <a:latin typeface="Hind"/>
                <a:ea typeface="Hind"/>
                <a:cs typeface="Hind"/>
                <a:sym typeface="Hind"/>
              </a:rPr>
              <a:t>Wrong values for parameters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Overfitting</a:t>
            </a:r>
            <a:endParaRPr b="0" i="0" sz="2400" u="none" cap="none" strike="noStrike">
              <a:solidFill>
                <a:srgbClr val="613CB0"/>
              </a:solidFill>
              <a:latin typeface="Hind"/>
              <a:ea typeface="Hind"/>
              <a:cs typeface="Hind"/>
              <a:sym typeface="Hind"/>
            </a:endParaRPr>
          </a:p>
        </p:txBody>
      </p:sp>
      <p:sp>
        <p:nvSpPr>
          <p:cNvPr id="251" name="Google Shape;251;p32"/>
          <p:cNvSpPr txBox="1"/>
          <p:nvPr>
            <p:ph idx="1" type="body"/>
          </p:nvPr>
        </p:nvSpPr>
        <p:spPr>
          <a:xfrm>
            <a:off x="483150" y="1081875"/>
            <a:ext cx="4216800" cy="98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2"/>
                </a:solidFill>
                <a:latin typeface="Hind"/>
                <a:ea typeface="Hind"/>
                <a:cs typeface="Hind"/>
                <a:sym typeface="Hind"/>
              </a:rPr>
              <a:t>Overfitting means we have </a:t>
            </a:r>
            <a:r>
              <a:rPr b="0" i="0" lang="en" sz="2000" u="sng" cap="none" strike="noStrike">
                <a:solidFill>
                  <a:schemeClr val="dk2"/>
                </a:solidFill>
                <a:latin typeface="Hind"/>
                <a:ea typeface="Hind"/>
                <a:cs typeface="Hind"/>
                <a:sym typeface="Hind"/>
              </a:rPr>
              <a:t>low bias</a:t>
            </a:r>
            <a:r>
              <a:rPr b="0" i="0" lang="en" sz="2000" u="none" cap="none" strike="noStrike">
                <a:solidFill>
                  <a:schemeClr val="dk2"/>
                </a:solidFill>
                <a:latin typeface="Hind"/>
                <a:ea typeface="Hind"/>
                <a:cs typeface="Hind"/>
                <a:sym typeface="Hind"/>
              </a:rPr>
              <a:t> and </a:t>
            </a:r>
            <a:r>
              <a:rPr b="0" i="0" lang="en" sz="2000" u="sng" cap="none" strike="noStrike">
                <a:solidFill>
                  <a:schemeClr val="dk2"/>
                </a:solidFill>
                <a:latin typeface="Hind"/>
                <a:ea typeface="Hind"/>
                <a:cs typeface="Hind"/>
                <a:sym typeface="Hind"/>
              </a:rPr>
              <a:t>high variance</a:t>
            </a:r>
            <a:r>
              <a:rPr b="0" i="0" lang="en" sz="2000" u="none" cap="none" strike="noStrike">
                <a:solidFill>
                  <a:schemeClr val="dk2"/>
                </a:solidFill>
                <a:latin typeface="Hind"/>
                <a:ea typeface="Hind"/>
                <a:cs typeface="Hind"/>
                <a:sym typeface="Hind"/>
              </a:rPr>
              <a:t>.</a:t>
            </a:r>
            <a:endParaRPr b="0" i="0" sz="2000" u="none" cap="none" strike="noStrike">
              <a:solidFill>
                <a:schemeClr val="dk2"/>
              </a:solidFill>
              <a:latin typeface="Hind"/>
              <a:ea typeface="Hind"/>
              <a:cs typeface="Hind"/>
              <a:sym typeface="Hind"/>
            </a:endParaRPr>
          </a:p>
        </p:txBody>
      </p:sp>
      <p:pic>
        <p:nvPicPr>
          <p:cNvPr id="252" name="Google Shape;252;p32"/>
          <p:cNvPicPr preferRelativeResize="0"/>
          <p:nvPr/>
        </p:nvPicPr>
        <p:blipFill rotWithShape="1">
          <a:blip r:embed="rId3">
            <a:alphaModFix/>
          </a:blip>
          <a:srcRect b="0" l="0" r="0" t="0"/>
          <a:stretch/>
        </p:blipFill>
        <p:spPr>
          <a:xfrm>
            <a:off x="4838226" y="1152475"/>
            <a:ext cx="3915550" cy="2658835"/>
          </a:xfrm>
          <a:prstGeom prst="rect">
            <a:avLst/>
          </a:prstGeom>
          <a:noFill/>
          <a:ln>
            <a:noFill/>
          </a:ln>
        </p:spPr>
      </p:pic>
      <p:sp>
        <p:nvSpPr>
          <p:cNvPr id="253" name="Google Shape;253;p32"/>
          <p:cNvSpPr txBox="1"/>
          <p:nvPr/>
        </p:nvSpPr>
        <p:spPr>
          <a:xfrm>
            <a:off x="8297650" y="4650525"/>
            <a:ext cx="736500" cy="414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sng" cap="none" strike="noStrike">
                <a:solidFill>
                  <a:schemeClr val="hlink"/>
                </a:solidFill>
                <a:latin typeface="Hind"/>
                <a:ea typeface="Hind"/>
                <a:cs typeface="Hind"/>
                <a:sym typeface="Hind"/>
                <a:hlinkClick r:id="rId4"/>
              </a:rPr>
              <a:t>Source</a:t>
            </a:r>
            <a:endParaRPr b="0" i="0" sz="1000" u="none" cap="none" strike="noStrike">
              <a:solidFill>
                <a:srgbClr val="000000"/>
              </a:solidFill>
              <a:latin typeface="Hind"/>
              <a:ea typeface="Hind"/>
              <a:cs typeface="Hind"/>
              <a:sym typeface="Hind"/>
            </a:endParaRPr>
          </a:p>
        </p:txBody>
      </p:sp>
      <p:sp>
        <p:nvSpPr>
          <p:cNvPr id="254" name="Google Shape;254;p32"/>
          <p:cNvSpPr txBox="1"/>
          <p:nvPr/>
        </p:nvSpPr>
        <p:spPr>
          <a:xfrm>
            <a:off x="533575" y="1991625"/>
            <a:ext cx="4216800" cy="2658900"/>
          </a:xfrm>
          <a:prstGeom prst="rect">
            <a:avLst/>
          </a:prstGeom>
          <a:solidFill>
            <a:srgbClr val="F4CCCC"/>
          </a:solidFill>
          <a:ln>
            <a:noFill/>
          </a:ln>
        </p:spPr>
        <p:txBody>
          <a:bodyPr anchorCtr="0" anchor="ctr" bIns="91425" lIns="91425" spcFirstLastPara="1" rIns="91425" wrap="square" tIns="91425">
            <a:noAutofit/>
          </a:bodyPr>
          <a:lstStyle/>
          <a:p>
            <a:pPr indent="-355600" lvl="0" marL="4572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Model fits too well to specific cases </a:t>
            </a:r>
            <a:endParaRPr b="0" i="0" sz="2000" u="none" cap="none" strike="noStrike">
              <a:solidFill>
                <a:srgbClr val="595959"/>
              </a:solidFill>
              <a:latin typeface="Hind"/>
              <a:ea typeface="Hind"/>
              <a:cs typeface="Hind"/>
              <a:sym typeface="Hind"/>
            </a:endParaRPr>
          </a:p>
          <a:p>
            <a:pPr indent="-355600" lvl="0" marL="4572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Model is over-sensitive to sample-specific noise </a:t>
            </a:r>
            <a:endParaRPr b="0" i="0" sz="2000" u="none" cap="none" strike="noStrike">
              <a:solidFill>
                <a:srgbClr val="595959"/>
              </a:solidFill>
              <a:latin typeface="Hind"/>
              <a:ea typeface="Hind"/>
              <a:cs typeface="Hind"/>
              <a:sym typeface="Hind"/>
            </a:endParaRPr>
          </a:p>
          <a:p>
            <a:pPr indent="-355600" lvl="0" marL="4572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Model introduces too many variables/complexities than needed</a:t>
            </a:r>
            <a:endParaRPr b="0" i="0" sz="2000" u="none" cap="none" strike="noStrike">
              <a:solidFill>
                <a:srgbClr val="595959"/>
              </a:solidFill>
              <a:latin typeface="Hind"/>
              <a:ea typeface="Hind"/>
              <a:cs typeface="Hind"/>
              <a:sym typeface="Hi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descr="https://www.analyticsvidhya.com/wp-content/uploads/2014/10/K-judgement.png" id="259" name="Google Shape;259;p33"/>
          <p:cNvPicPr preferRelativeResize="0"/>
          <p:nvPr/>
        </p:nvPicPr>
        <p:blipFill rotWithShape="1">
          <a:blip r:embed="rId3">
            <a:alphaModFix/>
          </a:blip>
          <a:srcRect b="0" l="0" r="0" t="0"/>
          <a:stretch/>
        </p:blipFill>
        <p:spPr>
          <a:xfrm>
            <a:off x="4157897" y="189927"/>
            <a:ext cx="4827275" cy="2217525"/>
          </a:xfrm>
          <a:prstGeom prst="rect">
            <a:avLst/>
          </a:prstGeom>
          <a:noFill/>
          <a:ln>
            <a:noFill/>
          </a:ln>
        </p:spPr>
      </p:pic>
      <p:pic>
        <p:nvPicPr>
          <p:cNvPr descr="https://www.analyticsvidhya.com/wp-content/uploads/2014/10/K-judgement2.png" id="260" name="Google Shape;260;p33"/>
          <p:cNvPicPr preferRelativeResize="0"/>
          <p:nvPr/>
        </p:nvPicPr>
        <p:blipFill rotWithShape="1">
          <a:blip r:embed="rId4">
            <a:alphaModFix/>
          </a:blip>
          <a:srcRect b="0" l="0" r="0" t="0"/>
          <a:stretch/>
        </p:blipFill>
        <p:spPr>
          <a:xfrm>
            <a:off x="4157897" y="2452152"/>
            <a:ext cx="4827274" cy="2199917"/>
          </a:xfrm>
          <a:prstGeom prst="rect">
            <a:avLst/>
          </a:prstGeom>
          <a:noFill/>
          <a:ln>
            <a:noFill/>
          </a:ln>
        </p:spPr>
      </p:pic>
      <p:sp>
        <p:nvSpPr>
          <p:cNvPr id="261" name="Google Shape;261;p33"/>
          <p:cNvSpPr txBox="1"/>
          <p:nvPr>
            <p:ph type="title"/>
          </p:nvPr>
        </p:nvSpPr>
        <p:spPr>
          <a:xfrm>
            <a:off x="311700" y="2463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Relationship </a:t>
            </a:r>
            <a:endParaRPr sz="2400">
              <a:solidFill>
                <a:srgbClr val="613CB0"/>
              </a:solidFill>
              <a:latin typeface="Hind"/>
              <a:ea typeface="Hind"/>
              <a:cs typeface="Hind"/>
              <a:sym typeface="Hind"/>
            </a:endParaRPr>
          </a:p>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Between k and Fit</a:t>
            </a:r>
            <a:endParaRPr i="0" sz="2400" u="none" cap="none" strike="noStrike">
              <a:solidFill>
                <a:srgbClr val="613CB0"/>
              </a:solidFill>
              <a:latin typeface="Hind"/>
              <a:ea typeface="Hind"/>
              <a:cs typeface="Hind"/>
              <a:sym typeface="Hind"/>
            </a:endParaRPr>
          </a:p>
        </p:txBody>
      </p:sp>
      <p:sp>
        <p:nvSpPr>
          <p:cNvPr id="262" name="Google Shape;262;p33"/>
          <p:cNvSpPr txBox="1"/>
          <p:nvPr>
            <p:ph idx="1" type="body"/>
          </p:nvPr>
        </p:nvSpPr>
        <p:spPr>
          <a:xfrm>
            <a:off x="311700" y="1183025"/>
            <a:ext cx="37083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sz="2100">
                <a:latin typeface="Helvetica Neue"/>
                <a:ea typeface="Helvetica Neue"/>
                <a:cs typeface="Helvetica Neue"/>
                <a:sym typeface="Helvetica Neue"/>
              </a:rPr>
              <a:t>The </a:t>
            </a:r>
            <a:r>
              <a:rPr b="1" lang="en" sz="2100">
                <a:latin typeface="Helvetica Neue"/>
                <a:ea typeface="Helvetica Neue"/>
                <a:cs typeface="Helvetica Neue"/>
                <a:sym typeface="Helvetica Neue"/>
              </a:rPr>
              <a:t>k</a:t>
            </a:r>
            <a:r>
              <a:rPr lang="en" sz="2100">
                <a:latin typeface="Helvetica Neue"/>
                <a:ea typeface="Helvetica Neue"/>
                <a:cs typeface="Helvetica Neue"/>
                <a:sym typeface="Helvetica Neue"/>
              </a:rPr>
              <a:t> value you use has a relationship to the fit of the model</a:t>
            </a:r>
            <a:endParaRPr sz="1700"/>
          </a:p>
          <a:p>
            <a:pPr indent="0" lvl="0" marL="114300" rtl="0" algn="l">
              <a:lnSpc>
                <a:spcPct val="115000"/>
              </a:lnSpc>
              <a:spcBef>
                <a:spcPts val="2000"/>
              </a:spcBef>
              <a:spcAft>
                <a:spcPts val="0"/>
              </a:spcAft>
              <a:buSzPts val="1800"/>
              <a:buNone/>
            </a:pPr>
            <a:r>
              <a:rPr lang="en" sz="2100">
                <a:latin typeface="Helvetica Neue"/>
                <a:ea typeface="Helvetica Neue"/>
                <a:cs typeface="Helvetica Neue"/>
                <a:sym typeface="Helvetica Neue"/>
              </a:rPr>
              <a:t>A higher k gives a smoother line, but too large of a k and it is the average of all the data (or the label that is most common/likely)</a:t>
            </a:r>
            <a:endParaRPr sz="1700"/>
          </a:p>
        </p:txBody>
      </p:sp>
      <p:sp>
        <p:nvSpPr>
          <p:cNvPr id="263" name="Google Shape;263;p33"/>
          <p:cNvSpPr txBox="1"/>
          <p:nvPr/>
        </p:nvSpPr>
        <p:spPr>
          <a:xfrm>
            <a:off x="5709050" y="246300"/>
            <a:ext cx="5808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k=1</a:t>
            </a:r>
            <a:endParaRPr b="1" i="0" sz="1500" u="none" cap="none" strike="noStrike">
              <a:solidFill>
                <a:srgbClr val="000000"/>
              </a:solidFill>
              <a:latin typeface="Arial"/>
              <a:ea typeface="Arial"/>
              <a:cs typeface="Arial"/>
              <a:sym typeface="Arial"/>
            </a:endParaRPr>
          </a:p>
        </p:txBody>
      </p:sp>
      <p:sp>
        <p:nvSpPr>
          <p:cNvPr id="264" name="Google Shape;264;p33"/>
          <p:cNvSpPr txBox="1"/>
          <p:nvPr/>
        </p:nvSpPr>
        <p:spPr>
          <a:xfrm>
            <a:off x="8345300" y="189925"/>
            <a:ext cx="5808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k=3</a:t>
            </a:r>
            <a:endParaRPr b="1" i="0" sz="1500" u="none" cap="none" strike="noStrike">
              <a:solidFill>
                <a:srgbClr val="000000"/>
              </a:solidFill>
              <a:latin typeface="Arial"/>
              <a:ea typeface="Arial"/>
              <a:cs typeface="Arial"/>
              <a:sym typeface="Arial"/>
            </a:endParaRPr>
          </a:p>
        </p:txBody>
      </p:sp>
      <p:sp>
        <p:nvSpPr>
          <p:cNvPr id="265" name="Google Shape;265;p33"/>
          <p:cNvSpPr txBox="1"/>
          <p:nvPr/>
        </p:nvSpPr>
        <p:spPr>
          <a:xfrm>
            <a:off x="5709050" y="2452150"/>
            <a:ext cx="5808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k=5</a:t>
            </a:r>
            <a:endParaRPr b="1" i="0" sz="1500" u="none" cap="none" strike="noStrike">
              <a:solidFill>
                <a:srgbClr val="000000"/>
              </a:solidFill>
              <a:latin typeface="Arial"/>
              <a:ea typeface="Arial"/>
              <a:cs typeface="Arial"/>
              <a:sym typeface="Arial"/>
            </a:endParaRPr>
          </a:p>
        </p:txBody>
      </p:sp>
      <p:sp>
        <p:nvSpPr>
          <p:cNvPr id="266" name="Google Shape;266;p33"/>
          <p:cNvSpPr txBox="1"/>
          <p:nvPr/>
        </p:nvSpPr>
        <p:spPr>
          <a:xfrm>
            <a:off x="8345300" y="2452150"/>
            <a:ext cx="5808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k=7</a:t>
            </a:r>
            <a:endParaRPr b="1" i="0" sz="15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p:nvPr/>
        </p:nvSpPr>
        <p:spPr>
          <a:xfrm>
            <a:off x="2343150" y="2217750"/>
            <a:ext cx="4457700" cy="7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613CB0"/>
                </a:solidFill>
                <a:latin typeface="Hind"/>
                <a:ea typeface="Hind"/>
                <a:cs typeface="Hind"/>
                <a:sym typeface="Hind"/>
              </a:rPr>
              <a:t>Confusion Matrix</a:t>
            </a:r>
            <a:endParaRPr i="0" sz="4000" u="none" cap="none" strike="noStrike">
              <a:solidFill>
                <a:srgbClr val="613CB0"/>
              </a:solidFill>
              <a:latin typeface="Hind"/>
              <a:ea typeface="Hind"/>
              <a:cs typeface="Hind"/>
              <a:sym typeface="Hi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What is a Confusion Matrix?</a:t>
            </a:r>
            <a:endParaRPr i="0" sz="2400" u="none" cap="none" strike="noStrike">
              <a:solidFill>
                <a:srgbClr val="613CB0"/>
              </a:solidFill>
              <a:latin typeface="Hind"/>
              <a:ea typeface="Hind"/>
              <a:cs typeface="Hind"/>
              <a:sym typeface="Hind"/>
            </a:endParaRPr>
          </a:p>
        </p:txBody>
      </p:sp>
      <p:sp>
        <p:nvSpPr>
          <p:cNvPr id="277" name="Google Shape;27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Table used to describe the performance of a classifier on a set of binary test data for which the true values are known</a:t>
            </a:r>
            <a:endParaRPr/>
          </a:p>
        </p:txBody>
      </p:sp>
      <p:pic>
        <p:nvPicPr>
          <p:cNvPr descr="https://lh4.googleusercontent.com/qKzy__bQ2c35UdiQKd6qq6euHThMbOVFJb5qxLisEa-wd9az9kBxQSkEn-4v4ieYFdVd120thTPKQ3JYJmCd1qfT9oHR-ZPnMz-CO25UWZHTFNeEW9MH-tTuvWpbmWzjHC65qitDagQ" id="278" name="Google Shape;278;p35"/>
          <p:cNvPicPr preferRelativeResize="0"/>
          <p:nvPr/>
        </p:nvPicPr>
        <p:blipFill rotWithShape="1">
          <a:blip r:embed="rId3">
            <a:alphaModFix/>
          </a:blip>
          <a:srcRect b="0" l="0" r="0" t="0"/>
          <a:stretch/>
        </p:blipFill>
        <p:spPr>
          <a:xfrm>
            <a:off x="2337054" y="2098388"/>
            <a:ext cx="4469892" cy="276858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Sensitivity</a:t>
            </a:r>
            <a:endParaRPr i="0" sz="2400" u="none" cap="none" strike="noStrike">
              <a:solidFill>
                <a:srgbClr val="613CB0"/>
              </a:solidFill>
              <a:latin typeface="Hind"/>
              <a:ea typeface="Hind"/>
              <a:cs typeface="Hind"/>
              <a:sym typeface="Hind"/>
            </a:endParaRPr>
          </a:p>
        </p:txBody>
      </p:sp>
      <p:sp>
        <p:nvSpPr>
          <p:cNvPr id="284" name="Google Shape;284;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Called the </a:t>
            </a:r>
            <a:r>
              <a:rPr b="1" lang="en" sz="2200">
                <a:latin typeface="Helvetica Neue"/>
                <a:ea typeface="Helvetica Neue"/>
                <a:cs typeface="Helvetica Neue"/>
                <a:sym typeface="Helvetica Neue"/>
              </a:rPr>
              <a:t>true positive rate</a:t>
            </a:r>
            <a:endParaRPr/>
          </a:p>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Tells us how many positives are correctly identified as positives</a:t>
            </a:r>
            <a:endParaRPr/>
          </a:p>
          <a:p>
            <a:pPr indent="0" lvl="0" marL="114300" rtl="0" algn="l">
              <a:lnSpc>
                <a:spcPct val="115000"/>
              </a:lnSpc>
              <a:spcBef>
                <a:spcPts val="0"/>
              </a:spcBef>
              <a:spcAft>
                <a:spcPts val="0"/>
              </a:spcAft>
              <a:buSzPts val="1800"/>
              <a:buNone/>
            </a:pPr>
            <a:r>
              <a:rPr b="1" lang="en" sz="2200">
                <a:latin typeface="Helvetica Neue"/>
                <a:ea typeface="Helvetica Neue"/>
                <a:cs typeface="Helvetica Neue"/>
                <a:sym typeface="Helvetica Neue"/>
              </a:rPr>
              <a:t>Optimize for: </a:t>
            </a:r>
            <a:r>
              <a:rPr lang="en" sz="2200">
                <a:latin typeface="Helvetica Neue"/>
                <a:ea typeface="Helvetica Neue"/>
                <a:cs typeface="Helvetica Neue"/>
                <a:sym typeface="Helvetica Neue"/>
              </a:rPr>
              <a:t>Initial diagnosis of fatal disease</a:t>
            </a:r>
            <a:endParaRPr b="1" sz="2200">
              <a:latin typeface="Helvetica Neue"/>
              <a:ea typeface="Helvetica Neue"/>
              <a:cs typeface="Helvetica Neue"/>
              <a:sym typeface="Helvetica Neue"/>
            </a:endParaRPr>
          </a:p>
        </p:txBody>
      </p:sp>
      <p:sp>
        <p:nvSpPr>
          <p:cNvPr id="285" name="Google Shape;285;p36"/>
          <p:cNvSpPr/>
          <p:nvPr/>
        </p:nvSpPr>
        <p:spPr>
          <a:xfrm>
            <a:off x="3936046" y="2879873"/>
            <a:ext cx="4986600" cy="1304400"/>
          </a:xfrm>
          <a:prstGeom prst="rect">
            <a:avLst/>
          </a:prstGeom>
          <a:solidFill>
            <a:srgbClr val="595A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6" name="Google Shape;286;p36"/>
          <p:cNvSpPr txBox="1"/>
          <p:nvPr/>
        </p:nvSpPr>
        <p:spPr>
          <a:xfrm>
            <a:off x="3936046" y="3014566"/>
            <a:ext cx="4852800" cy="15543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1" i="0" lang="en" sz="2200" u="none" cap="none" strike="noStrike">
                <a:solidFill>
                  <a:schemeClr val="lt1"/>
                </a:solidFill>
                <a:latin typeface="Helvetica Neue"/>
                <a:ea typeface="Helvetica Neue"/>
                <a:cs typeface="Helvetica Neue"/>
                <a:sym typeface="Helvetica Neue"/>
              </a:rPr>
              <a:t>Sensitivity </a:t>
            </a:r>
            <a:r>
              <a:rPr b="0" i="0" lang="en" sz="2200" u="none" cap="none" strike="noStrike">
                <a:solidFill>
                  <a:schemeClr val="lt1"/>
                </a:solidFill>
                <a:latin typeface="Helvetica Neue"/>
                <a:ea typeface="Helvetica Neue"/>
                <a:cs typeface="Helvetica Neue"/>
                <a:sym typeface="Helvetica Neue"/>
              </a:rPr>
              <a:t>= True Positive/</a:t>
            </a:r>
            <a:endParaRPr b="0" i="0" sz="1400" u="none" cap="none" strike="noStrike">
              <a:solidFill>
                <a:srgbClr val="000000"/>
              </a:solidFill>
              <a:latin typeface="Arial"/>
              <a:ea typeface="Arial"/>
              <a:cs typeface="Arial"/>
              <a:sym typeface="Arial"/>
            </a:endParaRPr>
          </a:p>
          <a:p>
            <a:pPr indent="0" lvl="0" marL="114300" marR="0" rtl="0" algn="ctr">
              <a:lnSpc>
                <a:spcPct val="115000"/>
              </a:lnSpc>
              <a:spcBef>
                <a:spcPts val="0"/>
              </a:spcBef>
              <a:spcAft>
                <a:spcPts val="0"/>
              </a:spcAft>
              <a:buClr>
                <a:schemeClr val="dk2"/>
              </a:buClr>
              <a:buSzPts val="1800"/>
              <a:buFont typeface="Arial"/>
              <a:buNone/>
            </a:pPr>
            <a:r>
              <a:rPr b="0" i="0" lang="en" sz="2200" u="none" cap="none" strike="noStrike">
                <a:solidFill>
                  <a:schemeClr val="lt1"/>
                </a:solidFill>
                <a:latin typeface="Helvetica Neue"/>
                <a:ea typeface="Helvetica Neue"/>
                <a:cs typeface="Helvetica Neue"/>
                <a:sym typeface="Helvetica Neue"/>
              </a:rPr>
              <a:t>(True Positive + False Negative)</a:t>
            </a:r>
            <a:endParaRPr b="0" i="0" sz="1400" u="none" cap="none" strike="noStrike">
              <a:solidFill>
                <a:srgbClr val="000000"/>
              </a:solidFill>
              <a:latin typeface="Arial"/>
              <a:ea typeface="Arial"/>
              <a:cs typeface="Arial"/>
              <a:sym typeface="Arial"/>
            </a:endParaRPr>
          </a:p>
        </p:txBody>
      </p:sp>
      <p:pic>
        <p:nvPicPr>
          <p:cNvPr descr="https://lh4.googleusercontent.com/qKzy__bQ2c35UdiQKd6qq6euHThMbOVFJb5qxLisEa-wd9az9kBxQSkEn-4v4ieYFdVd120thTPKQ3JYJmCd1qfT9oHR-ZPnMz-CO25UWZHTFNeEW9MH-tTuvWpbmWzjHC65qitDagQ" id="287" name="Google Shape;287;p36"/>
          <p:cNvPicPr preferRelativeResize="0"/>
          <p:nvPr/>
        </p:nvPicPr>
        <p:blipFill rotWithShape="1">
          <a:blip r:embed="rId3">
            <a:alphaModFix/>
          </a:blip>
          <a:srcRect b="0" l="0" r="0" t="0"/>
          <a:stretch/>
        </p:blipFill>
        <p:spPr>
          <a:xfrm>
            <a:off x="402426" y="2546950"/>
            <a:ext cx="3411025" cy="21127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Specificity</a:t>
            </a:r>
            <a:endParaRPr i="0" sz="2400" u="none" cap="none" strike="noStrike">
              <a:solidFill>
                <a:srgbClr val="613CB0"/>
              </a:solidFill>
              <a:latin typeface="Hind"/>
              <a:ea typeface="Hind"/>
              <a:cs typeface="Hind"/>
              <a:sym typeface="Hind"/>
            </a:endParaRPr>
          </a:p>
        </p:txBody>
      </p:sp>
      <p:sp>
        <p:nvSpPr>
          <p:cNvPr id="293" name="Google Shape;293;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Called the </a:t>
            </a:r>
            <a:r>
              <a:rPr b="1" lang="en" sz="2200">
                <a:latin typeface="Helvetica Neue"/>
                <a:ea typeface="Helvetica Neue"/>
                <a:cs typeface="Helvetica Neue"/>
                <a:sym typeface="Helvetica Neue"/>
              </a:rPr>
              <a:t>true negative rate</a:t>
            </a:r>
            <a:endParaRPr/>
          </a:p>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Tells us how many negatives are correctly identified as negatives</a:t>
            </a:r>
            <a:endParaRPr/>
          </a:p>
          <a:p>
            <a:pPr indent="0" lvl="0" marL="114300" rtl="0" algn="l">
              <a:lnSpc>
                <a:spcPct val="115000"/>
              </a:lnSpc>
              <a:spcBef>
                <a:spcPts val="0"/>
              </a:spcBef>
              <a:spcAft>
                <a:spcPts val="0"/>
              </a:spcAft>
              <a:buSzPts val="1800"/>
              <a:buNone/>
            </a:pPr>
            <a:r>
              <a:rPr b="1" lang="en" sz="2200">
                <a:latin typeface="Helvetica Neue"/>
                <a:ea typeface="Helvetica Neue"/>
                <a:cs typeface="Helvetica Neue"/>
                <a:sym typeface="Helvetica Neue"/>
              </a:rPr>
              <a:t>Optimize for: </a:t>
            </a:r>
            <a:r>
              <a:rPr lang="en" sz="2200">
                <a:latin typeface="Helvetica Neue"/>
                <a:ea typeface="Helvetica Neue"/>
                <a:cs typeface="Helvetica Neue"/>
                <a:sym typeface="Helvetica Neue"/>
              </a:rPr>
              <a:t>Exclusion of legit emails from spam classification</a:t>
            </a:r>
            <a:endParaRPr sz="2200">
              <a:latin typeface="Helvetica Neue"/>
              <a:ea typeface="Helvetica Neue"/>
              <a:cs typeface="Helvetica Neue"/>
              <a:sym typeface="Helvetica Neue"/>
            </a:endParaRPr>
          </a:p>
          <a:p>
            <a:pPr indent="0" lvl="0" marL="114300" rtl="0" algn="l">
              <a:lnSpc>
                <a:spcPct val="115000"/>
              </a:lnSpc>
              <a:spcBef>
                <a:spcPts val="0"/>
              </a:spcBef>
              <a:spcAft>
                <a:spcPts val="0"/>
              </a:spcAft>
              <a:buSzPts val="1800"/>
              <a:buNone/>
            </a:pPr>
            <a:r>
              <a:t/>
            </a:r>
            <a:endParaRPr sz="2200">
              <a:latin typeface="Helvetica Neue"/>
              <a:ea typeface="Helvetica Neue"/>
              <a:cs typeface="Helvetica Neue"/>
              <a:sym typeface="Helvetica Neue"/>
            </a:endParaRPr>
          </a:p>
        </p:txBody>
      </p:sp>
      <p:sp>
        <p:nvSpPr>
          <p:cNvPr id="294" name="Google Shape;294;p37"/>
          <p:cNvSpPr/>
          <p:nvPr/>
        </p:nvSpPr>
        <p:spPr>
          <a:xfrm>
            <a:off x="3936046" y="2879873"/>
            <a:ext cx="4986600" cy="1304400"/>
          </a:xfrm>
          <a:prstGeom prst="rect">
            <a:avLst/>
          </a:prstGeom>
          <a:solidFill>
            <a:srgbClr val="595A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5" name="Google Shape;295;p37"/>
          <p:cNvSpPr txBox="1"/>
          <p:nvPr/>
        </p:nvSpPr>
        <p:spPr>
          <a:xfrm>
            <a:off x="3936046" y="3014566"/>
            <a:ext cx="4852800" cy="15543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1" i="0" lang="en" sz="2200" u="none" cap="none" strike="noStrike">
                <a:solidFill>
                  <a:schemeClr val="lt1"/>
                </a:solidFill>
                <a:latin typeface="Helvetica Neue"/>
                <a:ea typeface="Helvetica Neue"/>
                <a:cs typeface="Helvetica Neue"/>
                <a:sym typeface="Helvetica Neue"/>
              </a:rPr>
              <a:t>Sensitivity </a:t>
            </a:r>
            <a:r>
              <a:rPr b="0" i="0" lang="en" sz="2200" u="none" cap="none" strike="noStrike">
                <a:solidFill>
                  <a:schemeClr val="lt1"/>
                </a:solidFill>
                <a:latin typeface="Helvetica Neue"/>
                <a:ea typeface="Helvetica Neue"/>
                <a:cs typeface="Helvetica Neue"/>
                <a:sym typeface="Helvetica Neue"/>
              </a:rPr>
              <a:t>= True </a:t>
            </a:r>
            <a:r>
              <a:rPr lang="en" sz="2200">
                <a:solidFill>
                  <a:schemeClr val="lt1"/>
                </a:solidFill>
                <a:latin typeface="Helvetica Neue"/>
                <a:ea typeface="Helvetica Neue"/>
                <a:cs typeface="Helvetica Neue"/>
                <a:sym typeface="Helvetica Neue"/>
              </a:rPr>
              <a:t>Negative</a:t>
            </a:r>
            <a:r>
              <a:rPr b="0" i="0" lang="en" sz="2200" u="none" cap="none" strike="noStrike">
                <a:solidFill>
                  <a:schemeClr val="lt1"/>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a:p>
            <a:pPr indent="0" lvl="0" marL="114300" marR="0" rtl="0" algn="ctr">
              <a:lnSpc>
                <a:spcPct val="115000"/>
              </a:lnSpc>
              <a:spcBef>
                <a:spcPts val="0"/>
              </a:spcBef>
              <a:spcAft>
                <a:spcPts val="0"/>
              </a:spcAft>
              <a:buClr>
                <a:schemeClr val="dk2"/>
              </a:buClr>
              <a:buSzPts val="1800"/>
              <a:buFont typeface="Arial"/>
              <a:buNone/>
            </a:pPr>
            <a:r>
              <a:rPr b="0" i="0" lang="en" sz="2200" u="none" cap="none" strike="noStrike">
                <a:solidFill>
                  <a:schemeClr val="lt1"/>
                </a:solidFill>
                <a:latin typeface="Helvetica Neue"/>
                <a:ea typeface="Helvetica Neue"/>
                <a:cs typeface="Helvetica Neue"/>
                <a:sym typeface="Helvetica Neue"/>
              </a:rPr>
              <a:t>(True </a:t>
            </a:r>
            <a:r>
              <a:rPr lang="en" sz="2200">
                <a:solidFill>
                  <a:schemeClr val="lt1"/>
                </a:solidFill>
                <a:latin typeface="Helvetica Neue"/>
                <a:ea typeface="Helvetica Neue"/>
                <a:cs typeface="Helvetica Neue"/>
                <a:sym typeface="Helvetica Neue"/>
              </a:rPr>
              <a:t>Negative</a:t>
            </a:r>
            <a:r>
              <a:rPr b="0" i="0" lang="en" sz="2200" u="none" cap="none" strike="noStrike">
                <a:solidFill>
                  <a:schemeClr val="lt1"/>
                </a:solidFill>
                <a:latin typeface="Helvetica Neue"/>
                <a:ea typeface="Helvetica Neue"/>
                <a:cs typeface="Helvetica Neue"/>
                <a:sym typeface="Helvetica Neue"/>
              </a:rPr>
              <a:t> + False </a:t>
            </a:r>
            <a:r>
              <a:rPr lang="en" sz="2200">
                <a:solidFill>
                  <a:schemeClr val="lt1"/>
                </a:solidFill>
                <a:latin typeface="Helvetica Neue"/>
                <a:ea typeface="Helvetica Neue"/>
                <a:cs typeface="Helvetica Neue"/>
                <a:sym typeface="Helvetica Neue"/>
              </a:rPr>
              <a:t>Positive</a:t>
            </a:r>
            <a:r>
              <a:rPr b="0" i="0" lang="en" sz="2200" u="none" cap="none" strike="noStrike">
                <a:solidFill>
                  <a:schemeClr val="lt1"/>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pic>
        <p:nvPicPr>
          <p:cNvPr descr="https://lh4.googleusercontent.com/qKzy__bQ2c35UdiQKd6qq6euHThMbOVFJb5qxLisEa-wd9az9kBxQSkEn-4v4ieYFdVd120thTPKQ3JYJmCd1qfT9oHR-ZPnMz-CO25UWZHTFNeEW9MH-tTuvWpbmWzjHC65qitDagQ" id="296" name="Google Shape;296;p37"/>
          <p:cNvPicPr preferRelativeResize="0"/>
          <p:nvPr/>
        </p:nvPicPr>
        <p:blipFill rotWithShape="1">
          <a:blip r:embed="rId3">
            <a:alphaModFix/>
          </a:blip>
          <a:srcRect b="0" l="0" r="0" t="0"/>
          <a:stretch/>
        </p:blipFill>
        <p:spPr>
          <a:xfrm>
            <a:off x="402426" y="2546950"/>
            <a:ext cx="3411025" cy="21127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Question </a:t>
            </a:r>
            <a:endParaRPr i="0" sz="2400" u="none" cap="none" strike="noStrike">
              <a:solidFill>
                <a:srgbClr val="613CB0"/>
              </a:solidFill>
              <a:latin typeface="Hind"/>
              <a:ea typeface="Hind"/>
              <a:cs typeface="Hind"/>
              <a:sym typeface="Hind"/>
            </a:endParaRPr>
          </a:p>
        </p:txBody>
      </p:sp>
      <p:sp>
        <p:nvSpPr>
          <p:cNvPr id="302" name="Google Shape;302;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200">
                <a:latin typeface="Helvetica Neue"/>
                <a:ea typeface="Helvetica Neue"/>
                <a:cs typeface="Helvetica Neue"/>
                <a:sym typeface="Helvetica Neue"/>
              </a:rPr>
              <a:t>Which is an example of when you would want </a:t>
            </a:r>
            <a:r>
              <a:rPr b="1" lang="en" sz="2200">
                <a:latin typeface="Helvetica Neue"/>
                <a:ea typeface="Helvetica Neue"/>
                <a:cs typeface="Helvetica Neue"/>
                <a:sym typeface="Helvetica Neue"/>
              </a:rPr>
              <a:t>higher </a:t>
            </a:r>
            <a:r>
              <a:rPr b="1" lang="en" sz="2200">
                <a:latin typeface="Helvetica Neue"/>
                <a:ea typeface="Helvetica Neue"/>
                <a:cs typeface="Helvetica Neue"/>
                <a:sym typeface="Helvetica Neue"/>
              </a:rPr>
              <a:t>specificity</a:t>
            </a:r>
            <a:r>
              <a:rPr b="1" lang="en" sz="2200">
                <a:latin typeface="Helvetica Neue"/>
                <a:ea typeface="Helvetica Neue"/>
                <a:cs typeface="Helvetica Neue"/>
                <a:sym typeface="Helvetica Neue"/>
              </a:rPr>
              <a:t>?</a:t>
            </a:r>
            <a:endParaRPr b="1" sz="22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2200">
              <a:latin typeface="Helvetica Neue"/>
              <a:ea typeface="Helvetica Neue"/>
              <a:cs typeface="Helvetica Neue"/>
              <a:sym typeface="Helvetica Neue"/>
            </a:endParaRPr>
          </a:p>
          <a:p>
            <a:pPr indent="-368300" lvl="0" marL="457200" marR="0" rtl="0" algn="l">
              <a:lnSpc>
                <a:spcPct val="115000"/>
              </a:lnSpc>
              <a:spcBef>
                <a:spcPts val="0"/>
              </a:spcBef>
              <a:spcAft>
                <a:spcPts val="0"/>
              </a:spcAft>
              <a:buSzPts val="2200"/>
              <a:buFont typeface="Helvetica Neue"/>
              <a:buAutoNum type="alphaUcPeriod"/>
            </a:pPr>
            <a:r>
              <a:rPr lang="en" sz="2200">
                <a:latin typeface="Helvetica Neue"/>
                <a:ea typeface="Helvetica Neue"/>
                <a:cs typeface="Helvetica Neue"/>
                <a:sym typeface="Helvetica Neue"/>
              </a:rPr>
              <a:t>DNA tests for a death penalty case</a:t>
            </a:r>
            <a:endParaRPr/>
          </a:p>
          <a:p>
            <a:pPr indent="-368300" lvl="0" marL="457200" marR="0" rtl="0" algn="l">
              <a:lnSpc>
                <a:spcPct val="115000"/>
              </a:lnSpc>
              <a:spcBef>
                <a:spcPts val="0"/>
              </a:spcBef>
              <a:spcAft>
                <a:spcPts val="0"/>
              </a:spcAft>
              <a:buSzPts val="2200"/>
              <a:buFont typeface="Helvetica Neue"/>
              <a:buAutoNum type="alphaUcPeriod"/>
            </a:pPr>
            <a:r>
              <a:rPr lang="en" sz="2200">
                <a:latin typeface="Helvetica Neue"/>
                <a:ea typeface="Helvetica Neue"/>
                <a:cs typeface="Helvetica Neue"/>
                <a:sym typeface="Helvetica Neue"/>
              </a:rPr>
              <a:t>Deciding which iPhone to buy</a:t>
            </a:r>
            <a:endParaRPr/>
          </a:p>
          <a:p>
            <a:pPr indent="-368300" lvl="0" marL="457200" marR="0" rtl="0" algn="l">
              <a:lnSpc>
                <a:spcPct val="115000"/>
              </a:lnSpc>
              <a:spcBef>
                <a:spcPts val="0"/>
              </a:spcBef>
              <a:spcAft>
                <a:spcPts val="0"/>
              </a:spcAft>
              <a:buSzPts val="2200"/>
              <a:buFont typeface="Helvetica Neue"/>
              <a:buAutoNum type="alphaUcPeriod"/>
            </a:pPr>
            <a:r>
              <a:rPr lang="en" sz="2200">
                <a:latin typeface="Helvetica Neue"/>
                <a:ea typeface="Helvetica Neue"/>
                <a:cs typeface="Helvetica Neue"/>
                <a:sym typeface="Helvetica Neue"/>
              </a:rPr>
              <a:t>Airport security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Overall Accuracy</a:t>
            </a:r>
            <a:endParaRPr i="0" sz="2400" u="none" cap="none" strike="noStrike">
              <a:solidFill>
                <a:srgbClr val="613CB0"/>
              </a:solidFill>
              <a:latin typeface="Hind"/>
              <a:ea typeface="Hind"/>
              <a:cs typeface="Hind"/>
              <a:sym typeface="Hind"/>
            </a:endParaRPr>
          </a:p>
        </p:txBody>
      </p:sp>
      <p:sp>
        <p:nvSpPr>
          <p:cNvPr id="308" name="Google Shape;308;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Proportion of correct predictions</a:t>
            </a:r>
            <a:endParaRPr/>
          </a:p>
        </p:txBody>
      </p:sp>
      <p:sp>
        <p:nvSpPr>
          <p:cNvPr id="309" name="Google Shape;309;p39"/>
          <p:cNvSpPr txBox="1"/>
          <p:nvPr/>
        </p:nvSpPr>
        <p:spPr>
          <a:xfrm>
            <a:off x="2145646" y="2612280"/>
            <a:ext cx="4852800" cy="15543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1" i="0" lang="en" sz="2200" u="none" cap="none" strike="noStrike">
                <a:solidFill>
                  <a:schemeClr val="lt1"/>
                </a:solidFill>
                <a:latin typeface="Helvetica Neue"/>
                <a:ea typeface="Helvetica Neue"/>
                <a:cs typeface="Helvetica Neue"/>
                <a:sym typeface="Helvetica Neue"/>
              </a:rPr>
              <a:t>Sensitivity </a:t>
            </a:r>
            <a:r>
              <a:rPr b="0" i="0" lang="en" sz="2200" u="none" cap="none" strike="noStrike">
                <a:solidFill>
                  <a:schemeClr val="lt1"/>
                </a:solidFill>
                <a:latin typeface="Helvetica Neue"/>
                <a:ea typeface="Helvetica Neue"/>
                <a:cs typeface="Helvetica Neue"/>
                <a:sym typeface="Helvetica Neue"/>
              </a:rPr>
              <a:t>= True Negative/</a:t>
            </a:r>
            <a:endParaRPr b="0" i="0" sz="1400" u="none" cap="none" strike="noStrike">
              <a:solidFill>
                <a:srgbClr val="000000"/>
              </a:solidFill>
              <a:latin typeface="Arial"/>
              <a:ea typeface="Arial"/>
              <a:cs typeface="Arial"/>
              <a:sym typeface="Arial"/>
            </a:endParaRPr>
          </a:p>
          <a:p>
            <a:pPr indent="0" lvl="0" marL="114300" marR="0" rtl="0" algn="ctr">
              <a:lnSpc>
                <a:spcPct val="115000"/>
              </a:lnSpc>
              <a:spcBef>
                <a:spcPts val="0"/>
              </a:spcBef>
              <a:spcAft>
                <a:spcPts val="0"/>
              </a:spcAft>
              <a:buClr>
                <a:schemeClr val="dk2"/>
              </a:buClr>
              <a:buSzPts val="1800"/>
              <a:buFont typeface="Arial"/>
              <a:buNone/>
            </a:pPr>
            <a:r>
              <a:rPr b="0" i="0" lang="en" sz="2200" u="none" cap="none" strike="noStrike">
                <a:solidFill>
                  <a:schemeClr val="lt1"/>
                </a:solidFill>
                <a:latin typeface="Helvetica Neue"/>
                <a:ea typeface="Helvetica Neue"/>
                <a:cs typeface="Helvetica Neue"/>
                <a:sym typeface="Helvetica Neue"/>
              </a:rPr>
              <a:t>(True Negative + False Positive)</a:t>
            </a:r>
            <a:endParaRPr b="0" i="0" sz="1400" u="none" cap="none" strike="noStrike">
              <a:solidFill>
                <a:srgbClr val="000000"/>
              </a:solidFill>
              <a:latin typeface="Arial"/>
              <a:ea typeface="Arial"/>
              <a:cs typeface="Arial"/>
              <a:sym typeface="Arial"/>
            </a:endParaRPr>
          </a:p>
        </p:txBody>
      </p:sp>
      <p:sp>
        <p:nvSpPr>
          <p:cNvPr id="310" name="Google Shape;310;p39"/>
          <p:cNvSpPr/>
          <p:nvPr/>
        </p:nvSpPr>
        <p:spPr>
          <a:xfrm>
            <a:off x="3859846" y="2395700"/>
            <a:ext cx="4986600" cy="1304400"/>
          </a:xfrm>
          <a:prstGeom prst="rect">
            <a:avLst/>
          </a:prstGeom>
          <a:solidFill>
            <a:srgbClr val="595A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1" name="Google Shape;311;p39"/>
          <p:cNvSpPr txBox="1"/>
          <p:nvPr/>
        </p:nvSpPr>
        <p:spPr>
          <a:xfrm>
            <a:off x="3783646" y="2493997"/>
            <a:ext cx="5127000" cy="15543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1" i="0" lang="en" sz="2200" u="none" cap="none" strike="noStrike">
                <a:solidFill>
                  <a:schemeClr val="lt1"/>
                </a:solidFill>
                <a:latin typeface="Helvetica Neue"/>
                <a:ea typeface="Helvetica Neue"/>
                <a:cs typeface="Helvetica Neue"/>
                <a:sym typeface="Helvetica Neue"/>
              </a:rPr>
              <a:t>Accuracy </a:t>
            </a:r>
            <a:r>
              <a:rPr b="0" i="0" lang="en" sz="2200" u="none" cap="none" strike="noStrike">
                <a:solidFill>
                  <a:schemeClr val="lt1"/>
                </a:solidFill>
                <a:latin typeface="Helvetica Neue"/>
                <a:ea typeface="Helvetica Neue"/>
                <a:cs typeface="Helvetica Neue"/>
                <a:sym typeface="Helvetica Neue"/>
              </a:rPr>
              <a:t>= </a:t>
            </a:r>
            <a:endParaRPr b="0" i="0" sz="1400" u="none" cap="none" strike="noStrike">
              <a:solidFill>
                <a:srgbClr val="000000"/>
              </a:solidFill>
              <a:latin typeface="Arial"/>
              <a:ea typeface="Arial"/>
              <a:cs typeface="Arial"/>
              <a:sym typeface="Arial"/>
            </a:endParaRPr>
          </a:p>
          <a:p>
            <a:pPr indent="0" lvl="0" marL="114300" marR="0" rtl="0" algn="ctr">
              <a:lnSpc>
                <a:spcPct val="115000"/>
              </a:lnSpc>
              <a:spcBef>
                <a:spcPts val="0"/>
              </a:spcBef>
              <a:spcAft>
                <a:spcPts val="0"/>
              </a:spcAft>
              <a:buClr>
                <a:schemeClr val="dk2"/>
              </a:buClr>
              <a:buSzPts val="1800"/>
              <a:buFont typeface="Arial"/>
              <a:buNone/>
            </a:pPr>
            <a:r>
              <a:rPr b="0" i="0" lang="en" sz="2200" u="none" cap="none" strike="noStrike">
                <a:solidFill>
                  <a:schemeClr val="lt1"/>
                </a:solidFill>
                <a:latin typeface="Helvetica Neue"/>
                <a:ea typeface="Helvetica Neue"/>
                <a:cs typeface="Helvetica Neue"/>
                <a:sym typeface="Helvetica Neue"/>
              </a:rPr>
              <a:t>(True Positive + True Negative) / Total</a:t>
            </a:r>
            <a:endParaRPr b="0" i="0" sz="1400" u="none" cap="none" strike="noStrike">
              <a:solidFill>
                <a:srgbClr val="000000"/>
              </a:solidFill>
              <a:latin typeface="Arial"/>
              <a:ea typeface="Arial"/>
              <a:cs typeface="Arial"/>
              <a:sym typeface="Arial"/>
            </a:endParaRPr>
          </a:p>
        </p:txBody>
      </p:sp>
      <p:pic>
        <p:nvPicPr>
          <p:cNvPr descr="https://lh4.googleusercontent.com/qKzy__bQ2c35UdiQKd6qq6euHThMbOVFJb5qxLisEa-wd9az9kBxQSkEn-4v4ieYFdVd120thTPKQ3JYJmCd1qfT9oHR-ZPnMz-CO25UWZHTFNeEW9MH-tTuvWpbmWzjHC65qitDagQ" id="312" name="Google Shape;312;p39"/>
          <p:cNvPicPr preferRelativeResize="0"/>
          <p:nvPr/>
        </p:nvPicPr>
        <p:blipFill rotWithShape="1">
          <a:blip r:embed="rId3">
            <a:alphaModFix/>
          </a:blip>
          <a:srcRect b="0" l="0" r="0" t="0"/>
          <a:stretch/>
        </p:blipFill>
        <p:spPr>
          <a:xfrm>
            <a:off x="372626" y="1991538"/>
            <a:ext cx="3411025" cy="21127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Overall Error Rate</a:t>
            </a:r>
            <a:endParaRPr i="0" sz="2400" u="none" cap="none" strike="noStrike">
              <a:solidFill>
                <a:srgbClr val="613CB0"/>
              </a:solidFill>
              <a:latin typeface="Hind"/>
              <a:ea typeface="Hind"/>
              <a:cs typeface="Hind"/>
              <a:sym typeface="Hind"/>
            </a:endParaRPr>
          </a:p>
        </p:txBody>
      </p:sp>
      <p:sp>
        <p:nvSpPr>
          <p:cNvPr id="318" name="Google Shape;318;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 sz="2200">
                <a:latin typeface="Helvetica Neue"/>
                <a:ea typeface="Helvetica Neue"/>
                <a:cs typeface="Helvetica Neue"/>
                <a:sym typeface="Helvetica Neue"/>
              </a:rPr>
              <a:t>Proportion of incorrect predictions</a:t>
            </a:r>
            <a:endParaRPr/>
          </a:p>
        </p:txBody>
      </p:sp>
      <p:sp>
        <p:nvSpPr>
          <p:cNvPr id="319" name="Google Shape;319;p40"/>
          <p:cNvSpPr txBox="1"/>
          <p:nvPr/>
        </p:nvSpPr>
        <p:spPr>
          <a:xfrm>
            <a:off x="2145646" y="2612280"/>
            <a:ext cx="4852800" cy="15543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1" i="0" lang="en" sz="2200" u="none" cap="none" strike="noStrike">
                <a:solidFill>
                  <a:schemeClr val="lt1"/>
                </a:solidFill>
                <a:latin typeface="Helvetica Neue"/>
                <a:ea typeface="Helvetica Neue"/>
                <a:cs typeface="Helvetica Neue"/>
                <a:sym typeface="Helvetica Neue"/>
              </a:rPr>
              <a:t>Sensitivity </a:t>
            </a:r>
            <a:r>
              <a:rPr b="0" i="0" lang="en" sz="2200" u="none" cap="none" strike="noStrike">
                <a:solidFill>
                  <a:schemeClr val="lt1"/>
                </a:solidFill>
                <a:latin typeface="Helvetica Neue"/>
                <a:ea typeface="Helvetica Neue"/>
                <a:cs typeface="Helvetica Neue"/>
                <a:sym typeface="Helvetica Neue"/>
              </a:rPr>
              <a:t>= True Negative/</a:t>
            </a:r>
            <a:endParaRPr b="0" i="0" sz="1400" u="none" cap="none" strike="noStrike">
              <a:solidFill>
                <a:srgbClr val="000000"/>
              </a:solidFill>
              <a:latin typeface="Arial"/>
              <a:ea typeface="Arial"/>
              <a:cs typeface="Arial"/>
              <a:sym typeface="Arial"/>
            </a:endParaRPr>
          </a:p>
          <a:p>
            <a:pPr indent="0" lvl="0" marL="114300" marR="0" rtl="0" algn="ctr">
              <a:lnSpc>
                <a:spcPct val="115000"/>
              </a:lnSpc>
              <a:spcBef>
                <a:spcPts val="0"/>
              </a:spcBef>
              <a:spcAft>
                <a:spcPts val="0"/>
              </a:spcAft>
              <a:buClr>
                <a:schemeClr val="dk2"/>
              </a:buClr>
              <a:buSzPts val="1800"/>
              <a:buFont typeface="Arial"/>
              <a:buNone/>
            </a:pPr>
            <a:r>
              <a:rPr b="0" i="0" lang="en" sz="2200" u="none" cap="none" strike="noStrike">
                <a:solidFill>
                  <a:schemeClr val="lt1"/>
                </a:solidFill>
                <a:latin typeface="Helvetica Neue"/>
                <a:ea typeface="Helvetica Neue"/>
                <a:cs typeface="Helvetica Neue"/>
                <a:sym typeface="Helvetica Neue"/>
              </a:rPr>
              <a:t>(True Negative + False Positive)</a:t>
            </a:r>
            <a:endParaRPr b="0" i="0" sz="1400" u="none" cap="none" strike="noStrike">
              <a:solidFill>
                <a:srgbClr val="000000"/>
              </a:solidFill>
              <a:latin typeface="Arial"/>
              <a:ea typeface="Arial"/>
              <a:cs typeface="Arial"/>
              <a:sym typeface="Arial"/>
            </a:endParaRPr>
          </a:p>
        </p:txBody>
      </p:sp>
      <p:sp>
        <p:nvSpPr>
          <p:cNvPr id="320" name="Google Shape;320;p40"/>
          <p:cNvSpPr/>
          <p:nvPr/>
        </p:nvSpPr>
        <p:spPr>
          <a:xfrm>
            <a:off x="3794345" y="2450225"/>
            <a:ext cx="5090400" cy="1304400"/>
          </a:xfrm>
          <a:prstGeom prst="rect">
            <a:avLst/>
          </a:prstGeom>
          <a:solidFill>
            <a:srgbClr val="595A89"/>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1" name="Google Shape;321;p40"/>
          <p:cNvSpPr txBox="1"/>
          <p:nvPr/>
        </p:nvSpPr>
        <p:spPr>
          <a:xfrm>
            <a:off x="3794350" y="2598125"/>
            <a:ext cx="5090400" cy="1008600"/>
          </a:xfrm>
          <a:prstGeom prst="rect">
            <a:avLst/>
          </a:prstGeom>
          <a:noFill/>
          <a:ln>
            <a:noFill/>
          </a:ln>
        </p:spPr>
        <p:txBody>
          <a:bodyPr anchorCtr="0" anchor="t" bIns="91425" lIns="91425" spcFirstLastPara="1" rIns="91425" wrap="square" tIns="91425">
            <a:noAutofit/>
          </a:bodyPr>
          <a:lstStyle/>
          <a:p>
            <a:pPr indent="0" lvl="0" marL="114300" marR="0" rtl="0" algn="ctr">
              <a:lnSpc>
                <a:spcPct val="115000"/>
              </a:lnSpc>
              <a:spcBef>
                <a:spcPts val="0"/>
              </a:spcBef>
              <a:spcAft>
                <a:spcPts val="0"/>
              </a:spcAft>
              <a:buClr>
                <a:schemeClr val="dk2"/>
              </a:buClr>
              <a:buSzPts val="1800"/>
              <a:buFont typeface="Arial"/>
              <a:buNone/>
            </a:pPr>
            <a:r>
              <a:rPr b="1" i="0" lang="en" sz="2200" u="none" cap="none" strike="noStrike">
                <a:solidFill>
                  <a:schemeClr val="lt1"/>
                </a:solidFill>
                <a:latin typeface="Helvetica Neue"/>
                <a:ea typeface="Helvetica Neue"/>
                <a:cs typeface="Helvetica Neue"/>
                <a:sym typeface="Helvetica Neue"/>
              </a:rPr>
              <a:t>Error </a:t>
            </a:r>
            <a:r>
              <a:rPr b="0" i="0" lang="en" sz="2200" u="none" cap="none" strike="noStrike">
                <a:solidFill>
                  <a:schemeClr val="lt1"/>
                </a:solidFill>
                <a:latin typeface="Helvetica Neue"/>
                <a:ea typeface="Helvetica Neue"/>
                <a:cs typeface="Helvetica Neue"/>
                <a:sym typeface="Helvetica Neue"/>
              </a:rPr>
              <a:t>= (False Positive + False Negative) / Total</a:t>
            </a:r>
            <a:endParaRPr b="0" i="0" sz="1400" u="none" cap="none" strike="noStrike">
              <a:solidFill>
                <a:srgbClr val="000000"/>
              </a:solidFill>
              <a:latin typeface="Arial"/>
              <a:ea typeface="Arial"/>
              <a:cs typeface="Arial"/>
              <a:sym typeface="Arial"/>
            </a:endParaRPr>
          </a:p>
        </p:txBody>
      </p:sp>
      <p:pic>
        <p:nvPicPr>
          <p:cNvPr descr="https://lh4.googleusercontent.com/qKzy__bQ2c35UdiQKd6qq6euHThMbOVFJb5qxLisEa-wd9az9kBxQSkEn-4v4ieYFdVd120thTPKQ3JYJmCd1qfT9oHR-ZPnMz-CO25UWZHTFNeEW9MH-tTuvWpbmWzjHC65qitDagQ" id="322" name="Google Shape;322;p40"/>
          <p:cNvPicPr preferRelativeResize="0"/>
          <p:nvPr/>
        </p:nvPicPr>
        <p:blipFill rotWithShape="1">
          <a:blip r:embed="rId3">
            <a:alphaModFix/>
          </a:blip>
          <a:srcRect b="0" l="0" r="0" t="0"/>
          <a:stretch/>
        </p:blipFill>
        <p:spPr>
          <a:xfrm>
            <a:off x="372626" y="1991538"/>
            <a:ext cx="3411025" cy="21127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ROC Curves!</a:t>
            </a:r>
            <a:endParaRPr i="0" sz="2400" u="none" cap="none" strike="noStrike">
              <a:solidFill>
                <a:srgbClr val="613CB0"/>
              </a:solidFill>
              <a:latin typeface="Hind"/>
              <a:ea typeface="Hind"/>
              <a:cs typeface="Hind"/>
              <a:sym typeface="Hind"/>
            </a:endParaRPr>
          </a:p>
        </p:txBody>
      </p:sp>
      <p:sp>
        <p:nvSpPr>
          <p:cNvPr id="328" name="Google Shape;328;p41"/>
          <p:cNvSpPr txBox="1"/>
          <p:nvPr>
            <p:ph idx="1" type="body"/>
          </p:nvPr>
        </p:nvSpPr>
        <p:spPr>
          <a:xfrm>
            <a:off x="311700" y="1152475"/>
            <a:ext cx="4775400" cy="34164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 sz="1200">
                <a:solidFill>
                  <a:srgbClr val="613CB0"/>
                </a:solidFill>
                <a:highlight>
                  <a:srgbClr val="FFFFFF"/>
                </a:highlight>
                <a:latin typeface="Helvetica Neue"/>
                <a:ea typeface="Helvetica Neue"/>
                <a:cs typeface="Helvetica Neue"/>
                <a:sym typeface="Helvetica Neue"/>
              </a:rPr>
              <a:t>ROC (Receiver Operating Characteristic)</a:t>
            </a:r>
            <a:r>
              <a:rPr lang="en" sz="1200">
                <a:highlight>
                  <a:srgbClr val="FFFFFF"/>
                </a:highlight>
                <a:latin typeface="Helvetica Neue"/>
                <a:ea typeface="Helvetica Neue"/>
                <a:cs typeface="Helvetica Neue"/>
                <a:sym typeface="Helvetica Neue"/>
              </a:rPr>
              <a:t> curve plots True Positive Rate (TPR) vs. False Positive Rate (FPR) across all classification thresholds</a:t>
            </a:r>
            <a:endParaRPr sz="1200">
              <a:highlight>
                <a:srgbClr val="FFFFFF"/>
              </a:highlight>
              <a:latin typeface="Helvetica Neue"/>
              <a:ea typeface="Helvetica Neue"/>
              <a:cs typeface="Helvetica Neue"/>
              <a:sym typeface="Helvetica Neue"/>
            </a:endParaRPr>
          </a:p>
          <a:p>
            <a:pPr indent="0" lvl="0" marL="0" rtl="0" algn="l">
              <a:lnSpc>
                <a:spcPct val="180000"/>
              </a:lnSpc>
              <a:spcBef>
                <a:spcPts val="1900"/>
              </a:spcBef>
              <a:spcAft>
                <a:spcPts val="0"/>
              </a:spcAft>
              <a:buNone/>
            </a:pPr>
            <a:r>
              <a:rPr lang="en" sz="1200">
                <a:highlight>
                  <a:srgbClr val="FFFFFF"/>
                </a:highlight>
                <a:latin typeface="Helvetica Neue"/>
                <a:ea typeface="Helvetica Neue"/>
                <a:cs typeface="Helvetica Neue"/>
                <a:sym typeface="Helvetica Neue"/>
              </a:rPr>
              <a:t>Particularly powerful for </a:t>
            </a:r>
            <a:r>
              <a:rPr b="1" lang="en" sz="1200">
                <a:solidFill>
                  <a:srgbClr val="613CB0"/>
                </a:solidFill>
                <a:highlight>
                  <a:srgbClr val="FFFFFF"/>
                </a:highlight>
                <a:latin typeface="Helvetica Neue"/>
                <a:ea typeface="Helvetica Neue"/>
                <a:cs typeface="Helvetica Neue"/>
                <a:sym typeface="Helvetica Neue"/>
              </a:rPr>
              <a:t>imbalanced datasets</a:t>
            </a:r>
            <a:r>
              <a:rPr lang="en" sz="1200">
                <a:highlight>
                  <a:srgbClr val="FFFFFF"/>
                </a:highlight>
                <a:latin typeface="Helvetica Neue"/>
                <a:ea typeface="Helvetica Neue"/>
                <a:cs typeface="Helvetica Neue"/>
                <a:sym typeface="Helvetica Neue"/>
              </a:rPr>
              <a:t> where accuracy is misleading—ROC reveals what accuracy hides</a:t>
            </a:r>
            <a:endParaRPr sz="1200">
              <a:highlight>
                <a:srgbClr val="FFFFFF"/>
              </a:highlight>
              <a:latin typeface="Helvetica Neue"/>
              <a:ea typeface="Helvetica Neue"/>
              <a:cs typeface="Helvetica Neue"/>
              <a:sym typeface="Helvetica Neue"/>
            </a:endParaRPr>
          </a:p>
          <a:p>
            <a:pPr indent="0" lvl="0" marL="0" rtl="0" algn="l">
              <a:lnSpc>
                <a:spcPct val="180000"/>
              </a:lnSpc>
              <a:spcBef>
                <a:spcPts val="1900"/>
              </a:spcBef>
              <a:spcAft>
                <a:spcPts val="0"/>
              </a:spcAft>
              <a:buNone/>
            </a:pPr>
            <a:r>
              <a:rPr lang="en" sz="1200">
                <a:highlight>
                  <a:srgbClr val="FFFFFF"/>
                </a:highlight>
                <a:latin typeface="Helvetica Neue"/>
                <a:ea typeface="Helvetica Neue"/>
                <a:cs typeface="Helvetica Neue"/>
                <a:sym typeface="Helvetica Neue"/>
              </a:rPr>
              <a:t>Helps you choose optimal threshold for your specific problem: prioritize recall for medical screening (catch all cases), prioritize precision for spam filters (minimize false alarms)</a:t>
            </a:r>
            <a:endParaRPr sz="1200">
              <a:highlight>
                <a:srgbClr val="FFFFFF"/>
              </a:highlight>
              <a:latin typeface="Helvetica Neue"/>
              <a:ea typeface="Helvetica Neue"/>
              <a:cs typeface="Helvetica Neue"/>
              <a:sym typeface="Helvetica Neue"/>
            </a:endParaRPr>
          </a:p>
          <a:p>
            <a:pPr indent="0" lvl="0" marL="114300" rtl="0" algn="l">
              <a:lnSpc>
                <a:spcPct val="115000"/>
              </a:lnSpc>
              <a:spcBef>
                <a:spcPts val="1900"/>
              </a:spcBef>
              <a:spcAft>
                <a:spcPts val="0"/>
              </a:spcAft>
              <a:buSzPts val="1800"/>
              <a:buNone/>
            </a:pPr>
            <a:r>
              <a:t/>
            </a:r>
            <a:endParaRPr sz="1200">
              <a:latin typeface="Helvetica Neue"/>
              <a:ea typeface="Helvetica Neue"/>
              <a:cs typeface="Helvetica Neue"/>
              <a:sym typeface="Helvetica Neue"/>
            </a:endParaRPr>
          </a:p>
        </p:txBody>
      </p:sp>
      <p:pic>
        <p:nvPicPr>
          <p:cNvPr id="329" name="Google Shape;329;p41"/>
          <p:cNvPicPr preferRelativeResize="0"/>
          <p:nvPr/>
        </p:nvPicPr>
        <p:blipFill>
          <a:blip r:embed="rId3">
            <a:alphaModFix/>
          </a:blip>
          <a:stretch>
            <a:fillRect/>
          </a:stretch>
        </p:blipFill>
        <p:spPr>
          <a:xfrm>
            <a:off x="4861600" y="1359163"/>
            <a:ext cx="4309177" cy="2425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400">
                <a:solidFill>
                  <a:srgbClr val="613CB0"/>
                </a:solidFill>
                <a:latin typeface="Hind"/>
                <a:ea typeface="Hind"/>
                <a:cs typeface="Hind"/>
                <a:sym typeface="Hind"/>
              </a:rPr>
              <a:t>AUC (Area Under Curve)</a:t>
            </a:r>
            <a:endParaRPr i="0" sz="2400" u="none" cap="none" strike="noStrike">
              <a:solidFill>
                <a:srgbClr val="613CB0"/>
              </a:solidFill>
              <a:latin typeface="Hind"/>
              <a:ea typeface="Hind"/>
              <a:cs typeface="Hind"/>
              <a:sym typeface="Hind"/>
            </a:endParaRPr>
          </a:p>
        </p:txBody>
      </p:sp>
      <p:sp>
        <p:nvSpPr>
          <p:cNvPr id="335" name="Google Shape;335;p42"/>
          <p:cNvSpPr txBox="1"/>
          <p:nvPr>
            <p:ph idx="1" type="body"/>
          </p:nvPr>
        </p:nvSpPr>
        <p:spPr>
          <a:xfrm>
            <a:off x="311700" y="1152475"/>
            <a:ext cx="4775400" cy="34164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 sz="1300">
                <a:solidFill>
                  <a:srgbClr val="613CB0"/>
                </a:solidFill>
                <a:highlight>
                  <a:srgbClr val="FFFFFF"/>
                </a:highlight>
                <a:latin typeface="Helvetica Neue"/>
                <a:ea typeface="Helvetica Neue"/>
                <a:cs typeface="Helvetica Neue"/>
                <a:sym typeface="Helvetica Neue"/>
              </a:rPr>
              <a:t>AUC (Area Under the Curve)</a:t>
            </a:r>
            <a:r>
              <a:rPr lang="en" sz="1300">
                <a:solidFill>
                  <a:srgbClr val="613CB0"/>
                </a:solidFill>
                <a:highlight>
                  <a:srgbClr val="FFFFFF"/>
                </a:highlight>
                <a:latin typeface="Helvetica Neue"/>
                <a:ea typeface="Helvetica Neue"/>
                <a:cs typeface="Helvetica Neue"/>
                <a:sym typeface="Helvetica Neue"/>
              </a:rPr>
              <a:t> </a:t>
            </a:r>
            <a:r>
              <a:rPr lang="en" sz="1300">
                <a:highlight>
                  <a:srgbClr val="FFFFFF"/>
                </a:highlight>
                <a:latin typeface="Helvetica Neue"/>
                <a:ea typeface="Helvetica Neue"/>
                <a:cs typeface="Helvetica Neue"/>
                <a:sym typeface="Helvetica Neue"/>
              </a:rPr>
              <a:t>is a single number summarizing the entire ROC curve, ranging from 0 to 1</a:t>
            </a:r>
            <a:endParaRPr sz="1300">
              <a:highlight>
                <a:srgbClr val="FFFFFF"/>
              </a:highlight>
              <a:latin typeface="Helvetica Neue"/>
              <a:ea typeface="Helvetica Neue"/>
              <a:cs typeface="Helvetica Neue"/>
              <a:sym typeface="Helvetica Neue"/>
            </a:endParaRPr>
          </a:p>
          <a:p>
            <a:pPr indent="0" lvl="0" marL="0" rtl="0" algn="l">
              <a:lnSpc>
                <a:spcPct val="180000"/>
              </a:lnSpc>
              <a:spcBef>
                <a:spcPts val="1900"/>
              </a:spcBef>
              <a:spcAft>
                <a:spcPts val="0"/>
              </a:spcAft>
              <a:buNone/>
            </a:pPr>
            <a:r>
              <a:rPr b="1" lang="en" sz="1300">
                <a:solidFill>
                  <a:srgbClr val="613CB0"/>
                </a:solidFill>
                <a:highlight>
                  <a:srgbClr val="FFFFFF"/>
                </a:highlight>
                <a:latin typeface="Helvetica Neue"/>
                <a:ea typeface="Helvetica Neue"/>
                <a:cs typeface="Helvetica Neue"/>
                <a:sym typeface="Helvetica Neue"/>
              </a:rPr>
              <a:t>Interpretation scale:</a:t>
            </a:r>
            <a:r>
              <a:rPr lang="en" sz="1300">
                <a:highlight>
                  <a:srgbClr val="FFFFFF"/>
                </a:highlight>
                <a:latin typeface="Helvetica Neue"/>
                <a:ea typeface="Helvetica Neue"/>
                <a:cs typeface="Helvetica Neue"/>
                <a:sym typeface="Helvetica Neue"/>
              </a:rPr>
              <a:t> AUC = 0.5 (random guessing), 0.6–0.7 (fair), 0.7–0.8 (good), 0.8–0.9 (very good), 0.9+ (excellent)</a:t>
            </a:r>
            <a:endParaRPr sz="1300">
              <a:highlight>
                <a:srgbClr val="FFFFFF"/>
              </a:highlight>
              <a:latin typeface="Helvetica Neue"/>
              <a:ea typeface="Helvetica Neue"/>
              <a:cs typeface="Helvetica Neue"/>
              <a:sym typeface="Helvetica Neue"/>
            </a:endParaRPr>
          </a:p>
          <a:p>
            <a:pPr indent="0" lvl="0" marL="0" rtl="0" algn="l">
              <a:lnSpc>
                <a:spcPct val="180000"/>
              </a:lnSpc>
              <a:spcBef>
                <a:spcPts val="1900"/>
              </a:spcBef>
              <a:spcAft>
                <a:spcPts val="0"/>
              </a:spcAft>
              <a:buNone/>
            </a:pPr>
            <a:r>
              <a:rPr lang="en" sz="1300">
                <a:highlight>
                  <a:srgbClr val="FFFFFF"/>
                </a:highlight>
                <a:latin typeface="Helvetica Neue"/>
                <a:ea typeface="Helvetica Neue"/>
                <a:cs typeface="Helvetica Neue"/>
                <a:sym typeface="Helvetica Neue"/>
              </a:rPr>
              <a:t>Unlike accuracy,</a:t>
            </a:r>
            <a:r>
              <a:rPr lang="en" sz="1300">
                <a:solidFill>
                  <a:srgbClr val="613CB0"/>
                </a:solidFill>
                <a:highlight>
                  <a:srgbClr val="FFFFFF"/>
                </a:highlight>
                <a:latin typeface="Helvetica Neue"/>
                <a:ea typeface="Helvetica Neue"/>
                <a:cs typeface="Helvetica Neue"/>
                <a:sym typeface="Helvetica Neue"/>
              </a:rPr>
              <a:t> </a:t>
            </a:r>
            <a:r>
              <a:rPr b="1" lang="en" sz="1300">
                <a:solidFill>
                  <a:srgbClr val="613CB0"/>
                </a:solidFill>
                <a:highlight>
                  <a:srgbClr val="FFFFFF"/>
                </a:highlight>
                <a:latin typeface="Helvetica Neue"/>
                <a:ea typeface="Helvetica Neue"/>
                <a:cs typeface="Helvetica Neue"/>
                <a:sym typeface="Helvetica Neue"/>
              </a:rPr>
              <a:t>AUC is threshold-independent</a:t>
            </a:r>
            <a:r>
              <a:rPr lang="en" sz="1300">
                <a:highlight>
                  <a:srgbClr val="FFFFFF"/>
                </a:highlight>
                <a:latin typeface="Helvetica Neue"/>
                <a:ea typeface="Helvetica Neue"/>
                <a:cs typeface="Helvetica Neue"/>
                <a:sym typeface="Helvetica Neue"/>
              </a:rPr>
              <a:t> and handles class imbalance naturally—it doesn't punish you for having more negatives than positives</a:t>
            </a:r>
            <a:endParaRPr sz="1300">
              <a:highlight>
                <a:srgbClr val="FFFFFF"/>
              </a:highlight>
              <a:latin typeface="Helvetica Neue"/>
              <a:ea typeface="Helvetica Neue"/>
              <a:cs typeface="Helvetica Neue"/>
              <a:sym typeface="Helvetica Neue"/>
            </a:endParaRPr>
          </a:p>
          <a:p>
            <a:pPr indent="0" lvl="0" marL="114300" rtl="0" algn="l">
              <a:lnSpc>
                <a:spcPct val="115000"/>
              </a:lnSpc>
              <a:spcBef>
                <a:spcPts val="1900"/>
              </a:spcBef>
              <a:spcAft>
                <a:spcPts val="0"/>
              </a:spcAft>
              <a:buSzPts val="1800"/>
              <a:buNone/>
            </a:pPr>
            <a:r>
              <a:t/>
            </a:r>
            <a:endParaRPr b="1" sz="1300">
              <a:highlight>
                <a:srgbClr val="FFFFFF"/>
              </a:highlight>
              <a:latin typeface="Helvetica Neue"/>
              <a:ea typeface="Helvetica Neue"/>
              <a:cs typeface="Helvetica Neue"/>
              <a:sym typeface="Helvetica Neue"/>
            </a:endParaRPr>
          </a:p>
        </p:txBody>
      </p:sp>
      <p:pic>
        <p:nvPicPr>
          <p:cNvPr id="336" name="Google Shape;336;p42"/>
          <p:cNvPicPr preferRelativeResize="0"/>
          <p:nvPr/>
        </p:nvPicPr>
        <p:blipFill>
          <a:blip r:embed="rId3">
            <a:alphaModFix/>
          </a:blip>
          <a:stretch>
            <a:fillRect/>
          </a:stretch>
        </p:blipFill>
        <p:spPr>
          <a:xfrm>
            <a:off x="5239500" y="1170125"/>
            <a:ext cx="3752101" cy="274495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613CB0"/>
                </a:solidFill>
                <a:latin typeface="Hind"/>
                <a:ea typeface="Hind"/>
                <a:cs typeface="Hind"/>
                <a:sym typeface="Hind"/>
              </a:rPr>
              <a:t>Coming Up</a:t>
            </a:r>
            <a:endParaRPr b="0" i="0" sz="1400" u="none" cap="none" strike="noStrike">
              <a:solidFill>
                <a:srgbClr val="613CB0"/>
              </a:solidFill>
              <a:latin typeface="Arial"/>
              <a:ea typeface="Arial"/>
              <a:cs typeface="Arial"/>
              <a:sym typeface="Arial"/>
            </a:endParaRPr>
          </a:p>
        </p:txBody>
      </p:sp>
      <p:sp>
        <p:nvSpPr>
          <p:cNvPr id="342" name="Google Shape;342;p43"/>
          <p:cNvSpPr txBox="1"/>
          <p:nvPr/>
        </p:nvSpPr>
        <p:spPr>
          <a:xfrm>
            <a:off x="311700" y="1152475"/>
            <a:ext cx="8520600" cy="34164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rgbClr val="000000"/>
              </a:buClr>
              <a:buSzPts val="1800"/>
              <a:buFont typeface="Arial"/>
              <a:buChar char="•"/>
            </a:pPr>
            <a:r>
              <a:rPr b="1" i="0" lang="en" sz="1800" u="none" cap="none" strike="noStrike">
                <a:solidFill>
                  <a:srgbClr val="595959"/>
                </a:solidFill>
                <a:latin typeface="Helvetica Neue"/>
                <a:ea typeface="Helvetica Neue"/>
                <a:cs typeface="Helvetica Neue"/>
                <a:sym typeface="Helvetica Neue"/>
              </a:rPr>
              <a:t>Assignment 5: </a:t>
            </a:r>
            <a:r>
              <a:rPr b="0" i="0" lang="en" sz="1800" u="none" cap="none" strike="noStrike">
                <a:solidFill>
                  <a:srgbClr val="595959"/>
                </a:solidFill>
                <a:latin typeface="Helvetica Neue"/>
                <a:ea typeface="Helvetica Neue"/>
                <a:cs typeface="Helvetica Neue"/>
                <a:sym typeface="Helvetica Neue"/>
              </a:rPr>
              <a:t>Due </a:t>
            </a:r>
            <a:r>
              <a:rPr b="1" lang="en" sz="1800">
                <a:solidFill>
                  <a:srgbClr val="595959"/>
                </a:solidFill>
                <a:latin typeface="Helvetica Neue"/>
                <a:ea typeface="Helvetica Neue"/>
                <a:cs typeface="Helvetica Neue"/>
                <a:sym typeface="Helvetica Neue"/>
              </a:rPr>
              <a:t>tonight </a:t>
            </a:r>
            <a:r>
              <a:rPr b="0" i="0" lang="en" sz="1800" u="none" cap="none" strike="noStrike">
                <a:solidFill>
                  <a:srgbClr val="595959"/>
                </a:solidFill>
                <a:latin typeface="Helvetica Neue"/>
                <a:ea typeface="Helvetica Neue"/>
                <a:cs typeface="Helvetica Neue"/>
                <a:sym typeface="Helvetica Neue"/>
              </a:rPr>
              <a:t>at 11:59pm!</a:t>
            </a:r>
            <a:endParaRPr b="0" i="0" sz="1800" u="none" cap="none" strike="noStrike">
              <a:solidFill>
                <a:srgbClr val="595959"/>
              </a:solidFill>
              <a:latin typeface="Helvetica Neue"/>
              <a:ea typeface="Helvetica Neue"/>
              <a:cs typeface="Helvetica Neue"/>
              <a:sym typeface="Helvetica Neue"/>
            </a:endParaRPr>
          </a:p>
          <a:p>
            <a:pPr indent="-285750" lvl="0" marL="285750" marR="0" rtl="0" algn="l">
              <a:lnSpc>
                <a:spcPct val="150000"/>
              </a:lnSpc>
              <a:spcBef>
                <a:spcPts val="0"/>
              </a:spcBef>
              <a:spcAft>
                <a:spcPts val="0"/>
              </a:spcAft>
              <a:buClr>
                <a:srgbClr val="000000"/>
              </a:buClr>
              <a:buSzPts val="1800"/>
              <a:buFont typeface="Arial"/>
              <a:buChar char="•"/>
            </a:pPr>
            <a:r>
              <a:rPr b="1" i="0" lang="en" sz="1800" u="none" cap="none" strike="noStrike">
                <a:solidFill>
                  <a:srgbClr val="595959"/>
                </a:solidFill>
                <a:latin typeface="Helvetica Neue"/>
                <a:ea typeface="Helvetica Neue"/>
                <a:cs typeface="Helvetica Neue"/>
                <a:sym typeface="Helvetica Neue"/>
              </a:rPr>
              <a:t>Assignment 6</a:t>
            </a:r>
            <a:r>
              <a:rPr b="0" i="0" lang="en" sz="1800" u="none" cap="none" strike="noStrike">
                <a:solidFill>
                  <a:srgbClr val="595959"/>
                </a:solidFill>
                <a:latin typeface="Helvetica Neue"/>
                <a:ea typeface="Helvetica Neue"/>
                <a:cs typeface="Helvetica Neue"/>
                <a:sym typeface="Helvetica Neue"/>
              </a:rPr>
              <a:t>: Due </a:t>
            </a:r>
            <a:r>
              <a:rPr lang="en" sz="1800">
                <a:solidFill>
                  <a:srgbClr val="595959"/>
                </a:solidFill>
                <a:latin typeface="Helvetica Neue"/>
                <a:ea typeface="Helvetica Neue"/>
                <a:cs typeface="Helvetica Neue"/>
                <a:sym typeface="Helvetica Neue"/>
              </a:rPr>
              <a:t>next Wednesday 10/29</a:t>
            </a:r>
            <a:endParaRPr sz="1800">
              <a:solidFill>
                <a:srgbClr val="595959"/>
              </a:solidFill>
              <a:latin typeface="Helvetica Neue"/>
              <a:ea typeface="Helvetica Neue"/>
              <a:cs typeface="Helvetica Neue"/>
              <a:sym typeface="Helvetica Neue"/>
            </a:endParaRPr>
          </a:p>
          <a:p>
            <a:pPr indent="-285750" lvl="0" marL="285750" marR="0" rtl="0" algn="l">
              <a:lnSpc>
                <a:spcPct val="150000"/>
              </a:lnSpc>
              <a:spcBef>
                <a:spcPts val="0"/>
              </a:spcBef>
              <a:spcAft>
                <a:spcPts val="0"/>
              </a:spcAft>
              <a:buClr>
                <a:srgbClr val="000000"/>
              </a:buClr>
              <a:buSzPts val="1800"/>
              <a:buFont typeface="Arial"/>
              <a:buChar char="•"/>
            </a:pPr>
            <a:r>
              <a:rPr b="1" i="0" lang="en" sz="1800" u="none" cap="none" strike="noStrike">
                <a:solidFill>
                  <a:srgbClr val="595959"/>
                </a:solidFill>
                <a:latin typeface="Helvetica Neue"/>
                <a:ea typeface="Helvetica Neue"/>
                <a:cs typeface="Helvetica Neue"/>
                <a:sym typeface="Helvetica Neue"/>
              </a:rPr>
              <a:t>Mid-Semester Check-In: </a:t>
            </a:r>
            <a:r>
              <a:rPr b="0" i="0" lang="en" sz="1800" u="none" cap="none" strike="noStrike">
                <a:solidFill>
                  <a:srgbClr val="595959"/>
                </a:solidFill>
                <a:latin typeface="Helvetica Neue"/>
                <a:ea typeface="Helvetica Neue"/>
                <a:cs typeface="Helvetica Neue"/>
                <a:sym typeface="Helvetica Neue"/>
              </a:rPr>
              <a:t>Details on ED! </a:t>
            </a:r>
            <a:r>
              <a:rPr lang="en" sz="1800">
                <a:solidFill>
                  <a:srgbClr val="595959"/>
                </a:solidFill>
                <a:latin typeface="Helvetica Neue"/>
                <a:ea typeface="Helvetica Neue"/>
                <a:cs typeface="Helvetica Neue"/>
                <a:sym typeface="Helvetica Neue"/>
              </a:rPr>
              <a:t>Complete by Wednesday 10/29.</a:t>
            </a:r>
            <a:endParaRPr sz="1800">
              <a:solidFill>
                <a:srgbClr val="595959"/>
              </a:solidFill>
              <a:latin typeface="Helvetica Neue"/>
              <a:ea typeface="Helvetica Neue"/>
              <a:cs typeface="Helvetica Neue"/>
              <a:sym typeface="Helvetica Neue"/>
            </a:endParaRPr>
          </a:p>
          <a:p>
            <a:pPr indent="-285750" lvl="0" marL="285750" marR="0" rtl="0" algn="l">
              <a:lnSpc>
                <a:spcPct val="150000"/>
              </a:lnSpc>
              <a:spcBef>
                <a:spcPts val="0"/>
              </a:spcBef>
              <a:spcAft>
                <a:spcPts val="0"/>
              </a:spcAft>
              <a:buClr>
                <a:srgbClr val="595959"/>
              </a:buClr>
              <a:buSzPts val="1800"/>
              <a:buFont typeface="Helvetica Neue"/>
              <a:buChar char="•"/>
            </a:pPr>
            <a:r>
              <a:rPr lang="en" sz="1800">
                <a:solidFill>
                  <a:srgbClr val="595959"/>
                </a:solidFill>
                <a:latin typeface="Helvetica Neue"/>
                <a:ea typeface="Helvetica Neue"/>
                <a:cs typeface="Helvetica Neue"/>
                <a:sym typeface="Helvetica Neue"/>
              </a:rPr>
              <a:t>Please check Ed regularly (cuz why do my posts get 5 unique views)</a:t>
            </a:r>
            <a:endParaRPr sz="1800">
              <a:solidFill>
                <a:srgbClr val="595959"/>
              </a:solidFill>
              <a:latin typeface="Helvetica Neue"/>
              <a:ea typeface="Helvetica Neue"/>
              <a:cs typeface="Helvetica Neue"/>
              <a:sym typeface="Helvetica Neue"/>
            </a:endParaRPr>
          </a:p>
          <a:p>
            <a:pPr indent="-285750" lvl="0" marL="285750" marR="0" rtl="0" algn="l">
              <a:lnSpc>
                <a:spcPct val="150000"/>
              </a:lnSpc>
              <a:spcBef>
                <a:spcPts val="0"/>
              </a:spcBef>
              <a:spcAft>
                <a:spcPts val="0"/>
              </a:spcAft>
              <a:buClr>
                <a:srgbClr val="595959"/>
              </a:buClr>
              <a:buSzPts val="1800"/>
              <a:buFont typeface="Helvetica Neue"/>
              <a:buChar char="•"/>
            </a:pPr>
            <a:r>
              <a:rPr lang="en" sz="1800">
                <a:solidFill>
                  <a:srgbClr val="595959"/>
                </a:solidFill>
                <a:latin typeface="Helvetica Neue"/>
                <a:ea typeface="Helvetica Neue"/>
                <a:cs typeface="Helvetica Neue"/>
                <a:sym typeface="Helvetica Neue"/>
              </a:rPr>
              <a:t>Please turn in your assignments, especially if you’re enrolled (because i care about your transcript)</a:t>
            </a:r>
            <a:endParaRPr sz="1800">
              <a:solidFill>
                <a:srgbClr val="595959"/>
              </a:solidFill>
              <a:latin typeface="Helvetica Neue"/>
              <a:ea typeface="Helvetica Neue"/>
              <a:cs typeface="Helvetica Neue"/>
              <a:sym typeface="Helvetica Neue"/>
            </a:endParaRPr>
          </a:p>
          <a:p>
            <a:pPr indent="-285750" lvl="0" marL="285750" marR="0" rtl="0" algn="l">
              <a:lnSpc>
                <a:spcPct val="150000"/>
              </a:lnSpc>
              <a:spcBef>
                <a:spcPts val="0"/>
              </a:spcBef>
              <a:spcAft>
                <a:spcPts val="0"/>
              </a:spcAft>
              <a:buClr>
                <a:srgbClr val="000000"/>
              </a:buClr>
              <a:buSzPts val="1800"/>
              <a:buFont typeface="Arial"/>
              <a:buChar char="•"/>
            </a:pPr>
            <a:r>
              <a:rPr b="1" i="0" lang="en" sz="1800" u="none" cap="none" strike="noStrike">
                <a:solidFill>
                  <a:srgbClr val="595959"/>
                </a:solidFill>
                <a:latin typeface="Helvetica Neue"/>
                <a:ea typeface="Helvetica Neue"/>
                <a:cs typeface="Helvetica Neue"/>
                <a:sym typeface="Helvetica Neue"/>
              </a:rPr>
              <a:t>Next Lecture</a:t>
            </a:r>
            <a:r>
              <a:rPr b="0" i="0" lang="en" sz="1800" u="none" cap="none" strike="noStrike">
                <a:solidFill>
                  <a:srgbClr val="595959"/>
                </a:solidFill>
                <a:latin typeface="Helvetica Neue"/>
                <a:ea typeface="Helvetica Neue"/>
                <a:cs typeface="Helvetica Neue"/>
                <a:sym typeface="Helvetica Neue"/>
              </a:rPr>
              <a:t>: </a:t>
            </a:r>
            <a:r>
              <a:rPr lang="en" sz="1800">
                <a:solidFill>
                  <a:srgbClr val="595959"/>
                </a:solidFill>
                <a:latin typeface="Helvetica Neue"/>
                <a:ea typeface="Helvetica Neue"/>
                <a:cs typeface="Helvetica Neue"/>
                <a:sym typeface="Helvetica Neue"/>
              </a:rPr>
              <a:t>Supervised Learning Pt. 1</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
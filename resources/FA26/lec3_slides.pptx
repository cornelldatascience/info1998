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Hind"/>
      <p:regular r:id="rId48"/>
      <p:bold r:id="rId49"/>
    </p:embeddedFont>
    <p:embeddedFont>
      <p:font typeface="Helvetica Neue"/>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815ABC-3E31-4895-91DA-2838C6C6F9D0}">
  <a:tblStyle styleId="{88815ABC-3E31-4895-91DA-2838C6C6F9D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ind-regular.fntdata"/><Relationship Id="rId47" Type="http://schemas.openxmlformats.org/officeDocument/2006/relationships/slide" Target="slides/slide42.xml"/><Relationship Id="rId49" Type="http://schemas.openxmlformats.org/officeDocument/2006/relationships/font" Target="fonts/Hin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bold.fntdata"/><Relationship Id="rId50" Type="http://schemas.openxmlformats.org/officeDocument/2006/relationships/font" Target="fonts/HelveticaNeue-regular.fntdata"/><Relationship Id="rId53" Type="http://schemas.openxmlformats.org/officeDocument/2006/relationships/font" Target="fonts/HelveticaNeue-boldItalic.fntdata"/><Relationship Id="rId52" Type="http://schemas.openxmlformats.org/officeDocument/2006/relationships/font" Target="fonts/HelveticaNeue-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2746264fd2903dd5_2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h2746264fd2903dd5_2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2746264fd2903dd5_2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h2746264fd2903dd5_2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example: real data is the squared column</a:t>
            </a:r>
            <a:endParaRPr/>
          </a:p>
          <a:p>
            <a:pPr indent="0" lvl="0" marL="0" rtl="0" algn="l">
              <a:lnSpc>
                <a:spcPct val="100000"/>
              </a:lnSpc>
              <a:spcBef>
                <a:spcPts val="0"/>
              </a:spcBef>
              <a:spcAft>
                <a:spcPts val="0"/>
              </a:spcAft>
              <a:buSzPts val="1100"/>
              <a:buNone/>
            </a:pPr>
            <a:r>
              <a:rPr lang="en"/>
              <a:t>but want to apply linear regression</a:t>
            </a:r>
            <a:endParaRPr/>
          </a:p>
          <a:p>
            <a:pPr indent="0" lvl="0" marL="0" rtl="0" algn="l">
              <a:lnSpc>
                <a:spcPct val="100000"/>
              </a:lnSpc>
              <a:spcBef>
                <a:spcPts val="0"/>
              </a:spcBef>
              <a:spcAft>
                <a:spcPts val="0"/>
              </a:spcAft>
              <a:buSzPts val="1100"/>
              <a:buNone/>
            </a:pPr>
            <a:r>
              <a:rPr lang="en"/>
              <a:t>convert sq -&gt; num col</a:t>
            </a:r>
            <a:endParaRPr/>
          </a:p>
          <a:p>
            <a:pPr indent="0" lvl="0" marL="0" rtl="0" algn="l">
              <a:lnSpc>
                <a:spcPct val="100000"/>
              </a:lnSpc>
              <a:spcBef>
                <a:spcPts val="0"/>
              </a:spcBef>
              <a:spcAft>
                <a:spcPts val="0"/>
              </a:spcAft>
              <a:buSzPts val="1100"/>
              <a:buNone/>
            </a:pPr>
            <a:r>
              <a:rPr lang="en"/>
              <a:t>dont need non linear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Add a feature! Take distance from the center of the rings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2746264fd2903dd5_2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h2746264fd2903dd5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Mention its for a grade, 2 weeks before spring break</a:t>
            </a:r>
            <a:endParaRPr/>
          </a:p>
          <a:p>
            <a:pPr indent="0" lvl="0" marL="0" marR="0" rtl="0" algn="l">
              <a:lnSpc>
                <a:spcPct val="100000"/>
              </a:lnSpc>
              <a:spcBef>
                <a:spcPts val="0"/>
              </a:spcBef>
              <a:spcAft>
                <a:spcPts val="0"/>
              </a:spcAft>
              <a:buClr>
                <a:srgbClr val="000000"/>
              </a:buClr>
              <a:buSzPts val="1100"/>
              <a:buFont typeface="Arial"/>
              <a:buNone/>
            </a:pPr>
            <a:r>
              <a:rPr lang="en"/>
              <a:t>5 points of project grade</a:t>
            </a:r>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1ed167aad85f9342_4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h1ed167aad85f9342_4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Mention its for a grade, 2 weeks before spring break</a:t>
            </a:r>
            <a:endParaRPr/>
          </a:p>
          <a:p>
            <a:pPr indent="0" lvl="0" marL="0" marR="0" rtl="0" algn="l">
              <a:lnSpc>
                <a:spcPct val="100000"/>
              </a:lnSpc>
              <a:spcBef>
                <a:spcPts val="0"/>
              </a:spcBef>
              <a:spcAft>
                <a:spcPts val="0"/>
              </a:spcAft>
              <a:buClr>
                <a:srgbClr val="000000"/>
              </a:buClr>
              <a:buSzPts val="1100"/>
              <a:buFont typeface="Arial"/>
              <a:buNone/>
            </a:pPr>
            <a:r>
              <a:rPr lang="en"/>
              <a:t>5 points of project grade</a:t>
            </a:r>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2746264fd2903dd5_2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h2746264fd2903dd5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2746264fd2903dd5_2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h2746264fd2903dd5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lang="en"/>
              <a:t>AUDIENCE QUESTION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2746264fd2903dd5_2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h2746264fd2903dd5_2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1st is pretty bad and vague </a:t>
            </a:r>
            <a:endParaRPr/>
          </a:p>
          <a:p>
            <a:pPr indent="-298450" lvl="0" marL="457200" marR="0" rtl="0" algn="l">
              <a:lnSpc>
                <a:spcPct val="100000"/>
              </a:lnSpc>
              <a:spcBef>
                <a:spcPts val="0"/>
              </a:spcBef>
              <a:spcAft>
                <a:spcPts val="0"/>
              </a:spcAft>
              <a:buSzPts val="1100"/>
              <a:buChar char="-"/>
            </a:pPr>
            <a:r>
              <a:rPr lang="en"/>
              <a:t>2nd is pretty accurate but too technical</a:t>
            </a:r>
            <a:endParaRPr/>
          </a:p>
          <a:p>
            <a:pPr indent="-298450" lvl="0" marL="457200" marR="0" rtl="0" algn="l">
              <a:lnSpc>
                <a:spcPct val="100000"/>
              </a:lnSpc>
              <a:spcBef>
                <a:spcPts val="0"/>
              </a:spcBef>
              <a:spcAft>
                <a:spcPts val="0"/>
              </a:spcAft>
              <a:buSzPts val="1100"/>
              <a:buChar char="-"/>
            </a:pPr>
            <a:r>
              <a:rPr lang="en"/>
              <a:t>3rd is a pretty simplified definition</a:t>
            </a:r>
            <a:endParaRPr/>
          </a:p>
          <a:p>
            <a:pPr indent="-298450" lvl="0" marL="457200" marR="0" rtl="0" algn="l">
              <a:lnSpc>
                <a:spcPct val="100000"/>
              </a:lnSpc>
              <a:spcBef>
                <a:spcPts val="0"/>
              </a:spcBef>
              <a:spcAft>
                <a:spcPts val="0"/>
              </a:spcAft>
              <a:buSzPts val="1100"/>
              <a:buChar char="-"/>
            </a:pPr>
            <a:r>
              <a:rPr lang="en"/>
              <a:t>4th is oversimplified but still true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h2746264fd2903dd5_2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h2746264fd2903dd5_2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595959"/>
              </a:buClr>
              <a:buSzPts val="1600"/>
              <a:buFont typeface="Helvetica Neue"/>
              <a:buChar char="●"/>
            </a:pPr>
            <a:r>
              <a:rPr lang="en" sz="1600">
                <a:solidFill>
                  <a:srgbClr val="595959"/>
                </a:solidFill>
                <a:latin typeface="Helvetica Neue"/>
                <a:ea typeface="Helvetica Neue"/>
                <a:cs typeface="Helvetica Neue"/>
                <a:sym typeface="Helvetica Neue"/>
              </a:rPr>
              <a:t>Manipulating those data structures as the algorithm indicates</a:t>
            </a:r>
            <a:endParaRPr sz="1600">
              <a:solidFill>
                <a:srgbClr val="595959"/>
              </a:solidFill>
              <a:latin typeface="Helvetica Neue"/>
              <a:ea typeface="Helvetica Neue"/>
              <a:cs typeface="Helvetica Neue"/>
              <a:sym typeface="Helvetica Neue"/>
            </a:endParaRPr>
          </a:p>
          <a:p>
            <a:pPr indent="-330200" lvl="0" marL="457200" rtl="0" algn="l">
              <a:lnSpc>
                <a:spcPct val="115000"/>
              </a:lnSpc>
              <a:spcBef>
                <a:spcPts val="0"/>
              </a:spcBef>
              <a:spcAft>
                <a:spcPts val="0"/>
              </a:spcAft>
              <a:buClr>
                <a:srgbClr val="595959"/>
              </a:buClr>
              <a:buSzPts val="1600"/>
              <a:buFont typeface="Helvetica Neue"/>
              <a:buChar char="●"/>
            </a:pPr>
            <a:r>
              <a:rPr lang="en" sz="1600">
                <a:solidFill>
                  <a:srgbClr val="595959"/>
                </a:solidFill>
                <a:latin typeface="Helvetica Neue"/>
                <a:ea typeface="Helvetica Neue"/>
                <a:cs typeface="Helvetica Neue"/>
                <a:sym typeface="Helvetica Neue"/>
              </a:rPr>
              <a:t>Optimizing for hardware infrastructure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2746264fd2903dd5_2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h2746264fd2903dd5_2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2746264fd2903dd5_2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h2746264fd2903dd5_2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2746264fd2903dd5_2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h2746264fd2903dd5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AUDIENCE QUESTION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746264fd2903dd5_2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h2746264fd2903dd5_2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2746264fd2903dd5_2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h2746264fd2903dd5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2746264fd2903dd5_2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h2746264fd2903dd5_2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we want to learn the relationship between inputs and outputs by imposing some assumptions on the data. then, using this relationship, we can predict outputs for data the model has not seen (not been "trained 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2746264fd2903dd5_2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h2746264fd2903dd5_2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1st is pretty bad and vague </a:t>
            </a:r>
            <a:endParaRPr/>
          </a:p>
          <a:p>
            <a:pPr indent="-298450" lvl="0" marL="457200" marR="0" rtl="0" algn="l">
              <a:lnSpc>
                <a:spcPct val="100000"/>
              </a:lnSpc>
              <a:spcBef>
                <a:spcPts val="0"/>
              </a:spcBef>
              <a:spcAft>
                <a:spcPts val="0"/>
              </a:spcAft>
              <a:buSzPts val="1100"/>
              <a:buChar char="-"/>
            </a:pPr>
            <a:r>
              <a:rPr lang="en"/>
              <a:t>2nd is pretty accurate but too technical</a:t>
            </a:r>
            <a:endParaRPr/>
          </a:p>
          <a:p>
            <a:pPr indent="-298450" lvl="0" marL="457200" marR="0" rtl="0" algn="l">
              <a:lnSpc>
                <a:spcPct val="100000"/>
              </a:lnSpc>
              <a:spcBef>
                <a:spcPts val="0"/>
              </a:spcBef>
              <a:spcAft>
                <a:spcPts val="0"/>
              </a:spcAft>
              <a:buSzPts val="1100"/>
              <a:buChar char="-"/>
            </a:pPr>
            <a:r>
              <a:rPr lang="en"/>
              <a:t>3rd is a pretty simplified definition</a:t>
            </a:r>
            <a:endParaRPr/>
          </a:p>
          <a:p>
            <a:pPr indent="-298450" lvl="0" marL="457200" marR="0" rtl="0" algn="l">
              <a:lnSpc>
                <a:spcPct val="100000"/>
              </a:lnSpc>
              <a:spcBef>
                <a:spcPts val="0"/>
              </a:spcBef>
              <a:spcAft>
                <a:spcPts val="0"/>
              </a:spcAft>
              <a:buSzPts val="1100"/>
              <a:buChar char="-"/>
            </a:pPr>
            <a:r>
              <a:rPr lang="en"/>
              <a:t>4th is oversimplified but still true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2746264fd2903dd5_2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h2746264fd2903dd5_2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1st is pretty bad and vague </a:t>
            </a:r>
            <a:endParaRPr/>
          </a:p>
          <a:p>
            <a:pPr indent="-298450" lvl="0" marL="457200" marR="0" rtl="0" algn="l">
              <a:lnSpc>
                <a:spcPct val="100000"/>
              </a:lnSpc>
              <a:spcBef>
                <a:spcPts val="0"/>
              </a:spcBef>
              <a:spcAft>
                <a:spcPts val="0"/>
              </a:spcAft>
              <a:buSzPts val="1100"/>
              <a:buChar char="-"/>
            </a:pPr>
            <a:r>
              <a:rPr lang="en"/>
              <a:t>2nd is pretty accurate but too technical</a:t>
            </a:r>
            <a:endParaRPr/>
          </a:p>
          <a:p>
            <a:pPr indent="-298450" lvl="0" marL="457200" marR="0" rtl="0" algn="l">
              <a:lnSpc>
                <a:spcPct val="100000"/>
              </a:lnSpc>
              <a:spcBef>
                <a:spcPts val="0"/>
              </a:spcBef>
              <a:spcAft>
                <a:spcPts val="0"/>
              </a:spcAft>
              <a:buSzPts val="1100"/>
              <a:buChar char="-"/>
            </a:pPr>
            <a:r>
              <a:rPr lang="en"/>
              <a:t>3rd is a pretty simplified definition</a:t>
            </a:r>
            <a:endParaRPr/>
          </a:p>
          <a:p>
            <a:pPr indent="-298450" lvl="0" marL="457200" marR="0" rtl="0" algn="l">
              <a:lnSpc>
                <a:spcPct val="100000"/>
              </a:lnSpc>
              <a:spcBef>
                <a:spcPts val="0"/>
              </a:spcBef>
              <a:spcAft>
                <a:spcPts val="0"/>
              </a:spcAft>
              <a:buSzPts val="1100"/>
              <a:buChar char="-"/>
            </a:pPr>
            <a:r>
              <a:rPr lang="en"/>
              <a:t>4th is oversimplified but still true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2746264fd2903dd5_2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h2746264fd2903dd5_2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AUDIENCE QUESTION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2746264fd2903dd5_2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h2746264fd2903dd5_2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2746264fd2903dd5_2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h2746264fd2903dd5_2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h2746264fd2903dd5_2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h2746264fd2903dd5_2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2746264fd2903dd5_2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h2746264fd2903dd5_2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2746264fd2903dd5_2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h2746264fd2903dd5_2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2746264fd2903dd5_2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h2746264fd2903dd5_2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2746264fd2903dd5_2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h2746264fd2903dd5_2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2746264fd2903dd5_2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h2746264fd2903dd5_2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2746264fd2903dd5_2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h2746264fd2903dd5_2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2746264fd2903dd5_2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h2746264fd2903dd5_2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2746264fd2903dd5_2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h2746264fd2903dd5_2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next three slides repeat lots of info</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Visual for multidimensional (changing the slope in one dimension, other dimension), multiple features</a:t>
            </a:r>
            <a:endParaRPr/>
          </a:p>
          <a:p>
            <a:pPr indent="0" lvl="0" marL="0" marR="0" rtl="0" algn="l">
              <a:lnSpc>
                <a:spcPct val="100000"/>
              </a:lnSpc>
              <a:spcBef>
                <a:spcPts val="0"/>
              </a:spcBef>
              <a:spcAft>
                <a:spcPts val="0"/>
              </a:spcAft>
              <a:buClr>
                <a:srgbClr val="000000"/>
              </a:buClr>
              <a:buSzPts val="1100"/>
              <a:buFont typeface="Arial"/>
              <a:buNone/>
            </a:pPr>
            <a:r>
              <a:rPr lang="en"/>
              <a:t>Goal is to learn what the B values are</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Less words on other slides!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h2746264fd2903dd5_2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h2746264fd2903dd5_2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Make some changes to this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h2746264fd2903dd5_2_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h2746264fd2903dd5_2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Hyperparameters: control the learning process for a ML model. E.g. learning rate and batch size</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h2746264fd2903dd5_2_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h2746264fd2903dd5_2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stress: B’s are different based on the training data</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2746264fd2903dd5_2_2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h2746264fd2903dd5_2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Other types vary the loss functions and regularization types</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Lasso: takes magnitude of coefficients, ridge takes square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2746264fd2903dd5_2_2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h2746264fd2903dd5_2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Other types vary the loss functions and regularization types</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Lasso: takes magnitude of coefficients, ridge takes square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2746264fd2903dd5_2_2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h2746264fd2903dd5_2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2746264fd2903dd5_2_2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h2746264fd2903dd5_2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Validating: if parameters good on general</a:t>
            </a:r>
            <a:endParaRPr/>
          </a:p>
          <a:p>
            <a:pPr indent="0" lvl="0" marL="0" marR="0" rtl="0" algn="l">
              <a:lnSpc>
                <a:spcPct val="100000"/>
              </a:lnSpc>
              <a:spcBef>
                <a:spcPts val="0"/>
              </a:spcBef>
              <a:spcAft>
                <a:spcPts val="0"/>
              </a:spcAft>
              <a:buClr>
                <a:srgbClr val="000000"/>
              </a:buClr>
              <a:buSzPts val="1100"/>
              <a:buFont typeface="Arial"/>
              <a:buNone/>
            </a:pPr>
            <a:r>
              <a:rPr lang="en"/>
              <a:t>Want a final performance that isn’t biased or specific to some data</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2746264fd2903dd5_2_2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h2746264fd2903dd5_2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2746264fd2903dd5_2_3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h2746264fd2903dd5_2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if your validation output is very different to the computed output, you can adjust algorithm parameters or even change the model if you feel that's necessary (lin reg doesn't work on everything and tends to underfit, but it's a good baseline - a model shouldn't be doing worse than linear regression)</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2746264fd2903dd5_2_3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h2746264fd2903dd5_2_3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2746264fd2903dd5_2_3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h2746264fd2903dd5_2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h2746264fd2903dd5_2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h2746264fd2903dd5_2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Training: Usually the biggest set, used to fit the model, “learns” the parameters</a:t>
            </a:r>
            <a:endParaRPr/>
          </a:p>
          <a:p>
            <a:pPr indent="0" lvl="0" marL="0" marR="0" rtl="0" algn="l">
              <a:lnSpc>
                <a:spcPct val="100000"/>
              </a:lnSpc>
              <a:spcBef>
                <a:spcPts val="0"/>
              </a:spcBef>
              <a:spcAft>
                <a:spcPts val="0"/>
              </a:spcAft>
              <a:buClr>
                <a:srgbClr val="000000"/>
              </a:buClr>
              <a:buSzPts val="1100"/>
              <a:buFont typeface="Arial"/>
              <a:buNone/>
            </a:pPr>
            <a:r>
              <a:rPr lang="en"/>
              <a:t>Validation: used to find optimal hyper parameter values</a:t>
            </a:r>
            <a:endParaRPr/>
          </a:p>
          <a:p>
            <a:pPr indent="0" lvl="0" marL="0" marR="0" rtl="0" algn="l">
              <a:lnSpc>
                <a:spcPct val="100000"/>
              </a:lnSpc>
              <a:spcBef>
                <a:spcPts val="0"/>
              </a:spcBef>
              <a:spcAft>
                <a:spcPts val="0"/>
              </a:spcAft>
              <a:buClr>
                <a:srgbClr val="000000"/>
              </a:buClr>
              <a:buSzPts val="1100"/>
              <a:buFont typeface="Arial"/>
              <a:buNone/>
            </a:pPr>
            <a:r>
              <a:rPr lang="en"/>
              <a:t>Testing: evaluates model performance and ensures no overfitting</a:t>
            </a:r>
            <a:endParaRPr/>
          </a:p>
          <a:p>
            <a:pPr indent="0" lvl="0" marL="0" marR="0" rtl="0" algn="l">
              <a:lnSpc>
                <a:spcPct val="100000"/>
              </a:lnSpc>
              <a:spcBef>
                <a:spcPts val="0"/>
              </a:spcBef>
              <a:spcAft>
                <a:spcPts val="0"/>
              </a:spcAft>
              <a:buClr>
                <a:srgbClr val="000000"/>
              </a:buClr>
              <a:buSzPts val="1100"/>
              <a:buFont typeface="Arial"/>
              <a:buNone/>
            </a:pPr>
            <a:r>
              <a:rPr lang="en"/>
              <a:t>Usually 75-25 split training to testing, you will see this in your assignemnts</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
              <a:t>testing is like your "final model performance" - once you're done with training and validation loop, you then use the test set as your final performance.</a:t>
            </a:r>
            <a:endParaRPr/>
          </a:p>
          <a:p>
            <a:pPr indent="0" lvl="0" marL="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2746264fd2903dd5_2_3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h2746264fd2903dd5_2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Sensitive Definition</a:t>
            </a:r>
            <a:endParaRPr/>
          </a:p>
          <a:p>
            <a:pPr indent="-298450" lvl="1" marL="914400" marR="0" rtl="0" algn="l">
              <a:lnSpc>
                <a:spcPct val="100000"/>
              </a:lnSpc>
              <a:spcBef>
                <a:spcPts val="0"/>
              </a:spcBef>
              <a:spcAft>
                <a:spcPts val="0"/>
              </a:spcAft>
              <a:buSzPts val="1100"/>
              <a:buChar char="○"/>
            </a:pPr>
            <a:r>
              <a:rPr lang="en"/>
              <a:t>Sensitivity is a measure of how well a machine learning model can detect true positive instances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2746264fd2903dd5_2_4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h2746264fd2903dd5_2_4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613CB0"/>
              </a:buClr>
              <a:buSzPts val="2400"/>
              <a:buFont typeface="Hind"/>
              <a:buNone/>
              <a:defRPr b="1" i="0" sz="2400" u="none" cap="none" strike="noStrike">
                <a:solidFill>
                  <a:srgbClr val="613CB0"/>
                </a:solidFill>
                <a:latin typeface="Hind"/>
                <a:ea typeface="Hind"/>
                <a:cs typeface="Hind"/>
                <a:sym typeface="Hind"/>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pic>
        <p:nvPicPr>
          <p:cNvPr id="14" name="Google Shape;14;p3"/>
          <p:cNvPicPr preferRelativeResize="0"/>
          <p:nvPr/>
        </p:nvPicPr>
        <p:blipFill>
          <a:blip r:embed="rId2">
            <a:alphaModFix/>
          </a:blip>
          <a:stretch>
            <a:fillRect/>
          </a:stretch>
        </p:blipFill>
        <p:spPr>
          <a:xfrm>
            <a:off x="38650" y="4740050"/>
            <a:ext cx="378028" cy="364799"/>
          </a:xfrm>
          <a:prstGeom prst="rect">
            <a:avLst/>
          </a:prstGeom>
          <a:noFill/>
          <a:ln>
            <a:noFill/>
          </a:ln>
        </p:spPr>
      </p:pic>
      <p:sp>
        <p:nvSpPr>
          <p:cNvPr id="15" name="Google Shape;15;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D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1" name="Google Shape;21;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22" name="Google Shape;22;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23" name="Google Shape;23;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26" name="Google Shape;26;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9pPr>
          </a:lstStyle>
          <a:p/>
        </p:txBody>
      </p:sp>
      <p:sp>
        <p:nvSpPr>
          <p:cNvPr id="29" name="Google Shape;29;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1pPr>
            <a:lvl2pPr indent="-304800" lvl="1" marL="914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2pPr>
            <a:lvl3pPr indent="-304800" lvl="2" marL="1371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3pPr>
            <a:lvl4pPr indent="-304800" lvl="3" marL="18288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4pPr>
            <a:lvl5pPr indent="-304800" lvl="4" marL="22860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04800" lvl="5" marL="27432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6pPr>
            <a:lvl7pPr indent="-304800" lvl="6" marL="32004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7pPr>
            <a:lvl8pPr indent="-304800" lvl="7" marL="3657600" marR="0" algn="l">
              <a:lnSpc>
                <a:spcPct val="115000"/>
              </a:lnSpc>
              <a:spcBef>
                <a:spcPts val="16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8pPr>
            <a:lvl9pPr indent="-304800" lvl="8" marL="4114800" marR="0" algn="l">
              <a:lnSpc>
                <a:spcPct val="115000"/>
              </a:lnSpc>
              <a:spcBef>
                <a:spcPts val="1600"/>
              </a:spcBef>
              <a:spcAft>
                <a:spcPts val="1600"/>
              </a:spcAft>
              <a:buClr>
                <a:schemeClr val="dk2"/>
              </a:buClr>
              <a:buSzPts val="1200"/>
              <a:buFont typeface="Arial"/>
              <a:buChar char="■"/>
              <a:defRPr b="0" i="0" sz="1200" u="none" cap="none" strike="noStrike">
                <a:solidFill>
                  <a:schemeClr val="dk2"/>
                </a:solidFill>
                <a:latin typeface="Arial"/>
                <a:ea typeface="Arial"/>
                <a:cs typeface="Arial"/>
                <a:sym typeface="Arial"/>
              </a:defRPr>
            </a:lvl9pPr>
          </a:lstStyle>
          <a:p/>
        </p:txBody>
      </p:sp>
      <p:sp>
        <p:nvSpPr>
          <p:cNvPr id="30" name="Google Shape;3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9pPr>
          </a:lstStyle>
          <a:p/>
        </p:txBody>
      </p:sp>
      <p:sp>
        <p:nvSpPr>
          <p:cNvPr id="37" name="Google Shape;37;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9pPr>
          </a:lstStyle>
          <a:p/>
        </p:txBody>
      </p:sp>
      <p:sp>
        <p:nvSpPr>
          <p:cNvPr id="38" name="Google Shape;38;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stStyle>
          <a:p/>
        </p:txBody>
      </p:sp>
      <p:sp>
        <p:nvSpPr>
          <p:cNvPr id="42" name="Google Shape;42;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1pPr>
            <a:lvl2pPr lvl="1"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2pPr>
            <a:lvl3pPr lvl="2"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3pPr>
            <a:lvl4pPr lvl="3"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4pPr>
            <a:lvl5pPr lvl="4"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5pPr>
            <a:lvl6pPr lvl="5"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6pPr>
            <a:lvl7pPr lvl="6"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7pPr>
            <a:lvl8pPr lvl="7"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8pPr>
            <a:lvl9pPr lvl="8"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9pPr>
          </a:lstStyle>
          <a:p/>
        </p:txBody>
      </p:sp>
      <p:sp>
        <p:nvSpPr>
          <p:cNvPr id="45" name="Google Shape;45;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marR="0" algn="ctr">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ctr">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ctr">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6" name="Google Shape;4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613CB0"/>
              </a:buClr>
              <a:buSzPts val="2400"/>
              <a:buFont typeface="Hind"/>
              <a:buNone/>
              <a:defRPr b="1" i="0" sz="2400" u="none" cap="none" strike="noStrike">
                <a:solidFill>
                  <a:srgbClr val="613CB0"/>
                </a:solidFill>
                <a:latin typeface="Hind"/>
                <a:ea typeface="Hind"/>
                <a:cs typeface="Hind"/>
                <a:sym typeface="Hind"/>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2"/>
          <p:cNvSpPr txBox="1"/>
          <p:nvPr>
            <p:ph idx="4294967295" type="ctrTitle"/>
          </p:nvPr>
        </p:nvSpPr>
        <p:spPr>
          <a:xfrm>
            <a:off x="776388" y="1607250"/>
            <a:ext cx="7591200" cy="1302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elvetica Neue"/>
                <a:ea typeface="Helvetica Neue"/>
                <a:cs typeface="Helvetica Neue"/>
                <a:sym typeface="Helvetica Neue"/>
              </a:rPr>
              <a:t>Lecture </a:t>
            </a:r>
            <a:r>
              <a:rPr lang="en">
                <a:latin typeface="Helvetica Neue"/>
                <a:ea typeface="Helvetica Neue"/>
                <a:cs typeface="Helvetica Neue"/>
                <a:sym typeface="Helvetica Neue"/>
              </a:rPr>
              <a:t>3</a:t>
            </a:r>
            <a:r>
              <a:rPr b="1" i="0" lang="en" sz="2400" u="none" cap="none" strike="noStrike">
                <a:solidFill>
                  <a:srgbClr val="613CB0"/>
                </a:solidFill>
                <a:latin typeface="Helvetica Neue"/>
                <a:ea typeface="Helvetica Neue"/>
                <a:cs typeface="Helvetica Neue"/>
                <a:sym typeface="Helvetica Neue"/>
              </a:rPr>
              <a:t>: Fundamentals of Machine Learning Pt. 1</a:t>
            </a:r>
            <a:endParaRPr b="1" i="0" sz="2400" u="none" cap="none" strike="noStrike">
              <a:solidFill>
                <a:srgbClr val="613CB0"/>
              </a:solidFill>
              <a:latin typeface="Helvetica Neue"/>
              <a:ea typeface="Helvetica Neue"/>
              <a:cs typeface="Helvetica Neue"/>
              <a:sym typeface="Helvetica Neue"/>
            </a:endParaRPr>
          </a:p>
        </p:txBody>
      </p:sp>
      <p:sp>
        <p:nvSpPr>
          <p:cNvPr id="52" name="Google Shape;52;p12"/>
          <p:cNvSpPr txBox="1"/>
          <p:nvPr/>
        </p:nvSpPr>
        <p:spPr>
          <a:xfrm>
            <a:off x="1018506" y="2571751"/>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elvetica Neue"/>
                <a:ea typeface="Helvetica Neue"/>
                <a:cs typeface="Helvetica Neue"/>
                <a:sym typeface="Helvetica Neue"/>
              </a:rPr>
              <a:t>INFO 1998: Introduction to Machine Learning</a:t>
            </a:r>
            <a:endParaRPr b="0" i="0" sz="1400" u="none" cap="none" strike="noStrike">
              <a:solidFill>
                <a:srgbClr val="000000"/>
              </a:solidFill>
              <a:latin typeface="Arial"/>
              <a:ea typeface="Arial"/>
              <a:cs typeface="Arial"/>
              <a:sym typeface="Arial"/>
            </a:endParaRPr>
          </a:p>
        </p:txBody>
      </p:sp>
      <p:pic>
        <p:nvPicPr>
          <p:cNvPr id="53" name="Google Shape;53;p12"/>
          <p:cNvPicPr preferRelativeResize="0"/>
          <p:nvPr/>
        </p:nvPicPr>
        <p:blipFill>
          <a:blip r:embed="rId3">
            <a:alphaModFix/>
          </a:blip>
          <a:stretch>
            <a:fillRect/>
          </a:stretch>
        </p:blipFill>
        <p:spPr>
          <a:xfrm>
            <a:off x="100850" y="4493296"/>
            <a:ext cx="1835400" cy="5297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id="58" name="Google Shape;58;p13"/>
          <p:cNvPicPr preferRelativeResize="0"/>
          <p:nvPr/>
        </p:nvPicPr>
        <p:blipFill rotWithShape="1">
          <a:blip r:embed="rId3">
            <a:alphaModFix/>
          </a:blip>
          <a:srcRect b="0" l="0" r="0" t="0"/>
          <a:stretch/>
        </p:blipFill>
        <p:spPr>
          <a:xfrm>
            <a:off x="1242500" y="829400"/>
            <a:ext cx="6659049" cy="4053800"/>
          </a:xfrm>
          <a:prstGeom prst="rect">
            <a:avLst/>
          </a:prstGeom>
          <a:noFill/>
          <a:ln>
            <a:noFill/>
          </a:ln>
        </p:spPr>
      </p:pic>
      <p:sp>
        <p:nvSpPr>
          <p:cNvPr id="59" name="Google Shape;5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t>Last class: How do we separate these two classes of data?</a:t>
            </a:r>
            <a:endParaRPr i="0" sz="2400" u="none" cap="none" strike="noStrike">
              <a:latin typeface="Hind"/>
              <a:ea typeface="Hind"/>
              <a:cs typeface="Hind"/>
              <a:sym typeface="Hind"/>
            </a:endParaRPr>
          </a:p>
        </p:txBody>
      </p:sp>
      <p:sp>
        <p:nvSpPr>
          <p:cNvPr id="60" name="Google Shape;60;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t>Course Logistics</a:t>
            </a:r>
            <a:endParaRPr i="0" sz="2400" u="none" cap="none" strike="noStrike">
              <a:solidFill>
                <a:srgbClr val="613CB0"/>
              </a:solidFill>
              <a:latin typeface="Hind"/>
              <a:ea typeface="Hind"/>
              <a:cs typeface="Hind"/>
              <a:sym typeface="Hind"/>
            </a:endParaRPr>
          </a:p>
        </p:txBody>
      </p:sp>
      <p:sp>
        <p:nvSpPr>
          <p:cNvPr id="66" name="Google Shape;6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Assignment A2 releasing today, due next Wed (10/7). Submit via CMSX</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a:t>Poll: who knows Python/Numpy?</a:t>
            </a:r>
            <a:endParaRPr i="0" sz="2400" u="none" cap="none" strike="noStrike">
              <a:solidFill>
                <a:srgbClr val="613CB0"/>
              </a:solidFill>
              <a:latin typeface="Hind"/>
              <a:ea typeface="Hind"/>
              <a:cs typeface="Hind"/>
              <a:sym typeface="Hind"/>
            </a:endParaRPr>
          </a:p>
        </p:txBody>
      </p:sp>
      <p:sp>
        <p:nvSpPr>
          <p:cNvPr id="72" name="Google Shape;72;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Assignment A2 releasing today, due next Wed (10/7)</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Agenda</a:t>
            </a:r>
            <a:endParaRPr i="0" sz="2400" u="none" cap="none" strike="noStrike">
              <a:solidFill>
                <a:srgbClr val="613CB0"/>
              </a:solidFill>
              <a:latin typeface="Hind"/>
              <a:ea typeface="Hind"/>
              <a:cs typeface="Hind"/>
              <a:sym typeface="Hind"/>
            </a:endParaRPr>
          </a:p>
        </p:txBody>
      </p:sp>
      <p:sp>
        <p:nvSpPr>
          <p:cNvPr id="78" name="Google Shape;7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u="sng">
                <a:latin typeface="Helvetica Neue"/>
                <a:ea typeface="Helvetica Neue"/>
                <a:cs typeface="Helvetica Neue"/>
                <a:sym typeface="Helvetica Neue"/>
              </a:rPr>
              <a:t>Today’s Goal:</a:t>
            </a:r>
            <a:r>
              <a:rPr lang="en" u="sng">
                <a:latin typeface="Helvetica Neue"/>
                <a:ea typeface="Helvetica Neue"/>
                <a:cs typeface="Helvetica Neue"/>
                <a:sym typeface="Helvetica Neue"/>
              </a:rPr>
              <a:t> be able to write code to do some kind of ML (to some extent)</a:t>
            </a:r>
            <a:endParaRPr u="sng">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u="sng">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Arial"/>
              <a:buChar char="●"/>
            </a:pPr>
            <a:r>
              <a:rPr b="1" lang="en" sz="1600">
                <a:latin typeface="Helvetica Neue"/>
                <a:ea typeface="Helvetica Neue"/>
                <a:cs typeface="Helvetica Neue"/>
                <a:sym typeface="Helvetica Neue"/>
              </a:rPr>
              <a:t>Define Machine Learning:</a:t>
            </a:r>
            <a:r>
              <a:rPr lang="en" sz="1600">
                <a:latin typeface="Helvetica Neue"/>
                <a:ea typeface="Helvetica Neue"/>
                <a:cs typeface="Helvetica Neue"/>
                <a:sym typeface="Helvetica Neue"/>
              </a:rPr>
              <a:t> or like, 5 definitions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Start learning the language of ML:</a:t>
            </a:r>
            <a:r>
              <a:rPr lang="en" sz="1600">
                <a:latin typeface="Helvetica Neue"/>
                <a:ea typeface="Helvetica Neue"/>
                <a:cs typeface="Helvetica Neue"/>
                <a:sym typeface="Helvetica Neue"/>
              </a:rPr>
              <a:t> There’s a lot of terminology!</a:t>
            </a:r>
            <a:endParaRPr sz="16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Char char="●"/>
            </a:pPr>
            <a:r>
              <a:rPr b="1" lang="en" sz="1600">
                <a:latin typeface="Helvetica Neue"/>
                <a:ea typeface="Helvetica Neue"/>
                <a:cs typeface="Helvetica Neue"/>
                <a:sym typeface="Helvetica Neue"/>
              </a:rPr>
              <a:t>Try Linear Regression (via ScikitLearn)</a:t>
            </a:r>
            <a:r>
              <a:rPr lang="en" sz="1600">
                <a:latin typeface="Helvetica Neue"/>
                <a:ea typeface="Helvetica Neue"/>
                <a:cs typeface="Helvetica Neue"/>
                <a:sym typeface="Helvetica Neue"/>
              </a:rPr>
              <a:t>: Our first ML algorithm!</a:t>
            </a:r>
            <a:endParaRPr sz="1600">
              <a:latin typeface="Helvetica Neue"/>
              <a:ea typeface="Helvetica Neue"/>
              <a:cs typeface="Helvetica Neue"/>
              <a:sym typeface="Helvetica Neue"/>
            </a:endParaRPr>
          </a:p>
          <a:p>
            <a:pPr indent="-342900" lvl="0" marL="457200" rtl="0" algn="l">
              <a:lnSpc>
                <a:spcPct val="115000"/>
              </a:lnSpc>
              <a:spcBef>
                <a:spcPts val="0"/>
              </a:spcBef>
              <a:spcAft>
                <a:spcPts val="0"/>
              </a:spcAft>
              <a:buSzPts val="1800"/>
              <a:buFont typeface="Arial"/>
              <a:buChar char="●"/>
            </a:pPr>
            <a:r>
              <a:rPr b="1" lang="en" sz="1600">
                <a:latin typeface="Helvetica Neue"/>
                <a:ea typeface="Helvetica Neue"/>
                <a:cs typeface="Helvetica Neue"/>
                <a:sym typeface="Helvetica Neue"/>
              </a:rPr>
              <a:t>Introduce our Workflow</a:t>
            </a:r>
            <a:r>
              <a:rPr lang="en" sz="1600">
                <a:latin typeface="Helvetica Neue"/>
                <a:ea typeface="Helvetica Neue"/>
                <a:cs typeface="Helvetica Neue"/>
                <a:sym typeface="Helvetica Neue"/>
              </a:rPr>
              <a:t>: An outline for developing an ML model</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Discuss Some Important Considerations</a:t>
            </a:r>
            <a:r>
              <a:rPr lang="en" sz="1600">
                <a:latin typeface="Helvetica Neue"/>
                <a:ea typeface="Helvetica Neue"/>
                <a:cs typeface="Helvetica Neue"/>
                <a:sym typeface="Helvetica Neue"/>
              </a:rPr>
              <a:t>: What should we be thinking about as we’re MLing?</a:t>
            </a:r>
            <a:endParaRPr sz="1600">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What’s Machine Learning?</a:t>
            </a:r>
            <a:r>
              <a:rPr lang="en" sz="2400">
                <a:solidFill>
                  <a:srgbClr val="1C4587"/>
                </a:solidFill>
                <a:latin typeface="Hind"/>
                <a:ea typeface="Hind"/>
                <a:cs typeface="Hind"/>
                <a:sym typeface="Hind"/>
              </a:rPr>
              <a:t> </a:t>
            </a:r>
            <a:r>
              <a:rPr b="0" lang="en" sz="1600">
                <a:solidFill>
                  <a:schemeClr val="dk2"/>
                </a:solidFill>
              </a:rPr>
              <a:t>Part 1: what does an ML engineer do</a:t>
            </a:r>
            <a:endParaRPr i="0" sz="2400" u="none" cap="none" strike="noStrike">
              <a:solidFill>
                <a:srgbClr val="1C4587"/>
              </a:solidFill>
              <a:latin typeface="Hind"/>
              <a:ea typeface="Hind"/>
              <a:cs typeface="Hind"/>
              <a:sym typeface="Hind"/>
            </a:endParaRPr>
          </a:p>
        </p:txBody>
      </p:sp>
      <p:pic>
        <p:nvPicPr>
          <p:cNvPr id="84" name="Google Shape;84;p17"/>
          <p:cNvPicPr preferRelativeResize="0"/>
          <p:nvPr/>
        </p:nvPicPr>
        <p:blipFill rotWithShape="1">
          <a:blip r:embed="rId3">
            <a:alphaModFix/>
          </a:blip>
          <a:srcRect b="0" l="0" r="0" t="0"/>
          <a:stretch/>
        </p:blipFill>
        <p:spPr>
          <a:xfrm>
            <a:off x="2846875" y="1326375"/>
            <a:ext cx="3450250" cy="3450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Some Definitions of ML</a:t>
            </a:r>
            <a:endParaRPr sz="2400">
              <a:solidFill>
                <a:srgbClr val="613CB0"/>
              </a:solidFill>
              <a:latin typeface="Hind"/>
              <a:ea typeface="Hind"/>
              <a:cs typeface="Hind"/>
              <a:sym typeface="Hind"/>
            </a:endParaRPr>
          </a:p>
        </p:txBody>
      </p:sp>
      <p:sp>
        <p:nvSpPr>
          <p:cNvPr id="90" name="Google Shape;90;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Give computers the ability to learn without being explicitly programmed</a:t>
            </a:r>
            <a:endParaRPr i="1"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Build a useful mathematical model, based on sample data, to make inferences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Take in data and make predictions or decisions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Help your computer learn patterns</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SzPts val="1800"/>
              <a:buFont typeface="Arial"/>
              <a:buNone/>
            </a:pPr>
            <a:r>
              <a:t/>
            </a:r>
            <a:endParaRPr sz="1600">
              <a:latin typeface="Helvetica Neue"/>
              <a:ea typeface="Helvetica Neue"/>
              <a:cs typeface="Helvetica Neue"/>
              <a:sym typeface="Helvetica Neue"/>
            </a:endParaRPr>
          </a:p>
        </p:txBody>
      </p:sp>
      <p:pic>
        <p:nvPicPr>
          <p:cNvPr id="91" name="Google Shape;91;p18"/>
          <p:cNvPicPr preferRelativeResize="0"/>
          <p:nvPr/>
        </p:nvPicPr>
        <p:blipFill rotWithShape="1">
          <a:blip r:embed="rId3">
            <a:alphaModFix/>
          </a:blip>
          <a:srcRect b="0" l="0" r="0" t="0"/>
          <a:stretch/>
        </p:blipFill>
        <p:spPr>
          <a:xfrm>
            <a:off x="4724400" y="2504105"/>
            <a:ext cx="3601025" cy="24703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Machine Learning can involve:</a:t>
            </a:r>
            <a:endParaRPr i="0" sz="2400" u="none" cap="none" strike="noStrike">
              <a:solidFill>
                <a:srgbClr val="613CB0"/>
              </a:solidFill>
              <a:latin typeface="Hind"/>
              <a:ea typeface="Hind"/>
              <a:cs typeface="Hind"/>
              <a:sym typeface="Hind"/>
            </a:endParaRPr>
          </a:p>
        </p:txBody>
      </p:sp>
      <p:sp>
        <p:nvSpPr>
          <p:cNvPr id="97" name="Google Shape;9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Preprocessing data</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Splitting and selecting pieces of data</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Doing mathematical analysis on the data</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Deciding what data structures are needed to efficiently implement algorithms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Implementing accuracy metrics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...and a lot more </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SzPts val="1800"/>
              <a:buFont typeface="Arial"/>
              <a:buNone/>
            </a:pPr>
            <a:r>
              <a:t/>
            </a:r>
            <a:endParaRPr sz="1600">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we’re gonna do:</a:t>
            </a:r>
            <a:endParaRPr i="0" sz="2400" u="none" cap="none" strike="noStrike">
              <a:solidFill>
                <a:srgbClr val="613CB0"/>
              </a:solidFill>
              <a:latin typeface="Hind"/>
              <a:ea typeface="Hind"/>
              <a:cs typeface="Hind"/>
              <a:sym typeface="Hind"/>
            </a:endParaRPr>
          </a:p>
        </p:txBody>
      </p:sp>
      <p:sp>
        <p:nvSpPr>
          <p:cNvPr id="103" name="Google Shape;103;p20"/>
          <p:cNvSpPr txBox="1"/>
          <p:nvPr>
            <p:ph idx="1" type="body"/>
          </p:nvPr>
        </p:nvSpPr>
        <p:spPr>
          <a:xfrm>
            <a:off x="3879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a:latin typeface="Helvetica Neue"/>
                <a:ea typeface="Helvetica Neue"/>
                <a:cs typeface="Helvetica Neue"/>
                <a:sym typeface="Helvetica Neue"/>
              </a:rPr>
              <a:t>Our main tasks:</a:t>
            </a:r>
            <a:endParaRPr b="1"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Formulate </a:t>
            </a:r>
            <a:r>
              <a:rPr lang="en" sz="1600">
                <a:latin typeface="Helvetica Neue"/>
                <a:ea typeface="Helvetica Neue"/>
                <a:cs typeface="Helvetica Neue"/>
                <a:sym typeface="Helvetica Neue"/>
              </a:rPr>
              <a:t>a problem</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Find and </a:t>
            </a:r>
            <a:r>
              <a:rPr b="1" lang="en" sz="1600">
                <a:latin typeface="Helvetica Neue"/>
                <a:ea typeface="Helvetica Neue"/>
                <a:cs typeface="Helvetica Neue"/>
                <a:sym typeface="Helvetica Neue"/>
              </a:rPr>
              <a:t>understand</a:t>
            </a:r>
            <a:r>
              <a:rPr lang="en" sz="1600">
                <a:latin typeface="Helvetica Neue"/>
                <a:ea typeface="Helvetica Neue"/>
                <a:cs typeface="Helvetica Neue"/>
                <a:sym typeface="Helvetica Neue"/>
              </a:rPr>
              <a:t> data for that problem</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Choose a specific </a:t>
            </a:r>
            <a:r>
              <a:rPr b="1" lang="en" sz="1600">
                <a:latin typeface="Helvetica Neue"/>
                <a:ea typeface="Helvetica Neue"/>
                <a:cs typeface="Helvetica Neue"/>
                <a:sym typeface="Helvetica Neue"/>
              </a:rPr>
              <a:t>algorithm class </a:t>
            </a:r>
            <a:r>
              <a:rPr lang="en" sz="1600">
                <a:latin typeface="Helvetica Neue"/>
                <a:ea typeface="Helvetica Neue"/>
                <a:cs typeface="Helvetica Neue"/>
                <a:sym typeface="Helvetica Neue"/>
              </a:rPr>
              <a:t>to </a:t>
            </a:r>
            <a:r>
              <a:rPr b="1" lang="en" sz="1600">
                <a:latin typeface="Helvetica Neue"/>
                <a:ea typeface="Helvetica Neue"/>
                <a:cs typeface="Helvetica Neue"/>
                <a:sym typeface="Helvetica Neue"/>
              </a:rPr>
              <a:t>solve</a:t>
            </a:r>
            <a:r>
              <a:rPr lang="en" sz="1600">
                <a:latin typeface="Helvetica Neue"/>
                <a:ea typeface="Helvetica Neue"/>
                <a:cs typeface="Helvetica Neue"/>
                <a:sym typeface="Helvetica Neue"/>
              </a:rPr>
              <a:t> the problem</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Choose different parts of the data to </a:t>
            </a:r>
            <a:r>
              <a:rPr b="1" lang="en" sz="1600">
                <a:latin typeface="Helvetica Neue"/>
                <a:ea typeface="Helvetica Neue"/>
                <a:cs typeface="Helvetica Neue"/>
                <a:sym typeface="Helvetica Neue"/>
              </a:rPr>
              <a:t>best</a:t>
            </a:r>
            <a:r>
              <a:rPr lang="en" sz="1600">
                <a:latin typeface="Helvetica Neue"/>
                <a:ea typeface="Helvetica Neue"/>
                <a:cs typeface="Helvetica Neue"/>
                <a:sym typeface="Helvetica Neue"/>
              </a:rPr>
              <a:t> solve the problem</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Find which pandas, numpy, and scikit-learn functions do what we want</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Interpret the results and </a:t>
            </a:r>
            <a:r>
              <a:rPr b="1" lang="en" sz="1600">
                <a:latin typeface="Helvetica Neue"/>
                <a:ea typeface="Helvetica Neue"/>
                <a:cs typeface="Helvetica Neue"/>
                <a:sym typeface="Helvetica Neue"/>
              </a:rPr>
              <a:t>fine-tune</a:t>
            </a:r>
            <a:r>
              <a:rPr lang="en" sz="1600">
                <a:latin typeface="Helvetica Neue"/>
                <a:ea typeface="Helvetica Neue"/>
                <a:cs typeface="Helvetica Neue"/>
                <a:sym typeface="Helvetica Neue"/>
              </a:rPr>
              <a:t> our model</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0" lvl="0" marL="0" rtl="0" algn="l">
              <a:spcBef>
                <a:spcPts val="0"/>
              </a:spcBef>
              <a:spcAft>
                <a:spcPts val="0"/>
              </a:spcAft>
              <a:buClr>
                <a:schemeClr val="dk1"/>
              </a:buClr>
              <a:buSzPts val="1800"/>
              <a:buFont typeface="Arial"/>
              <a:buNone/>
            </a:pPr>
            <a:r>
              <a:rPr b="1" lang="en" sz="1600">
                <a:latin typeface="Helvetica Neue"/>
                <a:ea typeface="Helvetica Neue"/>
                <a:cs typeface="Helvetica Neue"/>
                <a:sym typeface="Helvetica Neue"/>
              </a:rPr>
              <a:t>Write as little code as possible!</a:t>
            </a:r>
            <a:endParaRPr b="1" sz="1600">
              <a:latin typeface="Helvetica Neue"/>
              <a:ea typeface="Helvetica Neue"/>
              <a:cs typeface="Helvetica Neue"/>
              <a:sym typeface="Helvetica Neue"/>
            </a:endParaRPr>
          </a:p>
          <a:p>
            <a:pPr indent="-330200" lvl="0" marL="457200" rtl="0" algn="l">
              <a:spcBef>
                <a:spcPts val="0"/>
              </a:spcBef>
              <a:spcAft>
                <a:spcPts val="0"/>
              </a:spcAft>
              <a:buSzPts val="1600"/>
              <a:buFont typeface="Helvetica Neue"/>
              <a:buChar char="●"/>
            </a:pPr>
            <a:r>
              <a:rPr lang="en" sz="1600">
                <a:latin typeface="Helvetica Neue"/>
                <a:ea typeface="Helvetica Neue"/>
                <a:cs typeface="Helvetica Neue"/>
                <a:sym typeface="Helvetica Neue"/>
              </a:rPr>
              <a:t>Use pandas to deal with data</a:t>
            </a:r>
            <a:endParaRPr sz="1600">
              <a:latin typeface="Helvetica Neue"/>
              <a:ea typeface="Helvetica Neue"/>
              <a:cs typeface="Helvetica Neue"/>
              <a:sym typeface="Helvetica Neue"/>
            </a:endParaRPr>
          </a:p>
          <a:p>
            <a:pPr indent="-330200" lvl="0" marL="457200" rtl="0" algn="l">
              <a:spcBef>
                <a:spcPts val="0"/>
              </a:spcBef>
              <a:spcAft>
                <a:spcPts val="0"/>
              </a:spcAft>
              <a:buSzPts val="1600"/>
              <a:buFont typeface="Helvetica Neue"/>
              <a:buChar char="●"/>
            </a:pPr>
            <a:r>
              <a:rPr lang="en" sz="1600">
                <a:latin typeface="Helvetica Neue"/>
                <a:ea typeface="Helvetica Neue"/>
                <a:cs typeface="Helvetica Neue"/>
                <a:sym typeface="Helvetica Neue"/>
              </a:rPr>
              <a:t>Use numpy to do math</a:t>
            </a:r>
            <a:endParaRPr sz="1600">
              <a:latin typeface="Helvetica Neue"/>
              <a:ea typeface="Helvetica Neue"/>
              <a:cs typeface="Helvetica Neue"/>
              <a:sym typeface="Helvetica Neue"/>
            </a:endParaRPr>
          </a:p>
          <a:p>
            <a:pPr indent="-330200" lvl="0" marL="457200" rtl="0" algn="l">
              <a:spcBef>
                <a:spcPts val="0"/>
              </a:spcBef>
              <a:spcAft>
                <a:spcPts val="0"/>
              </a:spcAft>
              <a:buSzPts val="1600"/>
              <a:buFont typeface="Helvetica Neue"/>
              <a:buChar char="●"/>
            </a:pPr>
            <a:r>
              <a:rPr lang="en" sz="1600">
                <a:latin typeface="Helvetica Neue"/>
                <a:ea typeface="Helvetica Neue"/>
                <a:cs typeface="Helvetica Neue"/>
                <a:sym typeface="Helvetica Neue"/>
              </a:rPr>
              <a:t>Use scikit-learn (“sklearn”) to make &amp; analyze ML models </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SzPts val="1800"/>
              <a:buFont typeface="Arial"/>
              <a:buNone/>
            </a:pPr>
            <a:r>
              <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SzPts val="1800"/>
              <a:buFont typeface="Arial"/>
              <a:buNone/>
            </a:pPr>
            <a:r>
              <a:t/>
            </a:r>
            <a:endParaRPr sz="1600">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Quick analogy: studying</a:t>
            </a:r>
            <a:endParaRPr i="0" sz="2400" u="none" cap="none" strike="noStrike">
              <a:solidFill>
                <a:srgbClr val="613CB0"/>
              </a:solidFill>
              <a:latin typeface="Hind"/>
              <a:ea typeface="Hind"/>
              <a:cs typeface="Hind"/>
              <a:sym typeface="Hind"/>
            </a:endParaRPr>
          </a:p>
        </p:txBody>
      </p:sp>
      <p:sp>
        <p:nvSpPr>
          <p:cNvPr id="109" name="Google Shape;109;p21"/>
          <p:cNvSpPr txBox="1"/>
          <p:nvPr>
            <p:ph idx="1" type="body"/>
          </p:nvPr>
        </p:nvSpPr>
        <p:spPr>
          <a:xfrm>
            <a:off x="3879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Setup</a:t>
            </a:r>
            <a:endParaRPr sz="1600">
              <a:latin typeface="Helvetica Neue"/>
              <a:ea typeface="Helvetica Neue"/>
              <a:cs typeface="Helvetica Neue"/>
              <a:sym typeface="Helvetica Neue"/>
            </a:endParaRPr>
          </a:p>
          <a:p>
            <a:pPr indent="-330200" lvl="1" marL="13716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Goal: Be able to solve the test problems </a:t>
            </a:r>
            <a:r>
              <a:rPr i="1" lang="en" sz="1600">
                <a:latin typeface="Helvetica Neue"/>
                <a:ea typeface="Helvetica Neue"/>
                <a:cs typeface="Helvetica Neue"/>
                <a:sym typeface="Helvetica Neue"/>
              </a:rPr>
              <a:t>well</a:t>
            </a:r>
            <a:endParaRPr sz="1600">
              <a:latin typeface="Helvetica Neue"/>
              <a:ea typeface="Helvetica Neue"/>
              <a:cs typeface="Helvetica Neue"/>
              <a:sym typeface="Helvetica Neue"/>
            </a:endParaRPr>
          </a:p>
          <a:p>
            <a:pPr indent="-330200" lvl="1" marL="13716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Resources: Practice problems + answers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Method</a:t>
            </a:r>
            <a:endParaRPr sz="1600">
              <a:latin typeface="Helvetica Neue"/>
              <a:ea typeface="Helvetica Neue"/>
              <a:cs typeface="Helvetica Neue"/>
              <a:sym typeface="Helvetica Neue"/>
            </a:endParaRPr>
          </a:p>
          <a:p>
            <a:pPr indent="-330200" lvl="1" marL="13716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You study those practice problems and answers. Given a problem, how do you get the answer?</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Result: </a:t>
            </a:r>
            <a:endParaRPr sz="1600">
              <a:latin typeface="Helvetica Neue"/>
              <a:ea typeface="Helvetica Neue"/>
              <a:cs typeface="Helvetica Neue"/>
              <a:sym typeface="Helvetica Neue"/>
            </a:endParaRPr>
          </a:p>
          <a:p>
            <a:pPr indent="-330200" lvl="1" marL="13716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On the real test, the problems aren’t the exact same as the practice problems. But they’re similar!</a:t>
            </a:r>
            <a:endParaRPr sz="1600">
              <a:latin typeface="Helvetica Neue"/>
              <a:ea typeface="Helvetica Neue"/>
              <a:cs typeface="Helvetica Neue"/>
              <a:sym typeface="Helvetica Neue"/>
            </a:endParaRPr>
          </a:p>
          <a:p>
            <a:pPr indent="-330200" lvl="1" marL="13716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Since you learned generally how to solve the practice problems, you can solve the similar test problems too :)</a:t>
            </a:r>
            <a:endParaRPr sz="1600">
              <a:latin typeface="Helvetica Neue"/>
              <a:ea typeface="Helvetica Neue"/>
              <a:cs typeface="Helvetica Neue"/>
              <a:sym typeface="Helvetica Neue"/>
            </a:endParaRPr>
          </a:p>
        </p:txBody>
      </p:sp>
      <p:pic>
        <p:nvPicPr>
          <p:cNvPr id="110" name="Google Shape;110;p21"/>
          <p:cNvPicPr preferRelativeResize="0"/>
          <p:nvPr/>
        </p:nvPicPr>
        <p:blipFill rotWithShape="1">
          <a:blip r:embed="rId3">
            <a:alphaModFix/>
          </a:blip>
          <a:srcRect b="0" l="0" r="0" t="0"/>
          <a:stretch/>
        </p:blipFill>
        <p:spPr>
          <a:xfrm>
            <a:off x="6474848" y="199173"/>
            <a:ext cx="2357450" cy="1682775"/>
          </a:xfrm>
          <a:prstGeom prst="rect">
            <a:avLst/>
          </a:prstGeom>
          <a:noFill/>
          <a:ln>
            <a:noFill/>
          </a:ln>
        </p:spPr>
      </p:pic>
      <p:sp>
        <p:nvSpPr>
          <p:cNvPr id="111" name="Google Shape;111;p21"/>
          <p:cNvSpPr txBox="1"/>
          <p:nvPr/>
        </p:nvSpPr>
        <p:spPr>
          <a:xfrm>
            <a:off x="1105950" y="4517525"/>
            <a:ext cx="6932100" cy="291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en" sz="1600" u="none" cap="none" strike="noStrike">
                <a:solidFill>
                  <a:schemeClr val="dk2"/>
                </a:solidFill>
                <a:latin typeface="Helvetica Neue"/>
                <a:ea typeface="Helvetica Neue"/>
                <a:cs typeface="Helvetica Neue"/>
                <a:sym typeface="Helvetica Neue"/>
              </a:rPr>
              <a:t>*Note: this analogy describes supervised learning</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What’s Machine Learning? </a:t>
            </a:r>
            <a:r>
              <a:rPr b="0" lang="en" sz="1600">
                <a:solidFill>
                  <a:schemeClr val="dk2"/>
                </a:solidFill>
              </a:rPr>
              <a:t>Part 2: like seriously what is it</a:t>
            </a:r>
            <a:endParaRPr i="0" sz="2400" u="none" cap="none" strike="noStrike">
              <a:solidFill>
                <a:srgbClr val="1C4587"/>
              </a:solidFill>
              <a:latin typeface="Hind"/>
              <a:ea typeface="Hind"/>
              <a:cs typeface="Hind"/>
              <a:sym typeface="Hind"/>
            </a:endParaRPr>
          </a:p>
        </p:txBody>
      </p:sp>
      <p:pic>
        <p:nvPicPr>
          <p:cNvPr id="117" name="Google Shape;117;p22"/>
          <p:cNvPicPr preferRelativeResize="0"/>
          <p:nvPr/>
        </p:nvPicPr>
        <p:blipFill rotWithShape="1">
          <a:blip r:embed="rId3">
            <a:alphaModFix/>
          </a:blip>
          <a:srcRect b="0" l="0" r="0" t="0"/>
          <a:stretch/>
        </p:blipFill>
        <p:spPr>
          <a:xfrm>
            <a:off x="2693375" y="1104500"/>
            <a:ext cx="3450250" cy="3450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Traditional Computer Science</a:t>
            </a:r>
            <a:endParaRPr i="0" sz="2400" u="none" cap="none" strike="noStrike">
              <a:solidFill>
                <a:srgbClr val="613CB0"/>
              </a:solidFill>
              <a:latin typeface="Hind"/>
              <a:ea typeface="Hind"/>
              <a:cs typeface="Hind"/>
              <a:sym typeface="Hind"/>
            </a:endParaRPr>
          </a:p>
        </p:txBody>
      </p:sp>
      <p:grpSp>
        <p:nvGrpSpPr>
          <p:cNvPr id="123" name="Google Shape;123;p23"/>
          <p:cNvGrpSpPr/>
          <p:nvPr/>
        </p:nvGrpSpPr>
        <p:grpSpPr>
          <a:xfrm>
            <a:off x="1010700" y="1771350"/>
            <a:ext cx="7122600" cy="1600800"/>
            <a:chOff x="902025" y="1529000"/>
            <a:chExt cx="7122600" cy="1600800"/>
          </a:xfrm>
        </p:grpSpPr>
        <p:sp>
          <p:nvSpPr>
            <p:cNvPr id="124" name="Google Shape;124;p23"/>
            <p:cNvSpPr txBox="1"/>
            <p:nvPr/>
          </p:nvSpPr>
          <p:spPr>
            <a:xfrm>
              <a:off x="1367375" y="1657050"/>
              <a:ext cx="8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Data</a:t>
              </a:r>
              <a:endParaRPr b="1" i="0" sz="2400" u="none" cap="none" strike="noStrike">
                <a:solidFill>
                  <a:srgbClr val="000000"/>
                </a:solidFill>
                <a:latin typeface="Arial"/>
                <a:ea typeface="Arial"/>
                <a:cs typeface="Arial"/>
                <a:sym typeface="Arial"/>
              </a:endParaRPr>
            </a:p>
          </p:txBody>
        </p:sp>
        <p:sp>
          <p:nvSpPr>
            <p:cNvPr id="125" name="Google Shape;125;p23"/>
            <p:cNvSpPr txBox="1"/>
            <p:nvPr/>
          </p:nvSpPr>
          <p:spPr>
            <a:xfrm>
              <a:off x="902025" y="2437800"/>
              <a:ext cx="1803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Program</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(Function)</a:t>
              </a:r>
              <a:endParaRPr b="1" i="0" sz="2400" u="none" cap="none" strike="noStrike">
                <a:solidFill>
                  <a:srgbClr val="000000"/>
                </a:solidFill>
                <a:latin typeface="Arial"/>
                <a:ea typeface="Arial"/>
                <a:cs typeface="Arial"/>
                <a:sym typeface="Arial"/>
              </a:endParaRPr>
            </a:p>
          </p:txBody>
        </p:sp>
        <p:sp>
          <p:nvSpPr>
            <p:cNvPr id="126" name="Google Shape;126;p23"/>
            <p:cNvSpPr/>
            <p:nvPr/>
          </p:nvSpPr>
          <p:spPr>
            <a:xfrm>
              <a:off x="2550275" y="1783350"/>
              <a:ext cx="6435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3"/>
            <p:cNvSpPr/>
            <p:nvPr/>
          </p:nvSpPr>
          <p:spPr>
            <a:xfrm>
              <a:off x="2638650" y="2564100"/>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3"/>
            <p:cNvSpPr/>
            <p:nvPr/>
          </p:nvSpPr>
          <p:spPr>
            <a:xfrm>
              <a:off x="3692225" y="1529000"/>
              <a:ext cx="2004000" cy="1600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3"/>
            <p:cNvSpPr txBox="1"/>
            <p:nvPr/>
          </p:nvSpPr>
          <p:spPr>
            <a:xfrm>
              <a:off x="3659188" y="2298188"/>
              <a:ext cx="171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Computer</a:t>
              </a:r>
              <a:endParaRPr b="1" i="0" sz="2400" u="none" cap="none" strike="noStrike">
                <a:solidFill>
                  <a:srgbClr val="000000"/>
                </a:solidFill>
                <a:latin typeface="Arial"/>
                <a:ea typeface="Arial"/>
                <a:cs typeface="Arial"/>
                <a:sym typeface="Arial"/>
              </a:endParaRPr>
            </a:p>
          </p:txBody>
        </p:sp>
        <p:sp>
          <p:nvSpPr>
            <p:cNvPr id="130" name="Google Shape;130;p23"/>
            <p:cNvSpPr/>
            <p:nvPr/>
          </p:nvSpPr>
          <p:spPr>
            <a:xfrm>
              <a:off x="5947500" y="2169350"/>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3"/>
            <p:cNvSpPr txBox="1"/>
            <p:nvPr/>
          </p:nvSpPr>
          <p:spPr>
            <a:xfrm>
              <a:off x="6681225" y="2043050"/>
              <a:ext cx="1343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Output</a:t>
              </a:r>
              <a:endParaRPr b="1" i="0" sz="2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Machine Learning</a:t>
            </a:r>
            <a:endParaRPr i="0" sz="2400" u="none" cap="none" strike="noStrike">
              <a:solidFill>
                <a:srgbClr val="613CB0"/>
              </a:solidFill>
              <a:latin typeface="Hind"/>
              <a:ea typeface="Hind"/>
              <a:cs typeface="Hind"/>
              <a:sym typeface="Hind"/>
            </a:endParaRPr>
          </a:p>
        </p:txBody>
      </p:sp>
      <p:grpSp>
        <p:nvGrpSpPr>
          <p:cNvPr id="137" name="Google Shape;137;p24"/>
          <p:cNvGrpSpPr/>
          <p:nvPr/>
        </p:nvGrpSpPr>
        <p:grpSpPr>
          <a:xfrm>
            <a:off x="828413" y="1771350"/>
            <a:ext cx="7487175" cy="1600800"/>
            <a:chOff x="1137925" y="3394775"/>
            <a:chExt cx="7487175" cy="1600800"/>
          </a:xfrm>
        </p:grpSpPr>
        <p:sp>
          <p:nvSpPr>
            <p:cNvPr id="138" name="Google Shape;138;p24"/>
            <p:cNvSpPr txBox="1"/>
            <p:nvPr/>
          </p:nvSpPr>
          <p:spPr>
            <a:xfrm>
              <a:off x="1377475" y="3522825"/>
              <a:ext cx="8643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Data</a:t>
              </a:r>
              <a:endParaRPr b="1" i="0" sz="2400" u="none" cap="none" strike="noStrike">
                <a:solidFill>
                  <a:srgbClr val="000000"/>
                </a:solidFill>
                <a:latin typeface="Arial"/>
                <a:ea typeface="Arial"/>
                <a:cs typeface="Arial"/>
                <a:sym typeface="Arial"/>
              </a:endParaRPr>
            </a:p>
          </p:txBody>
        </p:sp>
        <p:sp>
          <p:nvSpPr>
            <p:cNvPr id="139" name="Google Shape;139;p24"/>
            <p:cNvSpPr txBox="1"/>
            <p:nvPr/>
          </p:nvSpPr>
          <p:spPr>
            <a:xfrm>
              <a:off x="6822100" y="3908825"/>
              <a:ext cx="1803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Program</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(Function)</a:t>
              </a:r>
              <a:endParaRPr b="1" i="0" sz="2400" u="none" cap="none" strike="noStrike">
                <a:solidFill>
                  <a:srgbClr val="000000"/>
                </a:solidFill>
                <a:latin typeface="Arial"/>
                <a:ea typeface="Arial"/>
                <a:cs typeface="Arial"/>
                <a:sym typeface="Arial"/>
              </a:endParaRPr>
            </a:p>
          </p:txBody>
        </p:sp>
        <p:sp>
          <p:nvSpPr>
            <p:cNvPr id="140" name="Google Shape;140;p24"/>
            <p:cNvSpPr/>
            <p:nvPr/>
          </p:nvSpPr>
          <p:spPr>
            <a:xfrm>
              <a:off x="2560375" y="3649125"/>
              <a:ext cx="6435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4"/>
            <p:cNvSpPr/>
            <p:nvPr/>
          </p:nvSpPr>
          <p:spPr>
            <a:xfrm>
              <a:off x="2648750" y="4429875"/>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4"/>
            <p:cNvSpPr/>
            <p:nvPr/>
          </p:nvSpPr>
          <p:spPr>
            <a:xfrm>
              <a:off x="3702325" y="3394775"/>
              <a:ext cx="2004000" cy="1600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4"/>
            <p:cNvSpPr txBox="1"/>
            <p:nvPr/>
          </p:nvSpPr>
          <p:spPr>
            <a:xfrm>
              <a:off x="3669288" y="4163963"/>
              <a:ext cx="171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Computer</a:t>
              </a:r>
              <a:endParaRPr b="1" i="0" sz="2400" u="none" cap="none" strike="noStrike">
                <a:solidFill>
                  <a:srgbClr val="000000"/>
                </a:solidFill>
                <a:latin typeface="Arial"/>
                <a:ea typeface="Arial"/>
                <a:cs typeface="Arial"/>
                <a:sym typeface="Arial"/>
              </a:endParaRPr>
            </a:p>
          </p:txBody>
        </p:sp>
        <p:sp>
          <p:nvSpPr>
            <p:cNvPr id="144" name="Google Shape;144;p24"/>
            <p:cNvSpPr/>
            <p:nvPr/>
          </p:nvSpPr>
          <p:spPr>
            <a:xfrm>
              <a:off x="5957600" y="4035125"/>
              <a:ext cx="555000" cy="3201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4"/>
            <p:cNvSpPr txBox="1"/>
            <p:nvPr/>
          </p:nvSpPr>
          <p:spPr>
            <a:xfrm>
              <a:off x="1137925" y="4303575"/>
              <a:ext cx="13434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000000"/>
                  </a:solidFill>
                  <a:latin typeface="Arial"/>
                  <a:ea typeface="Arial"/>
                  <a:cs typeface="Arial"/>
                  <a:sym typeface="Arial"/>
                </a:rPr>
                <a:t>Output</a:t>
              </a:r>
              <a:endParaRPr b="1" i="0" sz="2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pSp>
        <p:nvGrpSpPr>
          <p:cNvPr id="150" name="Google Shape;150;p25"/>
          <p:cNvGrpSpPr/>
          <p:nvPr/>
        </p:nvGrpSpPr>
        <p:grpSpPr>
          <a:xfrm>
            <a:off x="171750" y="1135475"/>
            <a:ext cx="9285819" cy="3196388"/>
            <a:chOff x="171750" y="754475"/>
            <a:chExt cx="9285819" cy="3196388"/>
          </a:xfrm>
        </p:grpSpPr>
        <p:sp>
          <p:nvSpPr>
            <p:cNvPr id="151" name="Google Shape;151;p25"/>
            <p:cNvSpPr txBox="1"/>
            <p:nvPr/>
          </p:nvSpPr>
          <p:spPr>
            <a:xfrm>
              <a:off x="315757" y="1919435"/>
              <a:ext cx="7755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Data</a:t>
              </a:r>
              <a:endParaRPr b="1" i="0" sz="1800" u="none" cap="none" strike="noStrike">
                <a:solidFill>
                  <a:srgbClr val="000000"/>
                </a:solidFill>
                <a:latin typeface="Arial"/>
                <a:ea typeface="Arial"/>
                <a:cs typeface="Arial"/>
                <a:sym typeface="Arial"/>
              </a:endParaRPr>
            </a:p>
          </p:txBody>
        </p:sp>
        <p:sp>
          <p:nvSpPr>
            <p:cNvPr id="152" name="Google Shape;152;p25"/>
            <p:cNvSpPr txBox="1"/>
            <p:nvPr/>
          </p:nvSpPr>
          <p:spPr>
            <a:xfrm>
              <a:off x="171750" y="2662166"/>
              <a:ext cx="12054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Known</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Output</a:t>
              </a:r>
              <a:endParaRPr b="1" i="0" sz="1800" u="none" cap="none" strike="noStrike">
                <a:solidFill>
                  <a:srgbClr val="000000"/>
                </a:solidFill>
                <a:latin typeface="Arial"/>
                <a:ea typeface="Arial"/>
                <a:cs typeface="Arial"/>
                <a:sym typeface="Arial"/>
              </a:endParaRPr>
            </a:p>
          </p:txBody>
        </p:sp>
        <p:sp>
          <p:nvSpPr>
            <p:cNvPr id="153" name="Google Shape;153;p25"/>
            <p:cNvSpPr/>
            <p:nvPr/>
          </p:nvSpPr>
          <p:spPr>
            <a:xfrm>
              <a:off x="1171996" y="2039585"/>
              <a:ext cx="5775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5"/>
            <p:cNvSpPr/>
            <p:nvPr/>
          </p:nvSpPr>
          <p:spPr>
            <a:xfrm>
              <a:off x="1251290" y="2782316"/>
              <a:ext cx="4980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5"/>
            <p:cNvSpPr/>
            <p:nvPr/>
          </p:nvSpPr>
          <p:spPr>
            <a:xfrm>
              <a:off x="1923123" y="1797620"/>
              <a:ext cx="1388400" cy="1522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5"/>
            <p:cNvSpPr txBox="1"/>
            <p:nvPr/>
          </p:nvSpPr>
          <p:spPr>
            <a:xfrm>
              <a:off x="1776693" y="3406063"/>
              <a:ext cx="15348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Computer</a:t>
              </a:r>
              <a:endParaRPr b="1" i="0" sz="1800" u="none" cap="none" strike="noStrike">
                <a:solidFill>
                  <a:srgbClr val="000000"/>
                </a:solidFill>
                <a:latin typeface="Arial"/>
                <a:ea typeface="Arial"/>
                <a:cs typeface="Arial"/>
                <a:sym typeface="Arial"/>
              </a:endParaRPr>
            </a:p>
          </p:txBody>
        </p:sp>
        <p:sp>
          <p:nvSpPr>
            <p:cNvPr id="157" name="Google Shape;157;p25"/>
            <p:cNvSpPr/>
            <p:nvPr/>
          </p:nvSpPr>
          <p:spPr>
            <a:xfrm>
              <a:off x="3504154" y="2406788"/>
              <a:ext cx="4980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5"/>
            <p:cNvSpPr txBox="1"/>
            <p:nvPr/>
          </p:nvSpPr>
          <p:spPr>
            <a:xfrm>
              <a:off x="4071534" y="2307981"/>
              <a:ext cx="13011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Program</a:t>
              </a:r>
              <a:endParaRPr b="1" i="0" sz="1800" u="none" cap="none" strike="noStrike">
                <a:solidFill>
                  <a:srgbClr val="000000"/>
                </a:solidFill>
                <a:latin typeface="Arial"/>
                <a:ea typeface="Arial"/>
                <a:cs typeface="Arial"/>
                <a:sym typeface="Arial"/>
              </a:endParaRPr>
            </a:p>
          </p:txBody>
        </p:sp>
        <p:sp>
          <p:nvSpPr>
            <p:cNvPr id="159" name="Google Shape;159;p25"/>
            <p:cNvSpPr txBox="1"/>
            <p:nvPr/>
          </p:nvSpPr>
          <p:spPr>
            <a:xfrm>
              <a:off x="4362827" y="1567007"/>
              <a:ext cx="7755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New Data</a:t>
              </a:r>
              <a:endParaRPr b="1" i="0" sz="1800" u="none" cap="none" strike="noStrike">
                <a:solidFill>
                  <a:srgbClr val="000000"/>
                </a:solidFill>
                <a:latin typeface="Arial"/>
                <a:ea typeface="Arial"/>
                <a:cs typeface="Arial"/>
                <a:sym typeface="Arial"/>
              </a:endParaRPr>
            </a:p>
          </p:txBody>
        </p:sp>
        <p:sp>
          <p:nvSpPr>
            <p:cNvPr id="160" name="Google Shape;160;p25"/>
            <p:cNvSpPr/>
            <p:nvPr/>
          </p:nvSpPr>
          <p:spPr>
            <a:xfrm>
              <a:off x="5202073" y="1808964"/>
              <a:ext cx="5775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p:nvPr/>
          </p:nvSpPr>
          <p:spPr>
            <a:xfrm>
              <a:off x="5953200" y="1567000"/>
              <a:ext cx="1388400" cy="15228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5"/>
            <p:cNvSpPr txBox="1"/>
            <p:nvPr/>
          </p:nvSpPr>
          <p:spPr>
            <a:xfrm>
              <a:off x="5806770" y="3175443"/>
              <a:ext cx="15348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Computer</a:t>
              </a:r>
              <a:endParaRPr b="1" i="0" sz="1800" u="none" cap="none" strike="noStrike">
                <a:solidFill>
                  <a:srgbClr val="000000"/>
                </a:solidFill>
                <a:latin typeface="Arial"/>
                <a:ea typeface="Arial"/>
                <a:cs typeface="Arial"/>
                <a:sym typeface="Arial"/>
              </a:endParaRPr>
            </a:p>
          </p:txBody>
        </p:sp>
        <p:sp>
          <p:nvSpPr>
            <p:cNvPr id="163" name="Google Shape;163;p25"/>
            <p:cNvSpPr/>
            <p:nvPr/>
          </p:nvSpPr>
          <p:spPr>
            <a:xfrm>
              <a:off x="7534231" y="2176168"/>
              <a:ext cx="4980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5"/>
            <p:cNvSpPr txBox="1"/>
            <p:nvPr/>
          </p:nvSpPr>
          <p:spPr>
            <a:xfrm>
              <a:off x="8156469" y="2056018"/>
              <a:ext cx="1301100" cy="54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Output</a:t>
              </a:r>
              <a:endParaRPr b="1" i="0" sz="1800" u="none" cap="none" strike="noStrike">
                <a:solidFill>
                  <a:srgbClr val="000000"/>
                </a:solidFill>
                <a:latin typeface="Arial"/>
                <a:ea typeface="Arial"/>
                <a:cs typeface="Arial"/>
                <a:sym typeface="Arial"/>
              </a:endParaRPr>
            </a:p>
          </p:txBody>
        </p:sp>
        <p:sp>
          <p:nvSpPr>
            <p:cNvPr id="165" name="Google Shape;165;p25"/>
            <p:cNvSpPr/>
            <p:nvPr/>
          </p:nvSpPr>
          <p:spPr>
            <a:xfrm>
              <a:off x="5262565" y="2406791"/>
              <a:ext cx="498000" cy="3045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5"/>
            <p:cNvSpPr txBox="1"/>
            <p:nvPr/>
          </p:nvSpPr>
          <p:spPr>
            <a:xfrm>
              <a:off x="5779575" y="754475"/>
              <a:ext cx="21855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20124D"/>
                  </a:solidFill>
                  <a:latin typeface="Hind"/>
                  <a:ea typeface="Hind"/>
                  <a:cs typeface="Hind"/>
                  <a:sym typeface="Hind"/>
                </a:rPr>
                <a:t>Traditional CS</a:t>
              </a:r>
              <a:endParaRPr b="1" i="0" sz="2400" u="none" cap="none" strike="noStrike">
                <a:solidFill>
                  <a:srgbClr val="20124D"/>
                </a:solidFill>
                <a:latin typeface="Hind"/>
                <a:ea typeface="Hind"/>
                <a:cs typeface="Hind"/>
                <a:sym typeface="Hind"/>
              </a:endParaRPr>
            </a:p>
          </p:txBody>
        </p:sp>
        <p:sp>
          <p:nvSpPr>
            <p:cNvPr id="167" name="Google Shape;167;p25"/>
            <p:cNvSpPr txBox="1"/>
            <p:nvPr/>
          </p:nvSpPr>
          <p:spPr>
            <a:xfrm>
              <a:off x="902025" y="994300"/>
              <a:ext cx="2805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20124D"/>
                  </a:solidFill>
                  <a:latin typeface="Hind"/>
                  <a:ea typeface="Hind"/>
                  <a:cs typeface="Hind"/>
                  <a:sym typeface="Hind"/>
                </a:rPr>
                <a:t>Machine Learning</a:t>
              </a:r>
              <a:endParaRPr b="1" i="0" sz="2400" u="none" cap="none" strike="noStrike">
                <a:solidFill>
                  <a:srgbClr val="20124D"/>
                </a:solidFill>
                <a:latin typeface="Hind"/>
                <a:ea typeface="Hind"/>
                <a:cs typeface="Hind"/>
                <a:sym typeface="Hind"/>
              </a:endParaRPr>
            </a:p>
          </p:txBody>
        </p:sp>
      </p:grpSp>
      <p:sp>
        <p:nvSpPr>
          <p:cNvPr id="168" name="Google Shape;16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Using Machine Learning</a:t>
            </a:r>
            <a:endParaRPr i="0" sz="2400" u="none" cap="none" strike="noStrike">
              <a:solidFill>
                <a:srgbClr val="613CB0"/>
              </a:solidFill>
              <a:latin typeface="Hind"/>
              <a:ea typeface="Hind"/>
              <a:cs typeface="Hind"/>
              <a:sym typeface="Hi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Physics: A White-Box View of the World</a:t>
            </a:r>
            <a:endParaRPr sz="2400">
              <a:solidFill>
                <a:srgbClr val="613CB0"/>
              </a:solidFill>
              <a:latin typeface="Hind"/>
              <a:ea typeface="Hind"/>
              <a:cs typeface="Hind"/>
              <a:sym typeface="Hind"/>
            </a:endParaRPr>
          </a:p>
        </p:txBody>
      </p:sp>
      <p:sp>
        <p:nvSpPr>
          <p:cNvPr id="174" name="Google Shape;174;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We have studied the world and crafted </a:t>
            </a:r>
            <a:r>
              <a:rPr b="1" lang="en" sz="1600">
                <a:latin typeface="Helvetica Neue"/>
                <a:ea typeface="Helvetica Neue"/>
                <a:cs typeface="Helvetica Neue"/>
                <a:sym typeface="Helvetica Neue"/>
              </a:rPr>
              <a:t>models</a:t>
            </a:r>
            <a:r>
              <a:rPr lang="en" sz="1600">
                <a:latin typeface="Helvetica Neue"/>
                <a:ea typeface="Helvetica Neue"/>
                <a:cs typeface="Helvetica Neue"/>
                <a:sym typeface="Helvetica Neue"/>
              </a:rPr>
              <a:t> </a:t>
            </a:r>
            <a:r>
              <a:rPr i="1" lang="en" sz="1600">
                <a:latin typeface="Helvetica Neue"/>
                <a:ea typeface="Helvetica Neue"/>
                <a:cs typeface="Helvetica Neue"/>
                <a:sym typeface="Helvetica Neue"/>
              </a:rPr>
              <a:t>by</a:t>
            </a:r>
            <a:r>
              <a:rPr lang="en" sz="1600">
                <a:latin typeface="Helvetica Neue"/>
                <a:ea typeface="Helvetica Neue"/>
                <a:cs typeface="Helvetica Neue"/>
                <a:sym typeface="Helvetica Neue"/>
              </a:rPr>
              <a:t> </a:t>
            </a:r>
            <a:r>
              <a:rPr i="1" lang="en" sz="1600">
                <a:latin typeface="Helvetica Neue"/>
                <a:ea typeface="Helvetica Neue"/>
                <a:cs typeface="Helvetica Neue"/>
                <a:sym typeface="Helvetica Neue"/>
              </a:rPr>
              <a:t>ourselves</a:t>
            </a:r>
            <a:r>
              <a:rPr lang="en" sz="1600">
                <a:latin typeface="Helvetica Neue"/>
                <a:ea typeface="Helvetica Neue"/>
                <a:cs typeface="Helvetica Neue"/>
                <a:sym typeface="Helvetica Neue"/>
              </a:rPr>
              <a:t> to represent it</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Our models are interpretable</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White-box algorithms: </a:t>
            </a:r>
            <a:r>
              <a:rPr lang="en" sz="1600">
                <a:latin typeface="Helvetica Neue"/>
                <a:ea typeface="Helvetica Neue"/>
                <a:cs typeface="Helvetica Neue"/>
                <a:sym typeface="Helvetica Neue"/>
              </a:rPr>
              <a:t>The inner workings of the algorithm are transparent</a:t>
            </a:r>
            <a:endParaRPr sz="1600">
              <a:latin typeface="Helvetica Neue"/>
              <a:ea typeface="Helvetica Neue"/>
              <a:cs typeface="Helvetica Neue"/>
              <a:sym typeface="Helvetica Neue"/>
            </a:endParaRPr>
          </a:p>
          <a:p>
            <a:pPr indent="-228600" lvl="0" marL="457200" rtl="0" algn="l">
              <a:lnSpc>
                <a:spcPct val="115000"/>
              </a:lnSpc>
              <a:spcBef>
                <a:spcPts val="0"/>
              </a:spcBef>
              <a:spcAft>
                <a:spcPts val="0"/>
              </a:spcAft>
              <a:buSzPts val="1800"/>
              <a:buFont typeface="Arial"/>
              <a:buNone/>
            </a:pPr>
            <a:r>
              <a:t/>
            </a:r>
            <a:endParaRPr sz="1600">
              <a:latin typeface="Helvetica Neue"/>
              <a:ea typeface="Helvetica Neue"/>
              <a:cs typeface="Helvetica Neue"/>
              <a:sym typeface="Helvetica Neue"/>
            </a:endParaRPr>
          </a:p>
        </p:txBody>
      </p:sp>
      <p:pic>
        <p:nvPicPr>
          <p:cNvPr id="175" name="Google Shape;175;p26"/>
          <p:cNvPicPr preferRelativeResize="0"/>
          <p:nvPr/>
        </p:nvPicPr>
        <p:blipFill rotWithShape="1">
          <a:blip r:embed="rId3">
            <a:alphaModFix/>
          </a:blip>
          <a:srcRect b="0" l="0" r="0" t="0"/>
          <a:stretch/>
        </p:blipFill>
        <p:spPr>
          <a:xfrm>
            <a:off x="5513875" y="3401899"/>
            <a:ext cx="2684900" cy="1011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Black Box Models</a:t>
            </a:r>
            <a:endParaRPr sz="2400">
              <a:solidFill>
                <a:srgbClr val="613CB0"/>
              </a:solidFill>
              <a:latin typeface="Hind"/>
              <a:ea typeface="Hind"/>
              <a:cs typeface="Hind"/>
              <a:sym typeface="Hind"/>
            </a:endParaRPr>
          </a:p>
        </p:txBody>
      </p:sp>
      <p:sp>
        <p:nvSpPr>
          <p:cNvPr id="181" name="Google Shape;181;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Perhaps we can derive a process to solve the problem</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Determine what a function would roughly look like</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Think of relevant inputs</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Allow the function to </a:t>
            </a:r>
            <a:r>
              <a:rPr i="1" lang="en" sz="1600">
                <a:latin typeface="Helvetica Neue"/>
                <a:ea typeface="Helvetica Neue"/>
                <a:cs typeface="Helvetica Neue"/>
                <a:sym typeface="Helvetica Neue"/>
              </a:rPr>
              <a:t>build itself</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Black Box Model: </a:t>
            </a:r>
            <a:r>
              <a:rPr lang="en" sz="1600">
                <a:latin typeface="Helvetica Neue"/>
                <a:ea typeface="Helvetica Neue"/>
                <a:cs typeface="Helvetica Neue"/>
                <a:sym typeface="Helvetica Neue"/>
              </a:rPr>
              <a:t>Results may not be interpretable!</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What’s Machine Learning?</a:t>
            </a:r>
            <a:r>
              <a:rPr lang="en" sz="2400">
                <a:solidFill>
                  <a:srgbClr val="1C4587"/>
                </a:solidFill>
                <a:latin typeface="Hind"/>
                <a:ea typeface="Hind"/>
                <a:cs typeface="Hind"/>
                <a:sym typeface="Hind"/>
              </a:rPr>
              <a:t> </a:t>
            </a:r>
            <a:r>
              <a:rPr b="0" lang="en" sz="1600">
                <a:solidFill>
                  <a:schemeClr val="dk2"/>
                </a:solidFill>
              </a:rPr>
              <a:t>Part 3: what’s a model?</a:t>
            </a:r>
            <a:endParaRPr i="0" sz="2400" u="none" cap="none" strike="noStrike">
              <a:solidFill>
                <a:srgbClr val="1C4587"/>
              </a:solidFill>
              <a:latin typeface="Hind"/>
              <a:ea typeface="Hind"/>
              <a:cs typeface="Hind"/>
              <a:sym typeface="Hind"/>
            </a:endParaRPr>
          </a:p>
        </p:txBody>
      </p:sp>
      <p:pic>
        <p:nvPicPr>
          <p:cNvPr id="187" name="Google Shape;187;p28"/>
          <p:cNvPicPr preferRelativeResize="0"/>
          <p:nvPr/>
        </p:nvPicPr>
        <p:blipFill rotWithShape="1">
          <a:blip r:embed="rId3">
            <a:alphaModFix/>
          </a:blip>
          <a:srcRect b="0" l="0" r="0" t="0"/>
          <a:stretch/>
        </p:blipFill>
        <p:spPr>
          <a:xfrm>
            <a:off x="2693375" y="1104500"/>
            <a:ext cx="3450250" cy="3450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What’s a model?</a:t>
            </a:r>
            <a:endParaRPr i="0" sz="2400" u="none" cap="none" strike="noStrike">
              <a:solidFill>
                <a:srgbClr val="613CB0"/>
              </a:solidFill>
              <a:latin typeface="Hind"/>
              <a:ea typeface="Hind"/>
              <a:cs typeface="Hind"/>
              <a:sym typeface="Hind"/>
            </a:endParaRPr>
          </a:p>
        </p:txBody>
      </p:sp>
      <p:sp>
        <p:nvSpPr>
          <p:cNvPr id="193" name="Google Shape;193;p29"/>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The output of a machine learning algorithm</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procedure to produce some outputs when given some inputs</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relationship between inputs and outputs</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guess at how inputs and outputs are related</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set of assumptions we’re imposing on the dataset</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parametrized function we can configure</a:t>
            </a:r>
            <a:endParaRPr sz="1600">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Review: Dataset Structure</a:t>
            </a:r>
            <a:endParaRPr i="0" sz="2400" u="none" cap="none" strike="noStrike">
              <a:solidFill>
                <a:srgbClr val="613CB0"/>
              </a:solidFill>
              <a:latin typeface="Hind"/>
              <a:ea typeface="Hind"/>
              <a:cs typeface="Hind"/>
              <a:sym typeface="Hind"/>
            </a:endParaRPr>
          </a:p>
        </p:txBody>
      </p:sp>
      <p:sp>
        <p:nvSpPr>
          <p:cNvPr id="199" name="Google Shape;199;p30"/>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Rows are data points</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AKA samples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Columns are features</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A sample is made </a:t>
            </a:r>
            <a:endParaRPr sz="1600">
              <a:latin typeface="Helvetica Neue"/>
              <a:ea typeface="Helvetica Neue"/>
              <a:cs typeface="Helvetica Neue"/>
              <a:sym typeface="Helvetica Neue"/>
            </a:endParaRPr>
          </a:p>
          <a:p>
            <a:pPr indent="0" lvl="0" marL="914400" rtl="0" algn="l">
              <a:lnSpc>
                <a:spcPct val="115000"/>
              </a:lnSpc>
              <a:spcBef>
                <a:spcPts val="0"/>
              </a:spcBef>
              <a:spcAft>
                <a:spcPts val="0"/>
              </a:spcAft>
              <a:buSzPts val="1800"/>
              <a:buNone/>
            </a:pPr>
            <a:r>
              <a:rPr lang="en" sz="1600">
                <a:latin typeface="Helvetica Neue"/>
                <a:ea typeface="Helvetica Neue"/>
                <a:cs typeface="Helvetica Neue"/>
                <a:sym typeface="Helvetica Neue"/>
              </a:rPr>
              <a:t>of lots of features,</a:t>
            </a:r>
            <a:endParaRPr sz="1600">
              <a:latin typeface="Helvetica Neue"/>
              <a:ea typeface="Helvetica Neue"/>
              <a:cs typeface="Helvetica Neue"/>
              <a:sym typeface="Helvetica Neue"/>
            </a:endParaRPr>
          </a:p>
          <a:p>
            <a:pPr indent="0" lvl="0" marL="914400" rtl="0" algn="l">
              <a:lnSpc>
                <a:spcPct val="115000"/>
              </a:lnSpc>
              <a:spcBef>
                <a:spcPts val="0"/>
              </a:spcBef>
              <a:spcAft>
                <a:spcPts val="0"/>
              </a:spcAft>
              <a:buSzPts val="1800"/>
              <a:buNone/>
            </a:pPr>
            <a:r>
              <a:rPr lang="en" sz="1600">
                <a:latin typeface="Helvetica Neue"/>
                <a:ea typeface="Helvetica Neue"/>
                <a:cs typeface="Helvetica Neue"/>
                <a:sym typeface="Helvetica Neue"/>
              </a:rPr>
              <a:t>including the goal</a:t>
            </a:r>
            <a:endParaRPr sz="1600">
              <a:latin typeface="Helvetica Neue"/>
              <a:ea typeface="Helvetica Neue"/>
              <a:cs typeface="Helvetica Neue"/>
              <a:sym typeface="Helvetica Neue"/>
            </a:endParaRPr>
          </a:p>
        </p:txBody>
      </p:sp>
      <p:graphicFrame>
        <p:nvGraphicFramePr>
          <p:cNvPr id="200" name="Google Shape;200;p30"/>
          <p:cNvGraphicFramePr/>
          <p:nvPr/>
        </p:nvGraphicFramePr>
        <p:xfrm>
          <a:off x="4239925" y="1187758"/>
          <a:ext cx="3000000" cy="3000000"/>
        </p:xfrm>
        <a:graphic>
          <a:graphicData uri="http://schemas.openxmlformats.org/drawingml/2006/table">
            <a:tbl>
              <a:tblPr>
                <a:noFill/>
                <a:tableStyleId>{88815ABC-3E31-4895-91DA-2838C6C6F9D0}</a:tableStyleId>
              </a:tblPr>
              <a:tblGrid>
                <a:gridCol w="536075"/>
                <a:gridCol w="1176950"/>
                <a:gridCol w="694525"/>
                <a:gridCol w="2159675"/>
              </a:tblGrid>
              <a:tr h="479625">
                <a:tc>
                  <a:txBody>
                    <a:bodyPr/>
                    <a:lstStyle/>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Name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Age</a:t>
                      </a:r>
                      <a:endParaRPr b="1" sz="1400" u="none" cap="none" strike="noStrike">
                        <a:latin typeface="Hind"/>
                        <a:ea typeface="Hind"/>
                        <a:cs typeface="Hind"/>
                        <a:sym typeface="Hind"/>
                      </a:endParaRPr>
                    </a:p>
                  </a:txBody>
                  <a:tcPr marT="91425" marB="91425" marR="91425" marL="91425">
                    <a:solidFill>
                      <a:srgbClr val="D9D2E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Hind"/>
                          <a:ea typeface="Hind"/>
                          <a:cs typeface="Hind"/>
                          <a:sym typeface="Hind"/>
                        </a:rPr>
                        <a:t>Major</a:t>
                      </a:r>
                      <a:endParaRPr b="1" sz="1400" u="none" cap="none" strike="noStrike">
                        <a:latin typeface="Hind"/>
                        <a:ea typeface="Hind"/>
                        <a:cs typeface="Hind"/>
                        <a:sym typeface="Hind"/>
                      </a:endParaRPr>
                    </a:p>
                  </a:txBody>
                  <a:tcPr marT="91425" marB="91425" marR="91425" marL="91425">
                    <a:solidFill>
                      <a:srgbClr val="D9D2E9"/>
                    </a:solidFill>
                  </a:tcPr>
                </a:tc>
              </a:tr>
              <a:tr h="475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0</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Ann</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19</a:t>
                      </a:r>
                      <a:endParaRPr sz="1400" u="none" cap="none" strike="noStrike">
                        <a:latin typeface="Hind"/>
                        <a:ea typeface="Hind"/>
                        <a:cs typeface="Hind"/>
                        <a:sym typeface="Hind"/>
                      </a:endParaRPr>
                    </a:p>
                  </a:txBody>
                  <a:tcPr marT="91425" marB="91425" marR="91425" marL="91425">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Computer Science</a:t>
                      </a:r>
                      <a:endParaRPr sz="1400" u="none" cap="none" strike="noStrike">
                        <a:latin typeface="Hind"/>
                        <a:ea typeface="Hind"/>
                        <a:cs typeface="Hind"/>
                        <a:sym typeface="Hind"/>
                      </a:endParaRPr>
                    </a:p>
                  </a:txBody>
                  <a:tcPr marT="91425" marB="91425" marR="91425" marL="91425">
                    <a:lnB cap="flat" cmpd="sng" w="9525">
                      <a:solidFill>
                        <a:srgbClr val="9E9E9E"/>
                      </a:solidFill>
                      <a:prstDash val="solid"/>
                      <a:round/>
                      <a:headEnd len="sm" w="sm" type="none"/>
                      <a:tailEnd len="sm" w="sm" type="none"/>
                    </a:lnB>
                    <a:solidFill>
                      <a:srgbClr val="FFE599"/>
                    </a:solidFill>
                  </a:tcPr>
                </a:tc>
              </a:tr>
              <a:tr h="475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Chris</a:t>
                      </a:r>
                      <a:endParaRPr sz="1400" u="none" cap="none" strike="noStrike">
                        <a:latin typeface="Hind"/>
                        <a:ea typeface="Hind"/>
                        <a:cs typeface="Hind"/>
                        <a:sym typeface="Hind"/>
                      </a:endParaRPr>
                    </a:p>
                  </a:txBody>
                  <a:tcPr marT="91425" marB="91425" marR="91425" marL="91425">
                    <a:lnR cap="flat" cmpd="sng" w="9525">
                      <a:solidFill>
                        <a:srgbClr val="9E9E9E"/>
                      </a:solidFill>
                      <a:prstDash val="solid"/>
                      <a:round/>
                      <a:headEnd len="sm" w="sm" type="none"/>
                      <a:tailEnd len="sm" w="sm" type="none"/>
                    </a:lnR>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20</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Sociology</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r>
              <a:tr h="475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2</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Dylan</a:t>
                      </a:r>
                      <a:endParaRPr sz="1400" u="none" cap="none" strike="noStrike">
                        <a:latin typeface="Hind"/>
                        <a:ea typeface="Hind"/>
                        <a:cs typeface="Hind"/>
                        <a:sym typeface="Hind"/>
                      </a:endParaRPr>
                    </a:p>
                  </a:txBody>
                  <a:tcPr marT="91425" marB="91425" marR="91425" marL="91425">
                    <a:lnR cap="flat" cmpd="sng" w="9525">
                      <a:solidFill>
                        <a:srgbClr val="9E9E9E"/>
                      </a:solidFill>
                      <a:prstDash val="solid"/>
                      <a:round/>
                      <a:headEnd len="sm" w="sm" type="none"/>
                      <a:tailEnd len="sm" w="sm" type="none"/>
                    </a:lnR>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19</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Computer Science</a:t>
                      </a:r>
                      <a:endParaRPr sz="1400" u="none" cap="none" strike="noStrike">
                        <a:latin typeface="Hind"/>
                        <a:ea typeface="Hind"/>
                        <a:cs typeface="Hind"/>
                        <a:sym typeface="Hi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E599"/>
                    </a:solidFill>
                  </a:tcPr>
                </a:tc>
              </a:tr>
              <a:tr h="475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3</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Camilo</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T cap="flat" cmpd="sng" w="9525">
                      <a:solidFill>
                        <a:srgbClr val="9E9E9E"/>
                      </a:solidFill>
                      <a:prstDash val="solid"/>
                      <a:round/>
                      <a:headEnd len="sm" w="sm" type="none"/>
                      <a:tailEnd len="sm" w="sm" type="none"/>
                    </a:lnT>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NaN</a:t>
                      </a:r>
                      <a:endParaRPr sz="1400" u="none" cap="none" strike="noStrike">
                        <a:latin typeface="Hind"/>
                        <a:ea typeface="Hind"/>
                        <a:cs typeface="Hind"/>
                        <a:sym typeface="Hind"/>
                      </a:endParaRPr>
                    </a:p>
                  </a:txBody>
                  <a:tcPr marT="91425" marB="91425" marR="91425" marL="91425">
                    <a:lnT cap="flat" cmpd="sng" w="9525">
                      <a:solidFill>
                        <a:srgbClr val="9E9E9E"/>
                      </a:solidFill>
                      <a:prstDash val="solid"/>
                      <a:round/>
                      <a:headEnd len="sm" w="sm" type="none"/>
                      <a:tailEnd len="sm" w="sm" type="none"/>
                    </a:lnT>
                    <a:solidFill>
                      <a:srgbClr val="FFE599"/>
                    </a:solidFill>
                  </a:tcPr>
                </a:tc>
              </a:tr>
              <a:tr h="475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4</a:t>
                      </a:r>
                      <a:endParaRPr sz="1400" u="none" cap="none" strike="noStrike">
                        <a:latin typeface="Hind"/>
                        <a:ea typeface="Hind"/>
                        <a:cs typeface="Hind"/>
                        <a:sym typeface="Hind"/>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Tanmay</a:t>
                      </a:r>
                      <a:endParaRPr sz="1400" u="none" cap="none" strike="noStrike">
                        <a:latin typeface="Hind"/>
                        <a:ea typeface="Hind"/>
                        <a:cs typeface="Hind"/>
                        <a:sym typeface="Hind"/>
                      </a:endParaRPr>
                    </a:p>
                  </a:txBody>
                  <a:tcPr marT="91425" marB="91425" marR="91425" marL="91425">
                    <a:solidFill>
                      <a:srgbClr val="FFF2CC"/>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NaN</a:t>
                      </a:r>
                      <a:endParaRPr sz="1400" u="none" cap="none" strike="noStrike">
                        <a:latin typeface="Hind"/>
                        <a:ea typeface="Hind"/>
                        <a:cs typeface="Hind"/>
                        <a:sym typeface="Hind"/>
                      </a:endParaRPr>
                    </a:p>
                  </a:txBody>
                  <a:tcPr marT="91425" marB="91425" marR="91425" marL="91425">
                    <a:solidFill>
                      <a:srgbClr val="FFE59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Hind"/>
                          <a:ea typeface="Hind"/>
                          <a:cs typeface="Hind"/>
                          <a:sym typeface="Hind"/>
                        </a:rPr>
                        <a:t>NaN</a:t>
                      </a:r>
                      <a:endParaRPr sz="1400" u="none" cap="none" strike="noStrike">
                        <a:latin typeface="Hind"/>
                        <a:ea typeface="Hind"/>
                        <a:cs typeface="Hind"/>
                        <a:sym typeface="Hind"/>
                      </a:endParaRPr>
                    </a:p>
                  </a:txBody>
                  <a:tcPr marT="91425" marB="91425" marR="91425" marL="91425">
                    <a:solidFill>
                      <a:srgbClr val="FFE599"/>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613CB0"/>
                </a:solidFill>
                <a:latin typeface="Hind"/>
                <a:ea typeface="Hind"/>
                <a:cs typeface="Hind"/>
                <a:sym typeface="Hind"/>
              </a:rPr>
              <a:t>A Sample (Regression) Task</a:t>
            </a:r>
            <a:endParaRPr>
              <a:solidFill>
                <a:srgbClr val="613CB0"/>
              </a:solidFill>
            </a:endParaRPr>
          </a:p>
        </p:txBody>
      </p:sp>
      <p:graphicFrame>
        <p:nvGraphicFramePr>
          <p:cNvPr id="206" name="Google Shape;206;p31"/>
          <p:cNvGraphicFramePr/>
          <p:nvPr/>
        </p:nvGraphicFramePr>
        <p:xfrm>
          <a:off x="667913" y="1423625"/>
          <a:ext cx="3000000" cy="3000000"/>
        </p:xfrm>
        <a:graphic>
          <a:graphicData uri="http://schemas.openxmlformats.org/drawingml/2006/table">
            <a:tbl>
              <a:tblPr>
                <a:noFill/>
                <a:tableStyleId>{88815ABC-3E31-4895-91DA-2838C6C6F9D0}</a:tableStyleId>
              </a:tblPr>
              <a:tblGrid>
                <a:gridCol w="1139775"/>
                <a:gridCol w="753500"/>
                <a:gridCol w="540025"/>
                <a:gridCol w="672200"/>
                <a:gridCol w="798575"/>
                <a:gridCol w="708425"/>
                <a:gridCol w="702650"/>
                <a:gridCol w="987300"/>
                <a:gridCol w="1221100"/>
              </a:tblGrid>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name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state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adm_rate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undergrads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cost</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compl_4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median_hh_inc</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median_earnings</a:t>
                      </a:r>
                      <a:endParaRPr sz="1000" u="none" cap="none" strike="noStrike"/>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Cornell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Ithaca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0.1507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14226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63596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80346.48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73600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421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Washington University in St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Saint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MO</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0.1674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7032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65887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0.8643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79298.58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Lafayette College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Easton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0.3025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2505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61905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0.8653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85923.51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67500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Johns Hopkins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Baltimore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0.1412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5862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63509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81539.46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Vanderbilt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Nashville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TN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0.1168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6857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62320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76279.78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64500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type="title"/>
          </p:nvPr>
        </p:nvSpPr>
        <p:spPr>
          <a:xfrm>
            <a:off x="2139000" y="470700"/>
            <a:ext cx="4866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 are some things we can do?</a:t>
            </a:r>
            <a:endParaRPr i="0" sz="2400" u="none" cap="none" strike="noStrike">
              <a:solidFill>
                <a:srgbClr val="613CB0"/>
              </a:solidFill>
              <a:latin typeface="Hind"/>
              <a:ea typeface="Hind"/>
              <a:cs typeface="Hind"/>
              <a:sym typeface="Hind"/>
            </a:endParaRPr>
          </a:p>
        </p:txBody>
      </p:sp>
      <p:graphicFrame>
        <p:nvGraphicFramePr>
          <p:cNvPr id="212" name="Google Shape;212;p32"/>
          <p:cNvGraphicFramePr/>
          <p:nvPr/>
        </p:nvGraphicFramePr>
        <p:xfrm>
          <a:off x="667913" y="1423625"/>
          <a:ext cx="3000000" cy="3000000"/>
        </p:xfrm>
        <a:graphic>
          <a:graphicData uri="http://schemas.openxmlformats.org/drawingml/2006/table">
            <a:tbl>
              <a:tblPr>
                <a:noFill/>
                <a:tableStyleId>{88815ABC-3E31-4895-91DA-2838C6C6F9D0}</a:tableStyleId>
              </a:tblPr>
              <a:tblGrid>
                <a:gridCol w="1139775"/>
                <a:gridCol w="753500"/>
                <a:gridCol w="540025"/>
                <a:gridCol w="672200"/>
                <a:gridCol w="798575"/>
                <a:gridCol w="708425"/>
                <a:gridCol w="702650"/>
                <a:gridCol w="987300"/>
                <a:gridCol w="1221100"/>
              </a:tblGrid>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name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state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adm_rate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undergrads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cost</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compl_4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median_hh_inc</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median_earnings</a:t>
                      </a:r>
                      <a:endParaRPr sz="1000" u="none" cap="none" strike="noStrike"/>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Cornell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Ithaca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0.1507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14226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63596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80346.48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73600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421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Washington University in St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Saint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MO</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0.1674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7032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65887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0.8643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79298.58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Lafayette College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Easton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0.3025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2505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61905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0.8653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85923.51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67500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Johns Hopkins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Baltimore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0.1412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5862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63509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81539.46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Vanderbilt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Nashville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TN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0.1168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6857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62320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76279.78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64500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1884463" y="479250"/>
            <a:ext cx="53751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Predict Median Graduate Earnings</a:t>
            </a:r>
            <a:endParaRPr i="0" sz="2400" u="none" cap="none" strike="noStrike">
              <a:solidFill>
                <a:srgbClr val="613CB0"/>
              </a:solidFill>
              <a:latin typeface="Hind"/>
              <a:ea typeface="Hind"/>
              <a:cs typeface="Hind"/>
              <a:sym typeface="Hind"/>
            </a:endParaRPr>
          </a:p>
        </p:txBody>
      </p:sp>
      <p:graphicFrame>
        <p:nvGraphicFramePr>
          <p:cNvPr id="218" name="Google Shape;218;p33"/>
          <p:cNvGraphicFramePr/>
          <p:nvPr/>
        </p:nvGraphicFramePr>
        <p:xfrm>
          <a:off x="810213" y="1423625"/>
          <a:ext cx="3000000" cy="3000000"/>
        </p:xfrm>
        <a:graphic>
          <a:graphicData uri="http://schemas.openxmlformats.org/drawingml/2006/table">
            <a:tbl>
              <a:tblPr>
                <a:noFill/>
                <a:tableStyleId>{88815ABC-3E31-4895-91DA-2838C6C6F9D0}</a:tableStyleId>
              </a:tblPr>
              <a:tblGrid>
                <a:gridCol w="1139775"/>
                <a:gridCol w="753500"/>
                <a:gridCol w="540025"/>
                <a:gridCol w="672200"/>
                <a:gridCol w="798575"/>
                <a:gridCol w="708425"/>
                <a:gridCol w="702650"/>
                <a:gridCol w="987300"/>
                <a:gridCol w="1221100"/>
              </a:tblGrid>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name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state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adm_rate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undergrads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cost</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compl_4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median_hh_inc</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median_earnings</a:t>
                      </a:r>
                      <a:endParaRPr sz="1000" u="none" cap="none" strike="noStrike"/>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Cornell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Ithaca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0.1507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14226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63596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80346.48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73600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5421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Washington University in St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Saint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MO</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0.1674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7032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65887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0.8643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79298.58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Lafayette College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Easton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0.3025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2505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61905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0.8653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85923.51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67500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Johns Hopkins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Baltimore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0.1412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5862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63509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81539.46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Vanderbilt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Nashville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TN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0.1168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6857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62320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76279.78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64500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1884463" y="479250"/>
            <a:ext cx="53751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Pick Some Features</a:t>
            </a:r>
            <a:endParaRPr i="0" sz="2400" u="none" cap="none" strike="noStrike">
              <a:solidFill>
                <a:srgbClr val="613CB0"/>
              </a:solidFill>
              <a:latin typeface="Hind"/>
              <a:ea typeface="Hind"/>
              <a:cs typeface="Hind"/>
              <a:sym typeface="Hind"/>
            </a:endParaRPr>
          </a:p>
        </p:txBody>
      </p:sp>
      <p:graphicFrame>
        <p:nvGraphicFramePr>
          <p:cNvPr id="224" name="Google Shape;224;p34"/>
          <p:cNvGraphicFramePr/>
          <p:nvPr/>
        </p:nvGraphicFramePr>
        <p:xfrm>
          <a:off x="810213" y="1423625"/>
          <a:ext cx="3000000" cy="3000000"/>
        </p:xfrm>
        <a:graphic>
          <a:graphicData uri="http://schemas.openxmlformats.org/drawingml/2006/table">
            <a:tbl>
              <a:tblPr>
                <a:noFill/>
                <a:tableStyleId>{88815ABC-3E31-4895-91DA-2838C6C6F9D0}</a:tableStyleId>
              </a:tblPr>
              <a:tblGrid>
                <a:gridCol w="1139775"/>
                <a:gridCol w="753500"/>
                <a:gridCol w="540025"/>
                <a:gridCol w="672200"/>
                <a:gridCol w="798575"/>
                <a:gridCol w="708425"/>
                <a:gridCol w="702650"/>
                <a:gridCol w="987300"/>
                <a:gridCol w="1221100"/>
              </a:tblGrid>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name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state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adm_rate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undergrads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cost</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compl_4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median_hh_inc</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median_earnings</a:t>
                      </a:r>
                      <a:endParaRPr sz="1000" u="none" cap="none" strike="noStrike"/>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Cornell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Ithaca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0.1507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14226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63596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80346.48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73600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5421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Washington University in St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Saint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MO</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0.1674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7032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65887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0.8643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79298.58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Lafayette College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Easton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0.3025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2505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61905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0.8653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85923.51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67500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Johns Hopkins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Baltimore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0.1412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5862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63509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81539.46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818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Vanderbilt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Nashville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TN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0.1168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6857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62320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76279.78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64500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1884425" y="239625"/>
            <a:ext cx="53751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Our Goal?</a:t>
            </a:r>
            <a:endParaRPr i="0" sz="2400" u="none" cap="none" strike="noStrike">
              <a:solidFill>
                <a:srgbClr val="613CB0"/>
              </a:solidFill>
              <a:latin typeface="Hind"/>
              <a:ea typeface="Hind"/>
              <a:cs typeface="Hind"/>
              <a:sym typeface="Hind"/>
            </a:endParaRPr>
          </a:p>
        </p:txBody>
      </p:sp>
      <p:graphicFrame>
        <p:nvGraphicFramePr>
          <p:cNvPr id="230" name="Google Shape;230;p35"/>
          <p:cNvGraphicFramePr/>
          <p:nvPr/>
        </p:nvGraphicFramePr>
        <p:xfrm>
          <a:off x="828775" y="1002975"/>
          <a:ext cx="3000000" cy="3000000"/>
        </p:xfrm>
        <a:graphic>
          <a:graphicData uri="http://schemas.openxmlformats.org/drawingml/2006/table">
            <a:tbl>
              <a:tblPr>
                <a:noFill/>
                <a:tableStyleId>{88815ABC-3E31-4895-91DA-2838C6C6F9D0}</a:tableStyleId>
              </a:tblPr>
              <a:tblGrid>
                <a:gridCol w="831825"/>
                <a:gridCol w="831825"/>
                <a:gridCol w="831825"/>
                <a:gridCol w="831825"/>
                <a:gridCol w="831825"/>
                <a:gridCol w="619300"/>
                <a:gridCol w="638625"/>
                <a:gridCol w="880200"/>
                <a:gridCol w="1189150"/>
              </a:tblGrid>
              <a:tr h="36785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name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state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adm_rate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undergrads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cost</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compl_4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median_hh_inc</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median_earnings</a:t>
                      </a:r>
                      <a:endParaRPr sz="1000" u="none" cap="none" strike="noStrike"/>
                    </a:p>
                  </a:txBody>
                  <a:tcPr marT="19050" marB="19050" marR="91425" marL="91425"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6785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Cornell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Ithaca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0.1507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14226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63596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80346.48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73600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5223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Washington University in St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Saint Louis</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MO</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0.1674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7032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65887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0.8643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79298.58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6785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Lafayette College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Easton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0.3025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2505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61905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0.8653</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85923.51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67500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5223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Johns Hopkins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Baltimore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0.1412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5862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63509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81539.46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36785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Vanderbilt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Nashville</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TN</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0.1168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6857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62320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0.8697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00"/>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76279.78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64500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FF00"/>
                    </a:solidFill>
                  </a:tcPr>
                </a:tc>
              </a:tr>
              <a:tr h="4193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Rutgers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New Brunswick</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NJ</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0.5845</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35102</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29076</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0.5838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82669.68</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2600"/>
                        <a:buFont typeface="Arial"/>
                        <a:buNone/>
                      </a:pPr>
                      <a:r>
                        <a:rPr lang="en" sz="2600" u="none" cap="none" strike="noStrike"/>
                        <a:t>?</a:t>
                      </a:r>
                      <a:endParaRPr sz="26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69155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Case Western Reserve University</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Cleveland</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OH</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0.3627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5039</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59467</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0.6311</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DA739"/>
                    </a:solidFill>
                  </a:tcPr>
                </a:tc>
                <a:tc>
                  <a:txBody>
                    <a:bodyPr/>
                    <a:lstStyle/>
                    <a:p>
                      <a:pPr indent="0" lvl="0" marL="0" marR="0" rtl="0" algn="r">
                        <a:lnSpc>
                          <a:spcPct val="115000"/>
                        </a:lnSpc>
                        <a:spcBef>
                          <a:spcPts val="0"/>
                        </a:spcBef>
                        <a:spcAft>
                          <a:spcPts val="0"/>
                        </a:spcAft>
                        <a:buClr>
                          <a:srgbClr val="000000"/>
                        </a:buClr>
                        <a:buSzPts val="1000"/>
                        <a:buFont typeface="Arial"/>
                        <a:buNone/>
                      </a:pPr>
                      <a:r>
                        <a:rPr lang="en" sz="1000" u="none" cap="none" strike="noStrike"/>
                        <a:t>69873.4</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chemeClr val="dk1"/>
                        </a:buClr>
                        <a:buSzPts val="1100"/>
                        <a:buFont typeface="Arial"/>
                        <a:buNone/>
                      </a:pPr>
                      <a:r>
                        <a:rPr lang="en" sz="2600" u="none" cap="none" strike="noStrike">
                          <a:solidFill>
                            <a:schemeClr val="dk1"/>
                          </a:solidFill>
                        </a:rPr>
                        <a:t>?</a:t>
                      </a:r>
                      <a:endParaRPr sz="6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ML Algorithms</a:t>
            </a:r>
            <a:endParaRPr i="0" sz="2400" u="none" cap="none" strike="noStrike">
              <a:solidFill>
                <a:srgbClr val="613CB0"/>
              </a:solidFill>
              <a:latin typeface="Hind"/>
              <a:ea typeface="Hind"/>
              <a:cs typeface="Hind"/>
              <a:sym typeface="Hind"/>
            </a:endParaRPr>
          </a:p>
        </p:txBody>
      </p:sp>
      <p:sp>
        <p:nvSpPr>
          <p:cNvPr id="236" name="Google Shape;236;p36"/>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We pick different kinds of algorithms to accomplish different tasks</a:t>
            </a:r>
            <a:endParaRPr sz="1600">
              <a:latin typeface="Helvetica Neue"/>
              <a:ea typeface="Helvetica Neue"/>
              <a:cs typeface="Helvetica Neue"/>
              <a:sym typeface="Helvetica Neue"/>
            </a:endParaRPr>
          </a:p>
          <a:p>
            <a:pPr indent="0" lvl="0" marL="45720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Classification</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Group Data Into Distinct Classes</a:t>
            </a:r>
            <a:endParaRPr sz="1600">
              <a:latin typeface="Helvetica Neue"/>
              <a:ea typeface="Helvetica Neue"/>
              <a:cs typeface="Helvetica Neue"/>
              <a:sym typeface="Helvetica Neue"/>
            </a:endParaRPr>
          </a:p>
          <a:p>
            <a:pPr indent="0" lvl="0" marL="45720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Regression</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Based on an input, provide a continuous-value output</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“All Models Make Assumptions”</a:t>
            </a:r>
            <a:endParaRPr b="1" sz="1600">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idx="4294967295" type="ctrTitle"/>
          </p:nvPr>
        </p:nvSpPr>
        <p:spPr>
          <a:xfrm>
            <a:off x="776413" y="432825"/>
            <a:ext cx="7591200" cy="1302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2400" u="none" cap="none" strike="noStrike">
                <a:solidFill>
                  <a:srgbClr val="613CB0"/>
                </a:solidFill>
                <a:latin typeface="Helvetica Neue"/>
                <a:ea typeface="Helvetica Neue"/>
                <a:cs typeface="Helvetica Neue"/>
                <a:sym typeface="Helvetica Neue"/>
              </a:rPr>
              <a:t>Lecture 4: Fundamentals of Machine Learning Pt. 1</a:t>
            </a:r>
            <a:endParaRPr b="1" i="0" sz="2400" u="none" cap="none" strike="noStrike">
              <a:solidFill>
                <a:srgbClr val="613CB0"/>
              </a:solidFill>
              <a:latin typeface="Helvetica Neue"/>
              <a:ea typeface="Helvetica Neue"/>
              <a:cs typeface="Helvetica Neue"/>
              <a:sym typeface="Helvetica Neue"/>
            </a:endParaRPr>
          </a:p>
        </p:txBody>
      </p:sp>
      <p:sp>
        <p:nvSpPr>
          <p:cNvPr id="242" name="Google Shape;242;p37"/>
          <p:cNvSpPr txBox="1"/>
          <p:nvPr/>
        </p:nvSpPr>
        <p:spPr>
          <a:xfrm>
            <a:off x="1030681" y="1164338"/>
            <a:ext cx="7107000" cy="33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sz="1200" u="none" cap="none" strike="noStrike">
                <a:solidFill>
                  <a:srgbClr val="3F3F3F"/>
                </a:solidFill>
                <a:latin typeface="Helvetica Neue"/>
                <a:ea typeface="Helvetica Neue"/>
                <a:cs typeface="Helvetica Neue"/>
                <a:sym typeface="Helvetica Neue"/>
              </a:rPr>
              <a:t>INFO 1998: Introduction to Machine Learning</a:t>
            </a:r>
            <a:endParaRPr b="0" i="0" sz="1400" u="none" cap="none" strike="noStrike">
              <a:solidFill>
                <a:srgbClr val="000000"/>
              </a:solidFill>
              <a:latin typeface="Arial"/>
              <a:ea typeface="Arial"/>
              <a:cs typeface="Arial"/>
              <a:sym typeface="Arial"/>
            </a:endParaRPr>
          </a:p>
        </p:txBody>
      </p:sp>
      <p:sp>
        <p:nvSpPr>
          <p:cNvPr id="243" name="Google Shape;243;p37"/>
          <p:cNvSpPr txBox="1"/>
          <p:nvPr/>
        </p:nvSpPr>
        <p:spPr>
          <a:xfrm>
            <a:off x="3934350" y="4280125"/>
            <a:ext cx="1275300" cy="3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2"/>
                </a:solidFill>
                <a:latin typeface="Hind"/>
                <a:ea typeface="Hind"/>
                <a:cs typeface="Hind"/>
                <a:sym typeface="Hind"/>
              </a:rPr>
              <a:t>Attendance!</a:t>
            </a:r>
            <a:endParaRPr i="1">
              <a:solidFill>
                <a:schemeClr val="dk2"/>
              </a:solidFill>
              <a:latin typeface="Hind"/>
              <a:ea typeface="Hind"/>
              <a:cs typeface="Hind"/>
              <a:sym typeface="Hind"/>
            </a:endParaRPr>
          </a:p>
        </p:txBody>
      </p:sp>
      <p:pic>
        <p:nvPicPr>
          <p:cNvPr id="244" name="Google Shape;244;p37"/>
          <p:cNvPicPr preferRelativeResize="0"/>
          <p:nvPr/>
        </p:nvPicPr>
        <p:blipFill>
          <a:blip r:embed="rId3">
            <a:alphaModFix/>
          </a:blip>
          <a:stretch>
            <a:fillRect/>
          </a:stretch>
        </p:blipFill>
        <p:spPr>
          <a:xfrm>
            <a:off x="100850" y="4493296"/>
            <a:ext cx="1835400" cy="529729"/>
          </a:xfrm>
          <a:prstGeom prst="rect">
            <a:avLst/>
          </a:prstGeom>
          <a:noFill/>
          <a:ln>
            <a:noFill/>
          </a:ln>
        </p:spPr>
      </p:pic>
      <p:pic>
        <p:nvPicPr>
          <p:cNvPr id="245" name="Google Shape;245;p37"/>
          <p:cNvPicPr preferRelativeResize="0"/>
          <p:nvPr/>
        </p:nvPicPr>
        <p:blipFill>
          <a:blip r:embed="rId4">
            <a:alphaModFix/>
          </a:blip>
          <a:stretch>
            <a:fillRect/>
          </a:stretch>
        </p:blipFill>
        <p:spPr>
          <a:xfrm>
            <a:off x="3027725" y="1501849"/>
            <a:ext cx="2863275" cy="2850625"/>
          </a:xfrm>
          <a:prstGeom prst="rect">
            <a:avLst/>
          </a:prstGeom>
          <a:noFill/>
          <a:ln>
            <a:noFill/>
          </a:ln>
        </p:spPr>
      </p:pic>
      <p:pic>
        <p:nvPicPr>
          <p:cNvPr id="246" name="Google Shape;246;p37" title="info1998_lec3_attendance_qr.png"/>
          <p:cNvPicPr preferRelativeResize="0"/>
          <p:nvPr/>
        </p:nvPicPr>
        <p:blipFill>
          <a:blip r:embed="rId5">
            <a:alphaModFix/>
          </a:blip>
          <a:stretch>
            <a:fillRect/>
          </a:stretch>
        </p:blipFill>
        <p:spPr>
          <a:xfrm>
            <a:off x="3158478" y="1501847"/>
            <a:ext cx="2673024" cy="26730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ph idx="4294967295" type="ctrTitle"/>
          </p:nvPr>
        </p:nvSpPr>
        <p:spPr>
          <a:xfrm>
            <a:off x="1018500" y="1724582"/>
            <a:ext cx="7107000" cy="84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Arial"/>
              <a:buNone/>
            </a:pPr>
            <a:r>
              <a:rPr b="1" i="0" lang="en" u="none" cap="none" strike="noStrike">
                <a:solidFill>
                  <a:srgbClr val="613CB0"/>
                </a:solidFill>
                <a:latin typeface="Hind"/>
                <a:ea typeface="Hind"/>
                <a:cs typeface="Hind"/>
                <a:sym typeface="Hind"/>
              </a:rPr>
              <a:t>Linear Regression</a:t>
            </a:r>
            <a:endParaRPr b="1" i="0" u="none" cap="none" strike="noStrike">
              <a:solidFill>
                <a:srgbClr val="613CB0"/>
              </a:solidFill>
              <a:latin typeface="Hind"/>
              <a:ea typeface="Hind"/>
              <a:cs typeface="Hind"/>
              <a:sym typeface="Hind"/>
            </a:endParaRPr>
          </a:p>
        </p:txBody>
      </p:sp>
      <p:sp>
        <p:nvSpPr>
          <p:cNvPr id="252" name="Google Shape;252;p38"/>
          <p:cNvSpPr txBox="1"/>
          <p:nvPr/>
        </p:nvSpPr>
        <p:spPr>
          <a:xfrm>
            <a:off x="3736650" y="2491075"/>
            <a:ext cx="16707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chemeClr val="dk2"/>
                </a:solidFill>
                <a:latin typeface="Helvetica Neue"/>
                <a:ea typeface="Helvetica Neue"/>
                <a:cs typeface="Helvetica Neue"/>
                <a:sym typeface="Helvetica Neue"/>
              </a:rPr>
              <a:t>Our first ML model!</a:t>
            </a:r>
            <a:endParaRPr i="1" sz="1200">
              <a:solidFill>
                <a:schemeClr val="dk2"/>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Linear Regression</a:t>
            </a:r>
            <a:endParaRPr i="0" sz="2400" u="none" cap="none" strike="noStrike">
              <a:solidFill>
                <a:srgbClr val="613CB0"/>
              </a:solidFill>
              <a:latin typeface="Hind"/>
              <a:ea typeface="Hind"/>
              <a:cs typeface="Hind"/>
              <a:sym typeface="Hind"/>
            </a:endParaRPr>
          </a:p>
        </p:txBody>
      </p:sp>
      <p:sp>
        <p:nvSpPr>
          <p:cNvPr id="258" name="Google Shape;258;p39"/>
          <p:cNvSpPr txBox="1"/>
          <p:nvPr>
            <p:ph idx="1" type="body"/>
          </p:nvPr>
        </p:nvSpPr>
        <p:spPr>
          <a:xfrm>
            <a:off x="311700" y="1751300"/>
            <a:ext cx="5814600" cy="2817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i="1" lang="en">
                <a:solidFill>
                  <a:srgbClr val="434343"/>
                </a:solidFill>
                <a:latin typeface="Times New Roman"/>
                <a:ea typeface="Times New Roman"/>
                <a:cs typeface="Times New Roman"/>
                <a:sym typeface="Times New Roman"/>
              </a:rPr>
              <a:t>x</a:t>
            </a:r>
            <a:r>
              <a:rPr lang="en" sz="1600">
                <a:latin typeface="Helvetica Neue"/>
                <a:ea typeface="Helvetica Neue"/>
                <a:cs typeface="Helvetica Neue"/>
                <a:sym typeface="Helvetica Neue"/>
              </a:rPr>
              <a:t> is an input; </a:t>
            </a:r>
            <a:r>
              <a:rPr i="1" lang="en">
                <a:solidFill>
                  <a:srgbClr val="434343"/>
                </a:solidFill>
                <a:latin typeface="Times New Roman"/>
                <a:ea typeface="Times New Roman"/>
                <a:cs typeface="Times New Roman"/>
                <a:sym typeface="Times New Roman"/>
              </a:rPr>
              <a:t>x</a:t>
            </a:r>
            <a:r>
              <a:rPr baseline="-25000" i="1" lang="en">
                <a:solidFill>
                  <a:srgbClr val="434343"/>
                </a:solidFill>
                <a:latin typeface="Times New Roman"/>
                <a:ea typeface="Times New Roman"/>
                <a:cs typeface="Times New Roman"/>
                <a:sym typeface="Times New Roman"/>
              </a:rPr>
              <a:t>1</a:t>
            </a:r>
            <a:r>
              <a:rPr lang="en">
                <a:latin typeface="Helvetica Neue"/>
                <a:ea typeface="Helvetica Neue"/>
                <a:cs typeface="Helvetica Neue"/>
                <a:sym typeface="Helvetica Neue"/>
              </a:rPr>
              <a:t>, </a:t>
            </a:r>
            <a:r>
              <a:rPr i="1" lang="en">
                <a:solidFill>
                  <a:srgbClr val="434343"/>
                </a:solidFill>
                <a:latin typeface="Times New Roman"/>
                <a:ea typeface="Times New Roman"/>
                <a:cs typeface="Times New Roman"/>
                <a:sym typeface="Times New Roman"/>
              </a:rPr>
              <a:t>x</a:t>
            </a:r>
            <a:r>
              <a:rPr baseline="-25000" i="1" lang="en">
                <a:solidFill>
                  <a:srgbClr val="434343"/>
                </a:solidFill>
                <a:latin typeface="Times New Roman"/>
                <a:ea typeface="Times New Roman"/>
                <a:cs typeface="Times New Roman"/>
                <a:sym typeface="Times New Roman"/>
              </a:rPr>
              <a:t>2 </a:t>
            </a:r>
            <a:r>
              <a:rPr lang="en">
                <a:latin typeface="Helvetica Neue"/>
                <a:ea typeface="Helvetica Neue"/>
                <a:cs typeface="Helvetica Neue"/>
                <a:sym typeface="Helvetica Neue"/>
              </a:rPr>
              <a:t>, …, </a:t>
            </a:r>
            <a:r>
              <a:rPr i="1" lang="en">
                <a:solidFill>
                  <a:srgbClr val="434343"/>
                </a:solidFill>
                <a:latin typeface="Times New Roman"/>
                <a:ea typeface="Times New Roman"/>
                <a:cs typeface="Times New Roman"/>
                <a:sym typeface="Times New Roman"/>
              </a:rPr>
              <a:t>x</a:t>
            </a:r>
            <a:r>
              <a:rPr baseline="-25000" i="1" lang="en">
                <a:solidFill>
                  <a:srgbClr val="434343"/>
                </a:solidFill>
                <a:latin typeface="Times New Roman"/>
                <a:ea typeface="Times New Roman"/>
                <a:cs typeface="Times New Roman"/>
                <a:sym typeface="Times New Roman"/>
              </a:rPr>
              <a:t>p</a:t>
            </a:r>
            <a:r>
              <a:rPr lang="en">
                <a:latin typeface="Helvetica Neue"/>
                <a:ea typeface="Helvetica Neue"/>
                <a:cs typeface="Helvetica Neue"/>
                <a:sym typeface="Helvetica Neue"/>
              </a:rPr>
              <a:t> </a:t>
            </a:r>
            <a:r>
              <a:rPr lang="en" sz="1600">
                <a:latin typeface="Helvetica Neue"/>
                <a:ea typeface="Helvetica Neue"/>
                <a:cs typeface="Helvetica Neue"/>
                <a:sym typeface="Helvetica Neue"/>
              </a:rPr>
              <a:t>are the features of </a:t>
            </a:r>
            <a:r>
              <a:rPr i="1" lang="en">
                <a:solidFill>
                  <a:srgbClr val="434343"/>
                </a:solidFill>
                <a:latin typeface="Times New Roman"/>
                <a:ea typeface="Times New Roman"/>
                <a:cs typeface="Times New Roman"/>
                <a:sym typeface="Times New Roman"/>
              </a:rPr>
              <a:t>x</a:t>
            </a:r>
            <a:r>
              <a:rPr lang="en" sz="1600">
                <a:latin typeface="Helvetica Neue"/>
                <a:ea typeface="Helvetica Neue"/>
                <a:cs typeface="Helvetica Neue"/>
                <a:sym typeface="Helvetica Neue"/>
              </a:rPr>
              <a:t>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i="1" lang="en">
                <a:solidFill>
                  <a:srgbClr val="434343"/>
                </a:solidFill>
                <a:latin typeface="Times New Roman"/>
                <a:ea typeface="Times New Roman"/>
                <a:cs typeface="Times New Roman"/>
                <a:sym typeface="Times New Roman"/>
              </a:rPr>
              <a:t>y</a:t>
            </a:r>
            <a:r>
              <a:rPr lang="en" sz="1600">
                <a:latin typeface="Helvetica Neue"/>
                <a:ea typeface="Helvetica Neue"/>
                <a:cs typeface="Helvetica Neue"/>
                <a:sym typeface="Helvetica Neue"/>
              </a:rPr>
              <a:t> is an output (usually a single value)</a:t>
            </a:r>
            <a:endParaRPr i="1">
              <a:solidFill>
                <a:srgbClr val="434343"/>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Helvetica Neue"/>
              <a:buChar char="●"/>
            </a:pPr>
            <a:r>
              <a:rPr i="1" lang="en">
                <a:solidFill>
                  <a:srgbClr val="434343"/>
                </a:solidFill>
                <a:latin typeface="Times New Roman"/>
                <a:ea typeface="Times New Roman"/>
                <a:cs typeface="Times New Roman"/>
                <a:sym typeface="Times New Roman"/>
              </a:rPr>
              <a:t>B</a:t>
            </a:r>
            <a:r>
              <a:rPr lang="en" sz="1600">
                <a:solidFill>
                  <a:srgbClr val="434343"/>
                </a:solidFill>
                <a:latin typeface="Helvetica Neue"/>
                <a:ea typeface="Helvetica Neue"/>
                <a:cs typeface="Helvetica Neue"/>
                <a:sym typeface="Helvetica Neue"/>
              </a:rPr>
              <a:t>’s are “weights”</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Clr>
                <a:srgbClr val="434343"/>
              </a:buClr>
              <a:buSzPts val="1600"/>
              <a:buFont typeface="Helvetica Neue"/>
              <a:buChar char="○"/>
            </a:pPr>
            <a:r>
              <a:rPr lang="en" sz="1600">
                <a:solidFill>
                  <a:srgbClr val="434343"/>
                </a:solidFill>
                <a:latin typeface="Helvetica Neue"/>
                <a:ea typeface="Helvetica Neue"/>
                <a:cs typeface="Helvetica Neue"/>
                <a:sym typeface="Helvetica Neue"/>
              </a:rPr>
              <a:t>a linear regression equation is defined by its </a:t>
            </a:r>
            <a:r>
              <a:rPr i="1" lang="en">
                <a:solidFill>
                  <a:srgbClr val="434343"/>
                </a:solidFill>
                <a:latin typeface="Times New Roman"/>
                <a:ea typeface="Times New Roman"/>
                <a:cs typeface="Times New Roman"/>
                <a:sym typeface="Times New Roman"/>
              </a:rPr>
              <a:t>B</a:t>
            </a:r>
            <a:r>
              <a:rPr lang="en" sz="1600">
                <a:solidFill>
                  <a:srgbClr val="434343"/>
                </a:solidFill>
                <a:latin typeface="Helvetica Neue"/>
                <a:ea typeface="Helvetica Neue"/>
                <a:cs typeface="Helvetica Neue"/>
                <a:sym typeface="Helvetica Neue"/>
              </a:rPr>
              <a:t>’s</a:t>
            </a:r>
            <a:endParaRPr sz="1600">
              <a:solidFill>
                <a:srgbClr val="434343"/>
              </a:solidFill>
              <a:latin typeface="Helvetica Neue"/>
              <a:ea typeface="Helvetica Neue"/>
              <a:cs typeface="Helvetica Neue"/>
              <a:sym typeface="Helvetica Neue"/>
            </a:endParaRPr>
          </a:p>
          <a:p>
            <a:pPr indent="-330200" lvl="1" marL="914400" rtl="0" algn="l">
              <a:lnSpc>
                <a:spcPct val="115000"/>
              </a:lnSpc>
              <a:spcBef>
                <a:spcPts val="0"/>
              </a:spcBef>
              <a:spcAft>
                <a:spcPts val="0"/>
              </a:spcAft>
              <a:buClr>
                <a:srgbClr val="434343"/>
              </a:buClr>
              <a:buSzPts val="1600"/>
              <a:buFont typeface="Helvetica Neue"/>
              <a:buChar char="○"/>
            </a:pPr>
            <a:r>
              <a:rPr lang="en" sz="1600">
                <a:solidFill>
                  <a:srgbClr val="434343"/>
                </a:solidFill>
                <a:latin typeface="Helvetica Neue"/>
                <a:ea typeface="Helvetica Neue"/>
                <a:cs typeface="Helvetica Neue"/>
                <a:sym typeface="Helvetica Neue"/>
              </a:rPr>
              <a:t>“program” produced by ML</a:t>
            </a:r>
            <a:endParaRPr sz="1600">
              <a:solidFill>
                <a:srgbClr val="434343"/>
              </a:solidFill>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Given a set of </a:t>
            </a:r>
            <a:r>
              <a:rPr i="1" lang="en">
                <a:solidFill>
                  <a:srgbClr val="434343"/>
                </a:solidFill>
                <a:latin typeface="Times New Roman"/>
                <a:ea typeface="Times New Roman"/>
                <a:cs typeface="Times New Roman"/>
                <a:sym typeface="Times New Roman"/>
              </a:rPr>
              <a:t>x</a:t>
            </a:r>
            <a:r>
              <a:rPr lang="en" sz="1600">
                <a:latin typeface="Helvetica Neue"/>
                <a:ea typeface="Helvetica Neue"/>
                <a:cs typeface="Helvetica Neue"/>
                <a:sym typeface="Helvetica Neue"/>
              </a:rPr>
              <a:t>’s and </a:t>
            </a:r>
            <a:r>
              <a:rPr i="1" lang="en">
                <a:solidFill>
                  <a:srgbClr val="434343"/>
                </a:solidFill>
                <a:latin typeface="Times New Roman"/>
                <a:ea typeface="Times New Roman"/>
                <a:cs typeface="Times New Roman"/>
                <a:sym typeface="Times New Roman"/>
              </a:rPr>
              <a:t>y</a:t>
            </a:r>
            <a:r>
              <a:rPr lang="en" sz="1600">
                <a:latin typeface="Helvetica Neue"/>
                <a:ea typeface="Helvetica Neue"/>
                <a:cs typeface="Helvetica Neue"/>
                <a:sym typeface="Helvetica Neue"/>
              </a:rPr>
              <a:t>’s, find the “</a:t>
            </a:r>
            <a:r>
              <a:rPr i="1" lang="en">
                <a:solidFill>
                  <a:srgbClr val="434343"/>
                </a:solidFill>
                <a:latin typeface="Times New Roman"/>
                <a:ea typeface="Times New Roman"/>
                <a:cs typeface="Times New Roman"/>
                <a:sym typeface="Times New Roman"/>
              </a:rPr>
              <a:t>B</a:t>
            </a:r>
            <a:r>
              <a:rPr lang="en" sz="1600">
                <a:solidFill>
                  <a:srgbClr val="434343"/>
                </a:solidFill>
                <a:latin typeface="Helvetica Neue"/>
                <a:ea typeface="Helvetica Neue"/>
                <a:cs typeface="Helvetica Neue"/>
                <a:sym typeface="Helvetica Neue"/>
              </a:rPr>
              <a:t>”-s that “most closely” satisfies the equation above for training points</a:t>
            </a:r>
            <a:endParaRPr sz="1600">
              <a:solidFill>
                <a:srgbClr val="434343"/>
              </a:solidFill>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Plug in </a:t>
            </a:r>
            <a:r>
              <a:rPr i="1" lang="en" sz="1600">
                <a:latin typeface="Helvetica Neue"/>
                <a:ea typeface="Helvetica Neue"/>
                <a:cs typeface="Helvetica Neue"/>
                <a:sym typeface="Helvetica Neue"/>
              </a:rPr>
              <a:t>new</a:t>
            </a:r>
            <a:r>
              <a:rPr lang="en" sz="1600">
                <a:latin typeface="Helvetica Neue"/>
                <a:ea typeface="Helvetica Neue"/>
                <a:cs typeface="Helvetica Neue"/>
                <a:sym typeface="Helvetica Neue"/>
              </a:rPr>
              <a:t> values to of </a:t>
            </a:r>
            <a:r>
              <a:rPr i="1" lang="en" sz="1800">
                <a:solidFill>
                  <a:srgbClr val="434343"/>
                </a:solidFill>
                <a:latin typeface="Times New Roman"/>
                <a:ea typeface="Times New Roman"/>
                <a:cs typeface="Times New Roman"/>
                <a:sym typeface="Times New Roman"/>
              </a:rPr>
              <a:t>x</a:t>
            </a:r>
            <a:r>
              <a:rPr lang="en" sz="1600">
                <a:latin typeface="Helvetica Neue"/>
                <a:ea typeface="Helvetica Neue"/>
                <a:cs typeface="Helvetica Neue"/>
                <a:sym typeface="Helvetica Neue"/>
              </a:rPr>
              <a:t> to predict respective </a:t>
            </a:r>
            <a:r>
              <a:rPr i="1" lang="en" sz="1800">
                <a:solidFill>
                  <a:srgbClr val="434343"/>
                </a:solidFill>
                <a:latin typeface="Times New Roman"/>
                <a:ea typeface="Times New Roman"/>
                <a:cs typeface="Times New Roman"/>
                <a:sym typeface="Times New Roman"/>
              </a:rPr>
              <a:t>y</a:t>
            </a:r>
            <a:endParaRPr sz="1600">
              <a:latin typeface="Helvetica Neue"/>
              <a:ea typeface="Helvetica Neue"/>
              <a:cs typeface="Helvetica Neue"/>
              <a:sym typeface="Helvetica Neue"/>
            </a:endParaRPr>
          </a:p>
        </p:txBody>
      </p:sp>
      <p:sp>
        <p:nvSpPr>
          <p:cNvPr id="259" name="Google Shape;259;p39"/>
          <p:cNvSpPr txBox="1"/>
          <p:nvPr/>
        </p:nvSpPr>
        <p:spPr>
          <a:xfrm>
            <a:off x="2428750" y="1085100"/>
            <a:ext cx="44592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0" i="1" lang="en" sz="2400" u="none" cap="none" strike="noStrike">
                <a:solidFill>
                  <a:srgbClr val="434343"/>
                </a:solidFill>
                <a:latin typeface="Times New Roman"/>
                <a:ea typeface="Times New Roman"/>
                <a:cs typeface="Times New Roman"/>
                <a:sym typeface="Times New Roman"/>
              </a:rPr>
              <a:t>y = B</a:t>
            </a:r>
            <a:r>
              <a:rPr b="0" baseline="-25000" i="1" lang="en" sz="2400" u="none" cap="none" strike="noStrike">
                <a:solidFill>
                  <a:srgbClr val="434343"/>
                </a:solidFill>
                <a:latin typeface="Times New Roman"/>
                <a:ea typeface="Times New Roman"/>
                <a:cs typeface="Times New Roman"/>
                <a:sym typeface="Times New Roman"/>
              </a:rPr>
              <a:t>0</a:t>
            </a:r>
            <a:r>
              <a:rPr b="0" i="1" lang="en" sz="2400" u="none" cap="none" strike="noStrike">
                <a:solidFill>
                  <a:srgbClr val="434343"/>
                </a:solidFill>
                <a:latin typeface="Times New Roman"/>
                <a:ea typeface="Times New Roman"/>
                <a:cs typeface="Times New Roman"/>
                <a:sym typeface="Times New Roman"/>
              </a:rPr>
              <a:t> + B</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 + … + B</a:t>
            </a:r>
            <a:r>
              <a:rPr b="0" baseline="-25000" i="1" lang="en" sz="2400" u="none" cap="none" strike="noStrike">
                <a:solidFill>
                  <a:srgbClr val="434343"/>
                </a:solidFill>
                <a:latin typeface="Times New Roman"/>
                <a:ea typeface="Times New Roman"/>
                <a:cs typeface="Times New Roman"/>
                <a:sym typeface="Times New Roman"/>
              </a:rPr>
              <a:t>p</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p</a:t>
            </a:r>
            <a:r>
              <a:rPr b="0" i="1" lang="en" sz="2400" u="none" cap="none" strike="noStrike">
                <a:solidFill>
                  <a:srgbClr val="434343"/>
                </a:solidFill>
                <a:latin typeface="Times New Roman"/>
                <a:ea typeface="Times New Roman"/>
                <a:cs typeface="Times New Roman"/>
                <a:sym typeface="Times New Roman"/>
              </a:rPr>
              <a:t>+ </a:t>
            </a:r>
            <a:r>
              <a:rPr b="0" i="1" lang="en" sz="2400" u="none" cap="none" strike="noStrike">
                <a:solidFill>
                  <a:srgbClr val="434343"/>
                </a:solidFill>
                <a:highlight>
                  <a:srgbClr val="FFFFFF"/>
                </a:highlight>
                <a:latin typeface="Times New Roman"/>
                <a:ea typeface="Times New Roman"/>
                <a:cs typeface="Times New Roman"/>
                <a:sym typeface="Times New Roman"/>
              </a:rPr>
              <a:t>ε</a:t>
            </a:r>
            <a:endParaRPr b="0" i="0" sz="2000" u="none" cap="none" strike="noStrike">
              <a:solidFill>
                <a:srgbClr val="595959"/>
              </a:solidFill>
              <a:latin typeface="Hind"/>
              <a:ea typeface="Hind"/>
              <a:cs typeface="Hind"/>
              <a:sym typeface="Hind"/>
            </a:endParaRPr>
          </a:p>
        </p:txBody>
      </p:sp>
      <p:pic>
        <p:nvPicPr>
          <p:cNvPr id="260" name="Google Shape;260;p39"/>
          <p:cNvPicPr preferRelativeResize="0"/>
          <p:nvPr/>
        </p:nvPicPr>
        <p:blipFill rotWithShape="1">
          <a:blip r:embed="rId3">
            <a:alphaModFix/>
          </a:blip>
          <a:srcRect b="0" l="0" r="0" t="0"/>
          <a:stretch/>
        </p:blipFill>
        <p:spPr>
          <a:xfrm>
            <a:off x="6126300" y="1969272"/>
            <a:ext cx="2954000" cy="238165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1" lang="en" sz="2400">
                <a:solidFill>
                  <a:srgbClr val="073763"/>
                </a:solidFill>
                <a:latin typeface="Times New Roman"/>
                <a:ea typeface="Times New Roman"/>
                <a:cs typeface="Times New Roman"/>
                <a:sym typeface="Times New Roman"/>
              </a:rPr>
              <a:t>y = B</a:t>
            </a:r>
            <a:r>
              <a:rPr b="0" baseline="-25000" i="1" lang="en" sz="2400">
                <a:solidFill>
                  <a:srgbClr val="073763"/>
                </a:solidFill>
                <a:latin typeface="Times New Roman"/>
                <a:ea typeface="Times New Roman"/>
                <a:cs typeface="Times New Roman"/>
                <a:sym typeface="Times New Roman"/>
              </a:rPr>
              <a:t>0</a:t>
            </a:r>
            <a:r>
              <a:rPr b="0" i="1" lang="en" sz="2400">
                <a:solidFill>
                  <a:srgbClr val="073763"/>
                </a:solidFill>
                <a:latin typeface="Times New Roman"/>
                <a:ea typeface="Times New Roman"/>
                <a:cs typeface="Times New Roman"/>
                <a:sym typeface="Times New Roman"/>
              </a:rPr>
              <a:t> + B</a:t>
            </a:r>
            <a:r>
              <a:rPr b="0" baseline="-25000" i="1" lang="en" sz="2400">
                <a:solidFill>
                  <a:srgbClr val="073763"/>
                </a:solidFill>
                <a:latin typeface="Times New Roman"/>
                <a:ea typeface="Times New Roman"/>
                <a:cs typeface="Times New Roman"/>
                <a:sym typeface="Times New Roman"/>
              </a:rPr>
              <a:t>1</a:t>
            </a:r>
            <a:r>
              <a:rPr b="0" i="1" lang="en" sz="2400">
                <a:solidFill>
                  <a:srgbClr val="073763"/>
                </a:solidFill>
                <a:latin typeface="Times New Roman"/>
                <a:ea typeface="Times New Roman"/>
                <a:cs typeface="Times New Roman"/>
                <a:sym typeface="Times New Roman"/>
              </a:rPr>
              <a:t>x</a:t>
            </a:r>
            <a:r>
              <a:rPr b="0" baseline="-25000" i="1" lang="en" sz="2400">
                <a:solidFill>
                  <a:srgbClr val="073763"/>
                </a:solidFill>
                <a:latin typeface="Times New Roman"/>
                <a:ea typeface="Times New Roman"/>
                <a:cs typeface="Times New Roman"/>
                <a:sym typeface="Times New Roman"/>
              </a:rPr>
              <a:t>1</a:t>
            </a:r>
            <a:r>
              <a:rPr b="0" i="1" lang="en" sz="2400">
                <a:solidFill>
                  <a:srgbClr val="073763"/>
                </a:solidFill>
                <a:latin typeface="Times New Roman"/>
                <a:ea typeface="Times New Roman"/>
                <a:cs typeface="Times New Roman"/>
                <a:sym typeface="Times New Roman"/>
              </a:rPr>
              <a:t>+ ...</a:t>
            </a:r>
            <a:r>
              <a:rPr i="1" lang="en" sz="2400">
                <a:solidFill>
                  <a:srgbClr val="073763"/>
                </a:solidFill>
                <a:latin typeface="Hind"/>
                <a:ea typeface="Hind"/>
                <a:cs typeface="Hind"/>
                <a:sym typeface="Hind"/>
              </a:rPr>
              <a:t> </a:t>
            </a:r>
            <a:r>
              <a:rPr lang="en" sz="2400">
                <a:solidFill>
                  <a:srgbClr val="1C4587"/>
                </a:solidFill>
                <a:latin typeface="Hind"/>
                <a:ea typeface="Hind"/>
                <a:cs typeface="Hind"/>
                <a:sym typeface="Hind"/>
              </a:rPr>
              <a:t> </a:t>
            </a:r>
            <a:r>
              <a:rPr lang="en" sz="2400">
                <a:solidFill>
                  <a:srgbClr val="613CB0"/>
                </a:solidFill>
                <a:latin typeface="Hind"/>
                <a:ea typeface="Hind"/>
                <a:cs typeface="Hind"/>
                <a:sym typeface="Hind"/>
              </a:rPr>
              <a:t>is a model</a:t>
            </a:r>
            <a:endParaRPr i="0" sz="2400" u="none" cap="none" strike="noStrike">
              <a:solidFill>
                <a:srgbClr val="613CB0"/>
              </a:solidFill>
              <a:latin typeface="Hind"/>
              <a:ea typeface="Hind"/>
              <a:cs typeface="Hind"/>
              <a:sym typeface="Hind"/>
            </a:endParaRPr>
          </a:p>
        </p:txBody>
      </p:sp>
      <p:sp>
        <p:nvSpPr>
          <p:cNvPr id="266" name="Google Shape;266;p40"/>
          <p:cNvSpPr txBox="1"/>
          <p:nvPr>
            <p:ph idx="1" type="body"/>
          </p:nvPr>
        </p:nvSpPr>
        <p:spPr>
          <a:xfrm>
            <a:off x="311701" y="1187750"/>
            <a:ext cx="4832700" cy="3614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relationship between inputs and outputs</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a:solidFill>
                  <a:srgbClr val="FF0000"/>
                </a:solidFill>
                <a:latin typeface="Helvetica Neue"/>
                <a:ea typeface="Helvetica Neue"/>
                <a:cs typeface="Helvetica Neue"/>
                <a:sym typeface="Helvetica Neue"/>
              </a:rPr>
              <a:t> </a:t>
            </a:r>
            <a:r>
              <a:rPr i="1" lang="en">
                <a:solidFill>
                  <a:srgbClr val="FF0000"/>
                </a:solidFill>
                <a:latin typeface="Times New Roman"/>
                <a:ea typeface="Times New Roman"/>
                <a:cs typeface="Times New Roman"/>
                <a:sym typeface="Times New Roman"/>
              </a:rPr>
              <a:t>y = B</a:t>
            </a:r>
            <a:r>
              <a:rPr baseline="-25000" i="1" lang="en">
                <a:solidFill>
                  <a:srgbClr val="FF0000"/>
                </a:solidFill>
                <a:latin typeface="Times New Roman"/>
                <a:ea typeface="Times New Roman"/>
                <a:cs typeface="Times New Roman"/>
                <a:sym typeface="Times New Roman"/>
              </a:rPr>
              <a:t>0</a:t>
            </a:r>
            <a:r>
              <a:rPr i="1" lang="en">
                <a:solidFill>
                  <a:srgbClr val="FF0000"/>
                </a:solidFill>
                <a:latin typeface="Times New Roman"/>
                <a:ea typeface="Times New Roman"/>
                <a:cs typeface="Times New Roman"/>
                <a:sym typeface="Times New Roman"/>
              </a:rPr>
              <a:t> + B</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x</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 + …   </a:t>
            </a:r>
            <a:r>
              <a:rPr lang="en" sz="1600">
                <a:solidFill>
                  <a:srgbClr val="FF0000"/>
                </a:solidFill>
                <a:latin typeface="Helvetica Neue"/>
                <a:ea typeface="Helvetica Neue"/>
                <a:cs typeface="Helvetica Neue"/>
                <a:sym typeface="Helvetica Neue"/>
              </a:rPr>
              <a:t>relates inputs to outputs</a:t>
            </a:r>
            <a:endParaRPr sz="1600">
              <a:solidFill>
                <a:srgbClr val="FF0000"/>
              </a:solidFill>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guess at how inputs and outputs are related</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but  </a:t>
            </a:r>
            <a:r>
              <a:rPr i="1" lang="en">
                <a:solidFill>
                  <a:srgbClr val="FF0000"/>
                </a:solidFill>
                <a:latin typeface="Times New Roman"/>
                <a:ea typeface="Times New Roman"/>
                <a:cs typeface="Times New Roman"/>
                <a:sym typeface="Times New Roman"/>
              </a:rPr>
              <a:t> y = B</a:t>
            </a:r>
            <a:r>
              <a:rPr baseline="-25000" i="1" lang="en">
                <a:solidFill>
                  <a:srgbClr val="FF0000"/>
                </a:solidFill>
                <a:latin typeface="Times New Roman"/>
                <a:ea typeface="Times New Roman"/>
                <a:cs typeface="Times New Roman"/>
                <a:sym typeface="Times New Roman"/>
              </a:rPr>
              <a:t>0</a:t>
            </a:r>
            <a:r>
              <a:rPr i="1" lang="en">
                <a:solidFill>
                  <a:srgbClr val="FF0000"/>
                </a:solidFill>
                <a:latin typeface="Times New Roman"/>
                <a:ea typeface="Times New Roman"/>
                <a:cs typeface="Times New Roman"/>
                <a:sym typeface="Times New Roman"/>
              </a:rPr>
              <a:t> + B</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x</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 + …</a:t>
            </a:r>
            <a:r>
              <a:rPr lang="en" sz="1600">
                <a:solidFill>
                  <a:srgbClr val="FF0000"/>
                </a:solidFill>
                <a:latin typeface="Helvetica Neue"/>
                <a:ea typeface="Helvetica Neue"/>
                <a:cs typeface="Helvetica Neue"/>
                <a:sym typeface="Helvetica Neue"/>
              </a:rPr>
              <a:t>   is just a guess/estimate; it’s not exactly true</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set of assumptions we’re imposing on the dataset</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We’re assuming output is linearly related to input features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configurable thing (hyperparameters)</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Sorry, we don’t cover very much linear regression configuration here 😅</a:t>
            </a:r>
            <a:endParaRPr sz="1600">
              <a:latin typeface="Helvetica Neue"/>
              <a:ea typeface="Helvetica Neue"/>
              <a:cs typeface="Helvetica Neue"/>
              <a:sym typeface="Helvetica Neue"/>
            </a:endParaRPr>
          </a:p>
        </p:txBody>
      </p:sp>
      <p:cxnSp>
        <p:nvCxnSpPr>
          <p:cNvPr id="267" name="Google Shape;267;p40"/>
          <p:cNvCxnSpPr/>
          <p:nvPr/>
        </p:nvCxnSpPr>
        <p:spPr>
          <a:xfrm rot="10800000">
            <a:off x="5899868" y="1582252"/>
            <a:ext cx="0" cy="2393400"/>
          </a:xfrm>
          <a:prstGeom prst="straightConnector1">
            <a:avLst/>
          </a:prstGeom>
          <a:noFill/>
          <a:ln cap="flat" cmpd="sng" w="9525">
            <a:solidFill>
              <a:schemeClr val="dk1"/>
            </a:solidFill>
            <a:prstDash val="solid"/>
            <a:round/>
            <a:headEnd len="sm" w="sm" type="none"/>
            <a:tailEnd len="med" w="med" type="triangle"/>
          </a:ln>
        </p:spPr>
      </p:cxnSp>
      <p:cxnSp>
        <p:nvCxnSpPr>
          <p:cNvPr id="268" name="Google Shape;268;p40"/>
          <p:cNvCxnSpPr/>
          <p:nvPr/>
        </p:nvCxnSpPr>
        <p:spPr>
          <a:xfrm>
            <a:off x="5899868" y="3975652"/>
            <a:ext cx="2908500" cy="0"/>
          </a:xfrm>
          <a:prstGeom prst="straightConnector1">
            <a:avLst/>
          </a:prstGeom>
          <a:noFill/>
          <a:ln cap="flat" cmpd="sng" w="9525">
            <a:solidFill>
              <a:schemeClr val="dk1"/>
            </a:solidFill>
            <a:prstDash val="solid"/>
            <a:round/>
            <a:headEnd len="sm" w="sm" type="none"/>
            <a:tailEnd len="med" w="med" type="triangle"/>
          </a:ln>
        </p:spPr>
      </p:cxnSp>
      <p:sp>
        <p:nvSpPr>
          <p:cNvPr id="269" name="Google Shape;269;p40"/>
          <p:cNvSpPr txBox="1"/>
          <p:nvPr/>
        </p:nvSpPr>
        <p:spPr>
          <a:xfrm>
            <a:off x="5774634" y="1329330"/>
            <a:ext cx="1671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270" name="Google Shape;270;p40"/>
          <p:cNvSpPr txBox="1"/>
          <p:nvPr/>
        </p:nvSpPr>
        <p:spPr>
          <a:xfrm>
            <a:off x="8832300" y="3864334"/>
            <a:ext cx="216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cxnSp>
        <p:nvCxnSpPr>
          <p:cNvPr id="271" name="Google Shape;271;p40"/>
          <p:cNvCxnSpPr/>
          <p:nvPr/>
        </p:nvCxnSpPr>
        <p:spPr>
          <a:xfrm>
            <a:off x="5816379" y="3578087"/>
            <a:ext cx="139200" cy="0"/>
          </a:xfrm>
          <a:prstGeom prst="straightConnector1">
            <a:avLst/>
          </a:prstGeom>
          <a:noFill/>
          <a:ln cap="flat" cmpd="sng" w="9525">
            <a:solidFill>
              <a:srgbClr val="FDA739"/>
            </a:solidFill>
            <a:prstDash val="solid"/>
            <a:round/>
            <a:headEnd len="sm" w="sm" type="none"/>
            <a:tailEnd len="sm" w="sm" type="none"/>
          </a:ln>
        </p:spPr>
      </p:cxnSp>
      <p:cxnSp>
        <p:nvCxnSpPr>
          <p:cNvPr id="272" name="Google Shape;272;p40"/>
          <p:cNvCxnSpPr/>
          <p:nvPr/>
        </p:nvCxnSpPr>
        <p:spPr>
          <a:xfrm>
            <a:off x="5816379" y="3126188"/>
            <a:ext cx="139200" cy="0"/>
          </a:xfrm>
          <a:prstGeom prst="straightConnector1">
            <a:avLst/>
          </a:prstGeom>
          <a:noFill/>
          <a:ln cap="flat" cmpd="sng" w="9525">
            <a:solidFill>
              <a:srgbClr val="FDA739"/>
            </a:solidFill>
            <a:prstDash val="solid"/>
            <a:round/>
            <a:headEnd len="sm" w="sm" type="none"/>
            <a:tailEnd len="sm" w="sm" type="none"/>
          </a:ln>
        </p:spPr>
      </p:cxnSp>
      <p:cxnSp>
        <p:nvCxnSpPr>
          <p:cNvPr id="273" name="Google Shape;273;p40"/>
          <p:cNvCxnSpPr/>
          <p:nvPr/>
        </p:nvCxnSpPr>
        <p:spPr>
          <a:xfrm>
            <a:off x="5830294" y="2714046"/>
            <a:ext cx="139200" cy="0"/>
          </a:xfrm>
          <a:prstGeom prst="straightConnector1">
            <a:avLst/>
          </a:prstGeom>
          <a:noFill/>
          <a:ln cap="flat" cmpd="sng" w="9525">
            <a:solidFill>
              <a:srgbClr val="FDA739"/>
            </a:solidFill>
            <a:prstDash val="solid"/>
            <a:round/>
            <a:headEnd len="sm" w="sm" type="none"/>
            <a:tailEnd len="sm" w="sm" type="none"/>
          </a:ln>
        </p:spPr>
      </p:cxnSp>
      <p:cxnSp>
        <p:nvCxnSpPr>
          <p:cNvPr id="274" name="Google Shape;274;p40"/>
          <p:cNvCxnSpPr/>
          <p:nvPr/>
        </p:nvCxnSpPr>
        <p:spPr>
          <a:xfrm>
            <a:off x="5830294" y="2325757"/>
            <a:ext cx="139200" cy="0"/>
          </a:xfrm>
          <a:prstGeom prst="straightConnector1">
            <a:avLst/>
          </a:prstGeom>
          <a:noFill/>
          <a:ln cap="flat" cmpd="sng" w="9525">
            <a:solidFill>
              <a:srgbClr val="FDA739"/>
            </a:solidFill>
            <a:prstDash val="solid"/>
            <a:round/>
            <a:headEnd len="sm" w="sm" type="none"/>
            <a:tailEnd len="sm" w="sm" type="none"/>
          </a:ln>
        </p:spPr>
      </p:cxnSp>
      <p:cxnSp>
        <p:nvCxnSpPr>
          <p:cNvPr id="275" name="Google Shape;275;p40"/>
          <p:cNvCxnSpPr/>
          <p:nvPr/>
        </p:nvCxnSpPr>
        <p:spPr>
          <a:xfrm>
            <a:off x="6345139" y="3904089"/>
            <a:ext cx="0" cy="123000"/>
          </a:xfrm>
          <a:prstGeom prst="straightConnector1">
            <a:avLst/>
          </a:prstGeom>
          <a:noFill/>
          <a:ln cap="flat" cmpd="sng" w="9525">
            <a:solidFill>
              <a:srgbClr val="FDA739"/>
            </a:solidFill>
            <a:prstDash val="solid"/>
            <a:round/>
            <a:headEnd len="sm" w="sm" type="none"/>
            <a:tailEnd len="sm" w="sm" type="none"/>
          </a:ln>
        </p:spPr>
      </p:cxnSp>
      <p:cxnSp>
        <p:nvCxnSpPr>
          <p:cNvPr id="276" name="Google Shape;276;p40"/>
          <p:cNvCxnSpPr/>
          <p:nvPr/>
        </p:nvCxnSpPr>
        <p:spPr>
          <a:xfrm>
            <a:off x="6783785" y="3914097"/>
            <a:ext cx="0" cy="123000"/>
          </a:xfrm>
          <a:prstGeom prst="straightConnector1">
            <a:avLst/>
          </a:prstGeom>
          <a:noFill/>
          <a:ln cap="flat" cmpd="sng" w="9525">
            <a:solidFill>
              <a:srgbClr val="FDA739"/>
            </a:solidFill>
            <a:prstDash val="solid"/>
            <a:round/>
            <a:headEnd len="sm" w="sm" type="none"/>
            <a:tailEnd len="sm" w="sm" type="none"/>
          </a:ln>
        </p:spPr>
      </p:cxnSp>
      <p:cxnSp>
        <p:nvCxnSpPr>
          <p:cNvPr id="277" name="Google Shape;277;p40"/>
          <p:cNvCxnSpPr/>
          <p:nvPr/>
        </p:nvCxnSpPr>
        <p:spPr>
          <a:xfrm>
            <a:off x="7197256" y="3914097"/>
            <a:ext cx="0" cy="123000"/>
          </a:xfrm>
          <a:prstGeom prst="straightConnector1">
            <a:avLst/>
          </a:prstGeom>
          <a:noFill/>
          <a:ln cap="flat" cmpd="sng" w="9525">
            <a:solidFill>
              <a:srgbClr val="FDA739"/>
            </a:solidFill>
            <a:prstDash val="solid"/>
            <a:round/>
            <a:headEnd len="sm" w="sm" type="none"/>
            <a:tailEnd len="sm" w="sm" type="none"/>
          </a:ln>
        </p:spPr>
      </p:cxnSp>
      <p:cxnSp>
        <p:nvCxnSpPr>
          <p:cNvPr id="278" name="Google Shape;278;p40"/>
          <p:cNvCxnSpPr/>
          <p:nvPr/>
        </p:nvCxnSpPr>
        <p:spPr>
          <a:xfrm>
            <a:off x="7674332" y="3912040"/>
            <a:ext cx="0" cy="123000"/>
          </a:xfrm>
          <a:prstGeom prst="straightConnector1">
            <a:avLst/>
          </a:prstGeom>
          <a:noFill/>
          <a:ln cap="flat" cmpd="sng" w="9525">
            <a:solidFill>
              <a:srgbClr val="FDA739"/>
            </a:solidFill>
            <a:prstDash val="solid"/>
            <a:round/>
            <a:headEnd len="sm" w="sm" type="none"/>
            <a:tailEnd len="sm" w="sm" type="none"/>
          </a:ln>
        </p:spPr>
      </p:cxnSp>
      <p:sp>
        <p:nvSpPr>
          <p:cNvPr id="279" name="Google Shape;279;p40"/>
          <p:cNvSpPr/>
          <p:nvPr/>
        </p:nvSpPr>
        <p:spPr>
          <a:xfrm>
            <a:off x="6543923" y="266428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0" name="Google Shape;280;p40"/>
          <p:cNvSpPr/>
          <p:nvPr/>
        </p:nvSpPr>
        <p:spPr>
          <a:xfrm>
            <a:off x="6529279" y="295141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1" name="Google Shape;281;p40"/>
          <p:cNvSpPr/>
          <p:nvPr/>
        </p:nvSpPr>
        <p:spPr>
          <a:xfrm>
            <a:off x="6844085" y="2577007"/>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2" name="Google Shape;282;p40"/>
          <p:cNvSpPr/>
          <p:nvPr/>
        </p:nvSpPr>
        <p:spPr>
          <a:xfrm>
            <a:off x="6841829" y="2886158"/>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3" name="Google Shape;283;p40"/>
          <p:cNvSpPr/>
          <p:nvPr/>
        </p:nvSpPr>
        <p:spPr>
          <a:xfrm>
            <a:off x="7132320" y="2224371"/>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4" name="Google Shape;284;p40"/>
          <p:cNvSpPr/>
          <p:nvPr/>
        </p:nvSpPr>
        <p:spPr>
          <a:xfrm>
            <a:off x="7180689" y="247633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5" name="Google Shape;285;p40"/>
          <p:cNvSpPr/>
          <p:nvPr/>
        </p:nvSpPr>
        <p:spPr>
          <a:xfrm>
            <a:off x="7119726" y="2753230"/>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6" name="Google Shape;286;p40"/>
          <p:cNvSpPr/>
          <p:nvPr/>
        </p:nvSpPr>
        <p:spPr>
          <a:xfrm>
            <a:off x="7356805" y="220031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7" name="Google Shape;287;p40"/>
          <p:cNvSpPr/>
          <p:nvPr/>
        </p:nvSpPr>
        <p:spPr>
          <a:xfrm>
            <a:off x="7448903" y="2524042"/>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8" name="Google Shape;288;p40"/>
          <p:cNvSpPr/>
          <p:nvPr/>
        </p:nvSpPr>
        <p:spPr>
          <a:xfrm>
            <a:off x="6196720" y="2938766"/>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9" name="Google Shape;289;p40"/>
          <p:cNvSpPr/>
          <p:nvPr/>
        </p:nvSpPr>
        <p:spPr>
          <a:xfrm>
            <a:off x="6891659" y="2359099"/>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0" name="Google Shape;290;p40"/>
          <p:cNvSpPr/>
          <p:nvPr/>
        </p:nvSpPr>
        <p:spPr>
          <a:xfrm>
            <a:off x="6606873" y="315726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1" name="Google Shape;291;p40"/>
          <p:cNvSpPr/>
          <p:nvPr/>
        </p:nvSpPr>
        <p:spPr>
          <a:xfrm>
            <a:off x="6312675" y="340088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2" name="Google Shape;292;p40"/>
          <p:cNvSpPr/>
          <p:nvPr/>
        </p:nvSpPr>
        <p:spPr>
          <a:xfrm>
            <a:off x="6074137" y="3221317"/>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3" name="Google Shape;293;p40"/>
          <p:cNvSpPr/>
          <p:nvPr/>
        </p:nvSpPr>
        <p:spPr>
          <a:xfrm>
            <a:off x="6335867" y="3157043"/>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4" name="Google Shape;294;p40"/>
          <p:cNvSpPr/>
          <p:nvPr/>
        </p:nvSpPr>
        <p:spPr>
          <a:xfrm>
            <a:off x="6099982" y="3503213"/>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5" name="Google Shape;295;p40"/>
          <p:cNvSpPr txBox="1"/>
          <p:nvPr/>
        </p:nvSpPr>
        <p:spPr>
          <a:xfrm>
            <a:off x="6539683" y="4231700"/>
            <a:ext cx="1731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400">
                <a:solidFill>
                  <a:srgbClr val="073763"/>
                </a:solidFill>
                <a:latin typeface="Times New Roman"/>
                <a:ea typeface="Times New Roman"/>
                <a:cs typeface="Times New Roman"/>
                <a:sym typeface="Times New Roman"/>
              </a:rPr>
              <a:t>y = B</a:t>
            </a:r>
            <a:r>
              <a:rPr baseline="-25000" i="1" lang="en" sz="2400">
                <a:solidFill>
                  <a:srgbClr val="073763"/>
                </a:solidFill>
                <a:latin typeface="Times New Roman"/>
                <a:ea typeface="Times New Roman"/>
                <a:cs typeface="Times New Roman"/>
                <a:sym typeface="Times New Roman"/>
              </a:rPr>
              <a:t>0</a:t>
            </a:r>
            <a:r>
              <a:rPr i="1" lang="en" sz="2400">
                <a:solidFill>
                  <a:srgbClr val="073763"/>
                </a:solidFill>
                <a:latin typeface="Times New Roman"/>
                <a:ea typeface="Times New Roman"/>
                <a:cs typeface="Times New Roman"/>
                <a:sym typeface="Times New Roman"/>
              </a:rPr>
              <a:t> + B</a:t>
            </a:r>
            <a:r>
              <a:rPr baseline="-25000" i="1" lang="en" sz="2400">
                <a:solidFill>
                  <a:srgbClr val="073763"/>
                </a:solidFill>
                <a:latin typeface="Times New Roman"/>
                <a:ea typeface="Times New Roman"/>
                <a:cs typeface="Times New Roman"/>
                <a:sym typeface="Times New Roman"/>
              </a:rPr>
              <a:t>1</a:t>
            </a:r>
            <a:r>
              <a:rPr i="1" lang="en" sz="2400">
                <a:solidFill>
                  <a:srgbClr val="073763"/>
                </a:solidFill>
                <a:latin typeface="Times New Roman"/>
                <a:ea typeface="Times New Roman"/>
                <a:cs typeface="Times New Roman"/>
                <a:sym typeface="Times New Roman"/>
              </a:rPr>
              <a:t>x</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1" lang="en" sz="2400">
                <a:solidFill>
                  <a:srgbClr val="073763"/>
                </a:solidFill>
                <a:latin typeface="Times New Roman"/>
                <a:ea typeface="Times New Roman"/>
                <a:cs typeface="Times New Roman"/>
                <a:sym typeface="Times New Roman"/>
              </a:rPr>
              <a:t>y = B</a:t>
            </a:r>
            <a:r>
              <a:rPr b="0" baseline="-25000" i="1" lang="en" sz="2400">
                <a:solidFill>
                  <a:srgbClr val="073763"/>
                </a:solidFill>
                <a:latin typeface="Times New Roman"/>
                <a:ea typeface="Times New Roman"/>
                <a:cs typeface="Times New Roman"/>
                <a:sym typeface="Times New Roman"/>
              </a:rPr>
              <a:t>0</a:t>
            </a:r>
            <a:r>
              <a:rPr b="0" i="1" lang="en" sz="2400">
                <a:solidFill>
                  <a:srgbClr val="073763"/>
                </a:solidFill>
                <a:latin typeface="Times New Roman"/>
                <a:ea typeface="Times New Roman"/>
                <a:cs typeface="Times New Roman"/>
                <a:sym typeface="Times New Roman"/>
              </a:rPr>
              <a:t> + B</a:t>
            </a:r>
            <a:r>
              <a:rPr b="0" baseline="-25000" i="1" lang="en" sz="2400">
                <a:solidFill>
                  <a:srgbClr val="073763"/>
                </a:solidFill>
                <a:latin typeface="Times New Roman"/>
                <a:ea typeface="Times New Roman"/>
                <a:cs typeface="Times New Roman"/>
                <a:sym typeface="Times New Roman"/>
              </a:rPr>
              <a:t>1</a:t>
            </a:r>
            <a:r>
              <a:rPr b="0" i="1" lang="en" sz="2400">
                <a:solidFill>
                  <a:srgbClr val="073763"/>
                </a:solidFill>
                <a:latin typeface="Times New Roman"/>
                <a:ea typeface="Times New Roman"/>
                <a:cs typeface="Times New Roman"/>
                <a:sym typeface="Times New Roman"/>
              </a:rPr>
              <a:t>x</a:t>
            </a:r>
            <a:r>
              <a:rPr b="0" baseline="-25000" i="1" lang="en" sz="2400">
                <a:solidFill>
                  <a:srgbClr val="073763"/>
                </a:solidFill>
                <a:latin typeface="Times New Roman"/>
                <a:ea typeface="Times New Roman"/>
                <a:cs typeface="Times New Roman"/>
                <a:sym typeface="Times New Roman"/>
              </a:rPr>
              <a:t>1</a:t>
            </a:r>
            <a:r>
              <a:rPr b="0" i="1" lang="en" sz="2400">
                <a:solidFill>
                  <a:srgbClr val="073763"/>
                </a:solidFill>
                <a:latin typeface="Times New Roman"/>
                <a:ea typeface="Times New Roman"/>
                <a:cs typeface="Times New Roman"/>
                <a:sym typeface="Times New Roman"/>
              </a:rPr>
              <a:t>+ ...</a:t>
            </a:r>
            <a:r>
              <a:rPr i="1" lang="en" sz="2400">
                <a:solidFill>
                  <a:srgbClr val="073763"/>
                </a:solidFill>
                <a:latin typeface="Hind"/>
                <a:ea typeface="Hind"/>
                <a:cs typeface="Hind"/>
                <a:sym typeface="Hind"/>
              </a:rPr>
              <a:t> </a:t>
            </a:r>
            <a:r>
              <a:rPr lang="en" sz="2400">
                <a:solidFill>
                  <a:srgbClr val="613CB0"/>
                </a:solidFill>
                <a:latin typeface="Hind"/>
                <a:ea typeface="Hind"/>
                <a:cs typeface="Hind"/>
                <a:sym typeface="Hind"/>
              </a:rPr>
              <a:t> is a model</a:t>
            </a:r>
            <a:endParaRPr i="0" sz="2400" u="none" cap="none" strike="noStrike">
              <a:solidFill>
                <a:srgbClr val="613CB0"/>
              </a:solidFill>
              <a:latin typeface="Hind"/>
              <a:ea typeface="Hind"/>
              <a:cs typeface="Hind"/>
              <a:sym typeface="Hind"/>
            </a:endParaRPr>
          </a:p>
        </p:txBody>
      </p:sp>
      <p:sp>
        <p:nvSpPr>
          <p:cNvPr id="301" name="Google Shape;301;p41"/>
          <p:cNvSpPr txBox="1"/>
          <p:nvPr>
            <p:ph idx="1" type="body"/>
          </p:nvPr>
        </p:nvSpPr>
        <p:spPr>
          <a:xfrm>
            <a:off x="311701" y="1187750"/>
            <a:ext cx="4832700" cy="3614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relationship between inputs and outputs</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a:solidFill>
                  <a:srgbClr val="FF0000"/>
                </a:solidFill>
                <a:latin typeface="Helvetica Neue"/>
                <a:ea typeface="Helvetica Neue"/>
                <a:cs typeface="Helvetica Neue"/>
                <a:sym typeface="Helvetica Neue"/>
              </a:rPr>
              <a:t> </a:t>
            </a:r>
            <a:r>
              <a:rPr i="1" lang="en">
                <a:solidFill>
                  <a:srgbClr val="FF0000"/>
                </a:solidFill>
                <a:latin typeface="Times New Roman"/>
                <a:ea typeface="Times New Roman"/>
                <a:cs typeface="Times New Roman"/>
                <a:sym typeface="Times New Roman"/>
              </a:rPr>
              <a:t>y = B</a:t>
            </a:r>
            <a:r>
              <a:rPr baseline="-25000" i="1" lang="en">
                <a:solidFill>
                  <a:srgbClr val="FF0000"/>
                </a:solidFill>
                <a:latin typeface="Times New Roman"/>
                <a:ea typeface="Times New Roman"/>
                <a:cs typeface="Times New Roman"/>
                <a:sym typeface="Times New Roman"/>
              </a:rPr>
              <a:t>0</a:t>
            </a:r>
            <a:r>
              <a:rPr i="1" lang="en">
                <a:solidFill>
                  <a:srgbClr val="FF0000"/>
                </a:solidFill>
                <a:latin typeface="Times New Roman"/>
                <a:ea typeface="Times New Roman"/>
                <a:cs typeface="Times New Roman"/>
                <a:sym typeface="Times New Roman"/>
              </a:rPr>
              <a:t> + B</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x</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 + …   </a:t>
            </a:r>
            <a:r>
              <a:rPr lang="en" sz="1600">
                <a:solidFill>
                  <a:srgbClr val="FF0000"/>
                </a:solidFill>
                <a:latin typeface="Helvetica Neue"/>
                <a:ea typeface="Helvetica Neue"/>
                <a:cs typeface="Helvetica Neue"/>
                <a:sym typeface="Helvetica Neue"/>
              </a:rPr>
              <a:t>relates inputs to outputs</a:t>
            </a:r>
            <a:endParaRPr sz="1600">
              <a:solidFill>
                <a:srgbClr val="FF0000"/>
              </a:solidFill>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guess at how inputs and outputs are related</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but  </a:t>
            </a:r>
            <a:r>
              <a:rPr i="1" lang="en">
                <a:solidFill>
                  <a:srgbClr val="FF0000"/>
                </a:solidFill>
                <a:latin typeface="Times New Roman"/>
                <a:ea typeface="Times New Roman"/>
                <a:cs typeface="Times New Roman"/>
                <a:sym typeface="Times New Roman"/>
              </a:rPr>
              <a:t> y = B</a:t>
            </a:r>
            <a:r>
              <a:rPr baseline="-25000" i="1" lang="en">
                <a:solidFill>
                  <a:srgbClr val="FF0000"/>
                </a:solidFill>
                <a:latin typeface="Times New Roman"/>
                <a:ea typeface="Times New Roman"/>
                <a:cs typeface="Times New Roman"/>
                <a:sym typeface="Times New Roman"/>
              </a:rPr>
              <a:t>0</a:t>
            </a:r>
            <a:r>
              <a:rPr i="1" lang="en">
                <a:solidFill>
                  <a:srgbClr val="FF0000"/>
                </a:solidFill>
                <a:latin typeface="Times New Roman"/>
                <a:ea typeface="Times New Roman"/>
                <a:cs typeface="Times New Roman"/>
                <a:sym typeface="Times New Roman"/>
              </a:rPr>
              <a:t> + B</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x</a:t>
            </a:r>
            <a:r>
              <a:rPr baseline="-25000" i="1" lang="en">
                <a:solidFill>
                  <a:srgbClr val="FF0000"/>
                </a:solidFill>
                <a:latin typeface="Times New Roman"/>
                <a:ea typeface="Times New Roman"/>
                <a:cs typeface="Times New Roman"/>
                <a:sym typeface="Times New Roman"/>
              </a:rPr>
              <a:t>1</a:t>
            </a:r>
            <a:r>
              <a:rPr i="1" lang="en">
                <a:solidFill>
                  <a:srgbClr val="FF0000"/>
                </a:solidFill>
                <a:latin typeface="Times New Roman"/>
                <a:ea typeface="Times New Roman"/>
                <a:cs typeface="Times New Roman"/>
                <a:sym typeface="Times New Roman"/>
              </a:rPr>
              <a:t> + …</a:t>
            </a:r>
            <a:r>
              <a:rPr lang="en" sz="1600">
                <a:solidFill>
                  <a:srgbClr val="FF0000"/>
                </a:solidFill>
                <a:latin typeface="Helvetica Neue"/>
                <a:ea typeface="Helvetica Neue"/>
                <a:cs typeface="Helvetica Neue"/>
                <a:sym typeface="Helvetica Neue"/>
              </a:rPr>
              <a:t>   is just a guess/estimate; it’s not exactly true</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set of assumptions we’re imposing on the dataset</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We’re assuming output is linearly related to input features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b="1" lang="en" sz="1600">
                <a:latin typeface="Helvetica Neue"/>
                <a:ea typeface="Helvetica Neue"/>
                <a:cs typeface="Helvetica Neue"/>
                <a:sym typeface="Helvetica Neue"/>
              </a:rPr>
              <a:t>A configurable thing (hyperparameters)</a:t>
            </a:r>
            <a:endParaRPr b="1" sz="1600">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rPr lang="en" sz="1600">
                <a:solidFill>
                  <a:srgbClr val="FF0000"/>
                </a:solidFill>
                <a:latin typeface="Helvetica Neue"/>
                <a:ea typeface="Helvetica Neue"/>
                <a:cs typeface="Helvetica Neue"/>
                <a:sym typeface="Helvetica Neue"/>
              </a:rPr>
              <a:t>Sorry, we don’t cover very much linear regression configuration here 😅</a:t>
            </a:r>
            <a:endParaRPr sz="1600">
              <a:latin typeface="Helvetica Neue"/>
              <a:ea typeface="Helvetica Neue"/>
              <a:cs typeface="Helvetica Neue"/>
              <a:sym typeface="Helvetica Neue"/>
            </a:endParaRPr>
          </a:p>
        </p:txBody>
      </p:sp>
      <p:cxnSp>
        <p:nvCxnSpPr>
          <p:cNvPr id="302" name="Google Shape;302;p41"/>
          <p:cNvCxnSpPr/>
          <p:nvPr/>
        </p:nvCxnSpPr>
        <p:spPr>
          <a:xfrm rot="10800000">
            <a:off x="5899868" y="1582252"/>
            <a:ext cx="0" cy="2393400"/>
          </a:xfrm>
          <a:prstGeom prst="straightConnector1">
            <a:avLst/>
          </a:prstGeom>
          <a:noFill/>
          <a:ln cap="flat" cmpd="sng" w="9525">
            <a:solidFill>
              <a:schemeClr val="dk1"/>
            </a:solidFill>
            <a:prstDash val="solid"/>
            <a:round/>
            <a:headEnd len="sm" w="sm" type="none"/>
            <a:tailEnd len="med" w="med" type="triangle"/>
          </a:ln>
        </p:spPr>
      </p:cxnSp>
      <p:cxnSp>
        <p:nvCxnSpPr>
          <p:cNvPr id="303" name="Google Shape;303;p41"/>
          <p:cNvCxnSpPr/>
          <p:nvPr/>
        </p:nvCxnSpPr>
        <p:spPr>
          <a:xfrm>
            <a:off x="5899868" y="3975652"/>
            <a:ext cx="2908500" cy="0"/>
          </a:xfrm>
          <a:prstGeom prst="straightConnector1">
            <a:avLst/>
          </a:prstGeom>
          <a:noFill/>
          <a:ln cap="flat" cmpd="sng" w="9525">
            <a:solidFill>
              <a:schemeClr val="dk1"/>
            </a:solidFill>
            <a:prstDash val="solid"/>
            <a:round/>
            <a:headEnd len="sm" w="sm" type="none"/>
            <a:tailEnd len="med" w="med" type="triangle"/>
          </a:ln>
        </p:spPr>
      </p:cxnSp>
      <p:sp>
        <p:nvSpPr>
          <p:cNvPr id="304" name="Google Shape;304;p41"/>
          <p:cNvSpPr txBox="1"/>
          <p:nvPr/>
        </p:nvSpPr>
        <p:spPr>
          <a:xfrm>
            <a:off x="5774634" y="1329330"/>
            <a:ext cx="1671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Arial"/>
                <a:ea typeface="Arial"/>
                <a:cs typeface="Arial"/>
                <a:sym typeface="Arial"/>
              </a:rPr>
              <a:t>y</a:t>
            </a:r>
            <a:endParaRPr b="0" i="0" sz="1400" u="none" cap="none" strike="noStrike">
              <a:solidFill>
                <a:srgbClr val="000000"/>
              </a:solidFill>
              <a:latin typeface="Arial"/>
              <a:ea typeface="Arial"/>
              <a:cs typeface="Arial"/>
              <a:sym typeface="Arial"/>
            </a:endParaRPr>
          </a:p>
        </p:txBody>
      </p:sp>
      <p:sp>
        <p:nvSpPr>
          <p:cNvPr id="305" name="Google Shape;305;p41"/>
          <p:cNvSpPr txBox="1"/>
          <p:nvPr/>
        </p:nvSpPr>
        <p:spPr>
          <a:xfrm>
            <a:off x="8832300" y="3864334"/>
            <a:ext cx="2163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Arial"/>
                <a:ea typeface="Arial"/>
                <a:cs typeface="Arial"/>
                <a:sym typeface="Arial"/>
              </a:rPr>
              <a:t>x</a:t>
            </a:r>
            <a:endParaRPr b="0" i="0" sz="1400" u="none" cap="none" strike="noStrike">
              <a:solidFill>
                <a:srgbClr val="000000"/>
              </a:solidFill>
              <a:latin typeface="Arial"/>
              <a:ea typeface="Arial"/>
              <a:cs typeface="Arial"/>
              <a:sym typeface="Arial"/>
            </a:endParaRPr>
          </a:p>
        </p:txBody>
      </p:sp>
      <p:cxnSp>
        <p:nvCxnSpPr>
          <p:cNvPr id="306" name="Google Shape;306;p41"/>
          <p:cNvCxnSpPr/>
          <p:nvPr/>
        </p:nvCxnSpPr>
        <p:spPr>
          <a:xfrm>
            <a:off x="5816379" y="3578087"/>
            <a:ext cx="139200" cy="0"/>
          </a:xfrm>
          <a:prstGeom prst="straightConnector1">
            <a:avLst/>
          </a:prstGeom>
          <a:noFill/>
          <a:ln cap="flat" cmpd="sng" w="9525">
            <a:solidFill>
              <a:srgbClr val="FDA739"/>
            </a:solidFill>
            <a:prstDash val="solid"/>
            <a:round/>
            <a:headEnd len="sm" w="sm" type="none"/>
            <a:tailEnd len="sm" w="sm" type="none"/>
          </a:ln>
        </p:spPr>
      </p:cxnSp>
      <p:cxnSp>
        <p:nvCxnSpPr>
          <p:cNvPr id="307" name="Google Shape;307;p41"/>
          <p:cNvCxnSpPr/>
          <p:nvPr/>
        </p:nvCxnSpPr>
        <p:spPr>
          <a:xfrm>
            <a:off x="5816379" y="3126188"/>
            <a:ext cx="139200" cy="0"/>
          </a:xfrm>
          <a:prstGeom prst="straightConnector1">
            <a:avLst/>
          </a:prstGeom>
          <a:noFill/>
          <a:ln cap="flat" cmpd="sng" w="9525">
            <a:solidFill>
              <a:srgbClr val="FDA739"/>
            </a:solidFill>
            <a:prstDash val="solid"/>
            <a:round/>
            <a:headEnd len="sm" w="sm" type="none"/>
            <a:tailEnd len="sm" w="sm" type="none"/>
          </a:ln>
        </p:spPr>
      </p:cxnSp>
      <p:cxnSp>
        <p:nvCxnSpPr>
          <p:cNvPr id="308" name="Google Shape;308;p41"/>
          <p:cNvCxnSpPr/>
          <p:nvPr/>
        </p:nvCxnSpPr>
        <p:spPr>
          <a:xfrm>
            <a:off x="5830294" y="2714046"/>
            <a:ext cx="139200" cy="0"/>
          </a:xfrm>
          <a:prstGeom prst="straightConnector1">
            <a:avLst/>
          </a:prstGeom>
          <a:noFill/>
          <a:ln cap="flat" cmpd="sng" w="9525">
            <a:solidFill>
              <a:srgbClr val="FDA739"/>
            </a:solidFill>
            <a:prstDash val="solid"/>
            <a:round/>
            <a:headEnd len="sm" w="sm" type="none"/>
            <a:tailEnd len="sm" w="sm" type="none"/>
          </a:ln>
        </p:spPr>
      </p:cxnSp>
      <p:cxnSp>
        <p:nvCxnSpPr>
          <p:cNvPr id="309" name="Google Shape;309;p41"/>
          <p:cNvCxnSpPr/>
          <p:nvPr/>
        </p:nvCxnSpPr>
        <p:spPr>
          <a:xfrm>
            <a:off x="5830294" y="2325757"/>
            <a:ext cx="139200" cy="0"/>
          </a:xfrm>
          <a:prstGeom prst="straightConnector1">
            <a:avLst/>
          </a:prstGeom>
          <a:noFill/>
          <a:ln cap="flat" cmpd="sng" w="9525">
            <a:solidFill>
              <a:srgbClr val="FDA739"/>
            </a:solidFill>
            <a:prstDash val="solid"/>
            <a:round/>
            <a:headEnd len="sm" w="sm" type="none"/>
            <a:tailEnd len="sm" w="sm" type="none"/>
          </a:ln>
        </p:spPr>
      </p:cxnSp>
      <p:cxnSp>
        <p:nvCxnSpPr>
          <p:cNvPr id="310" name="Google Shape;310;p41"/>
          <p:cNvCxnSpPr/>
          <p:nvPr/>
        </p:nvCxnSpPr>
        <p:spPr>
          <a:xfrm>
            <a:off x="6345139" y="3904089"/>
            <a:ext cx="0" cy="123000"/>
          </a:xfrm>
          <a:prstGeom prst="straightConnector1">
            <a:avLst/>
          </a:prstGeom>
          <a:noFill/>
          <a:ln cap="flat" cmpd="sng" w="9525">
            <a:solidFill>
              <a:srgbClr val="FDA739"/>
            </a:solidFill>
            <a:prstDash val="solid"/>
            <a:round/>
            <a:headEnd len="sm" w="sm" type="none"/>
            <a:tailEnd len="sm" w="sm" type="none"/>
          </a:ln>
        </p:spPr>
      </p:cxnSp>
      <p:cxnSp>
        <p:nvCxnSpPr>
          <p:cNvPr id="311" name="Google Shape;311;p41"/>
          <p:cNvCxnSpPr/>
          <p:nvPr/>
        </p:nvCxnSpPr>
        <p:spPr>
          <a:xfrm>
            <a:off x="6783785" y="3914097"/>
            <a:ext cx="0" cy="123000"/>
          </a:xfrm>
          <a:prstGeom prst="straightConnector1">
            <a:avLst/>
          </a:prstGeom>
          <a:noFill/>
          <a:ln cap="flat" cmpd="sng" w="9525">
            <a:solidFill>
              <a:srgbClr val="FDA739"/>
            </a:solidFill>
            <a:prstDash val="solid"/>
            <a:round/>
            <a:headEnd len="sm" w="sm" type="none"/>
            <a:tailEnd len="sm" w="sm" type="none"/>
          </a:ln>
        </p:spPr>
      </p:cxnSp>
      <p:cxnSp>
        <p:nvCxnSpPr>
          <p:cNvPr id="312" name="Google Shape;312;p41"/>
          <p:cNvCxnSpPr/>
          <p:nvPr/>
        </p:nvCxnSpPr>
        <p:spPr>
          <a:xfrm>
            <a:off x="7197256" y="3914097"/>
            <a:ext cx="0" cy="123000"/>
          </a:xfrm>
          <a:prstGeom prst="straightConnector1">
            <a:avLst/>
          </a:prstGeom>
          <a:noFill/>
          <a:ln cap="flat" cmpd="sng" w="9525">
            <a:solidFill>
              <a:srgbClr val="FDA739"/>
            </a:solidFill>
            <a:prstDash val="solid"/>
            <a:round/>
            <a:headEnd len="sm" w="sm" type="none"/>
            <a:tailEnd len="sm" w="sm" type="none"/>
          </a:ln>
        </p:spPr>
      </p:cxnSp>
      <p:cxnSp>
        <p:nvCxnSpPr>
          <p:cNvPr id="313" name="Google Shape;313;p41"/>
          <p:cNvCxnSpPr/>
          <p:nvPr/>
        </p:nvCxnSpPr>
        <p:spPr>
          <a:xfrm>
            <a:off x="7674332" y="3912040"/>
            <a:ext cx="0" cy="123000"/>
          </a:xfrm>
          <a:prstGeom prst="straightConnector1">
            <a:avLst/>
          </a:prstGeom>
          <a:noFill/>
          <a:ln cap="flat" cmpd="sng" w="9525">
            <a:solidFill>
              <a:srgbClr val="FDA739"/>
            </a:solidFill>
            <a:prstDash val="solid"/>
            <a:round/>
            <a:headEnd len="sm" w="sm" type="none"/>
            <a:tailEnd len="sm" w="sm" type="none"/>
          </a:ln>
        </p:spPr>
      </p:cxnSp>
      <p:sp>
        <p:nvSpPr>
          <p:cNvPr id="314" name="Google Shape;314;p41"/>
          <p:cNvSpPr/>
          <p:nvPr/>
        </p:nvSpPr>
        <p:spPr>
          <a:xfrm>
            <a:off x="6543923" y="266428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5" name="Google Shape;315;p41"/>
          <p:cNvSpPr/>
          <p:nvPr/>
        </p:nvSpPr>
        <p:spPr>
          <a:xfrm>
            <a:off x="6529279" y="295141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6" name="Google Shape;316;p41"/>
          <p:cNvSpPr/>
          <p:nvPr/>
        </p:nvSpPr>
        <p:spPr>
          <a:xfrm>
            <a:off x="6844085" y="2577007"/>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7" name="Google Shape;317;p41"/>
          <p:cNvSpPr/>
          <p:nvPr/>
        </p:nvSpPr>
        <p:spPr>
          <a:xfrm>
            <a:off x="6841829" y="2886158"/>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8" name="Google Shape;318;p41"/>
          <p:cNvSpPr/>
          <p:nvPr/>
        </p:nvSpPr>
        <p:spPr>
          <a:xfrm>
            <a:off x="7132320" y="2224371"/>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9" name="Google Shape;319;p41"/>
          <p:cNvSpPr/>
          <p:nvPr/>
        </p:nvSpPr>
        <p:spPr>
          <a:xfrm>
            <a:off x="7180689" y="247633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0" name="Google Shape;320;p41"/>
          <p:cNvSpPr/>
          <p:nvPr/>
        </p:nvSpPr>
        <p:spPr>
          <a:xfrm>
            <a:off x="7119726" y="2753230"/>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1" name="Google Shape;321;p41"/>
          <p:cNvSpPr/>
          <p:nvPr/>
        </p:nvSpPr>
        <p:spPr>
          <a:xfrm>
            <a:off x="7356805" y="220031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2" name="Google Shape;322;p41"/>
          <p:cNvSpPr/>
          <p:nvPr/>
        </p:nvSpPr>
        <p:spPr>
          <a:xfrm>
            <a:off x="7448903" y="2524042"/>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3" name="Google Shape;323;p41"/>
          <p:cNvSpPr/>
          <p:nvPr/>
        </p:nvSpPr>
        <p:spPr>
          <a:xfrm>
            <a:off x="6196720" y="2938766"/>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4" name="Google Shape;324;p41"/>
          <p:cNvSpPr/>
          <p:nvPr/>
        </p:nvSpPr>
        <p:spPr>
          <a:xfrm>
            <a:off x="6891659" y="2359099"/>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5" name="Google Shape;325;p41"/>
          <p:cNvSpPr/>
          <p:nvPr/>
        </p:nvSpPr>
        <p:spPr>
          <a:xfrm>
            <a:off x="6606873" y="3157264"/>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6" name="Google Shape;326;p41"/>
          <p:cNvSpPr/>
          <p:nvPr/>
        </p:nvSpPr>
        <p:spPr>
          <a:xfrm>
            <a:off x="6312675" y="3400885"/>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7" name="Google Shape;327;p41"/>
          <p:cNvSpPr/>
          <p:nvPr/>
        </p:nvSpPr>
        <p:spPr>
          <a:xfrm>
            <a:off x="6074137" y="3221317"/>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8" name="Google Shape;328;p41"/>
          <p:cNvSpPr/>
          <p:nvPr/>
        </p:nvSpPr>
        <p:spPr>
          <a:xfrm>
            <a:off x="6335867" y="3157043"/>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9" name="Google Shape;329;p41"/>
          <p:cNvSpPr/>
          <p:nvPr/>
        </p:nvSpPr>
        <p:spPr>
          <a:xfrm>
            <a:off x="6099982" y="3503213"/>
            <a:ext cx="96600" cy="95400"/>
          </a:xfrm>
          <a:prstGeom prst="ellipse">
            <a:avLst/>
          </a:prstGeom>
          <a:solidFill>
            <a:schemeClr val="accent2"/>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30" name="Google Shape;330;p41"/>
          <p:cNvCxnSpPr/>
          <p:nvPr/>
        </p:nvCxnSpPr>
        <p:spPr>
          <a:xfrm flipH="1" rot="10800000">
            <a:off x="5621572" y="1995921"/>
            <a:ext cx="2162700" cy="1788900"/>
          </a:xfrm>
          <a:prstGeom prst="straightConnector1">
            <a:avLst/>
          </a:prstGeom>
          <a:noFill/>
          <a:ln cap="flat" cmpd="sng" w="28575">
            <a:solidFill>
              <a:srgbClr val="FF0000"/>
            </a:solidFill>
            <a:prstDash val="solid"/>
            <a:round/>
            <a:headEnd len="med" w="med" type="triangle"/>
            <a:tailEnd len="med" w="med" type="triangle"/>
          </a:ln>
        </p:spPr>
      </p:cxnSp>
      <p:sp>
        <p:nvSpPr>
          <p:cNvPr id="331" name="Google Shape;331;p41"/>
          <p:cNvSpPr/>
          <p:nvPr/>
        </p:nvSpPr>
        <p:spPr>
          <a:xfrm>
            <a:off x="6657406" y="366237"/>
            <a:ext cx="2191500" cy="1130400"/>
          </a:xfrm>
          <a:prstGeom prst="roundRect">
            <a:avLst>
              <a:gd fmla="val 16667" name="adj"/>
            </a:avLst>
          </a:prstGeom>
          <a:solidFill>
            <a:srgbClr val="8F8F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Use algorithm to “learn” parameters that give us this line of best fit</a:t>
            </a:r>
            <a:endParaRPr b="0" i="0" sz="1400" u="none" cap="none" strike="noStrike">
              <a:solidFill>
                <a:srgbClr val="000000"/>
              </a:solidFill>
              <a:latin typeface="Arial"/>
              <a:ea typeface="Arial"/>
              <a:cs typeface="Arial"/>
              <a:sym typeface="Arial"/>
            </a:endParaRPr>
          </a:p>
        </p:txBody>
      </p:sp>
      <p:sp>
        <p:nvSpPr>
          <p:cNvPr id="332" name="Google Shape;332;p41"/>
          <p:cNvSpPr txBox="1"/>
          <p:nvPr/>
        </p:nvSpPr>
        <p:spPr>
          <a:xfrm>
            <a:off x="6539683" y="4231700"/>
            <a:ext cx="1731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400">
                <a:solidFill>
                  <a:srgbClr val="073763"/>
                </a:solidFill>
                <a:latin typeface="Times New Roman"/>
                <a:ea typeface="Times New Roman"/>
                <a:cs typeface="Times New Roman"/>
                <a:sym typeface="Times New Roman"/>
              </a:rPr>
              <a:t>y = B</a:t>
            </a:r>
            <a:r>
              <a:rPr baseline="-25000" i="1" lang="en" sz="2400">
                <a:solidFill>
                  <a:srgbClr val="073763"/>
                </a:solidFill>
                <a:latin typeface="Times New Roman"/>
                <a:ea typeface="Times New Roman"/>
                <a:cs typeface="Times New Roman"/>
                <a:sym typeface="Times New Roman"/>
              </a:rPr>
              <a:t>0</a:t>
            </a:r>
            <a:r>
              <a:rPr i="1" lang="en" sz="2400">
                <a:solidFill>
                  <a:srgbClr val="073763"/>
                </a:solidFill>
                <a:latin typeface="Times New Roman"/>
                <a:ea typeface="Times New Roman"/>
                <a:cs typeface="Times New Roman"/>
                <a:sym typeface="Times New Roman"/>
              </a:rPr>
              <a:t> + B</a:t>
            </a:r>
            <a:r>
              <a:rPr baseline="-25000" i="1" lang="en" sz="2400">
                <a:solidFill>
                  <a:srgbClr val="073763"/>
                </a:solidFill>
                <a:latin typeface="Times New Roman"/>
                <a:ea typeface="Times New Roman"/>
                <a:cs typeface="Times New Roman"/>
                <a:sym typeface="Times New Roman"/>
              </a:rPr>
              <a:t>1</a:t>
            </a:r>
            <a:r>
              <a:rPr i="1" lang="en" sz="2400">
                <a:solidFill>
                  <a:srgbClr val="073763"/>
                </a:solidFill>
                <a:latin typeface="Times New Roman"/>
                <a:ea typeface="Times New Roman"/>
                <a:cs typeface="Times New Roman"/>
                <a:sym typeface="Times New Roman"/>
              </a:rPr>
              <a:t>x</a:t>
            </a:r>
            <a:endParaRPr sz="1800">
              <a:solidFill>
                <a:schemeClr val="dk2"/>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Linear Regression</a:t>
            </a:r>
            <a:endParaRPr i="0" sz="2400" u="none" cap="none" strike="noStrike">
              <a:solidFill>
                <a:srgbClr val="613CB0"/>
              </a:solidFill>
              <a:latin typeface="Hind"/>
              <a:ea typeface="Hind"/>
              <a:cs typeface="Hind"/>
              <a:sym typeface="Hind"/>
            </a:endParaRPr>
          </a:p>
        </p:txBody>
      </p:sp>
      <p:pic>
        <p:nvPicPr>
          <p:cNvPr id="338" name="Google Shape;338;p42"/>
          <p:cNvPicPr preferRelativeResize="0"/>
          <p:nvPr/>
        </p:nvPicPr>
        <p:blipFill rotWithShape="1">
          <a:blip r:embed="rId3">
            <a:alphaModFix/>
          </a:blip>
          <a:srcRect b="0" l="0" r="0" t="0"/>
          <a:stretch/>
        </p:blipFill>
        <p:spPr>
          <a:xfrm>
            <a:off x="800725" y="1801511"/>
            <a:ext cx="2862825" cy="2831829"/>
          </a:xfrm>
          <a:prstGeom prst="rect">
            <a:avLst/>
          </a:prstGeom>
          <a:noFill/>
          <a:ln>
            <a:noFill/>
          </a:ln>
        </p:spPr>
      </p:pic>
      <p:sp>
        <p:nvSpPr>
          <p:cNvPr id="339" name="Google Shape;339;p42"/>
          <p:cNvSpPr txBox="1"/>
          <p:nvPr/>
        </p:nvSpPr>
        <p:spPr>
          <a:xfrm>
            <a:off x="994500" y="1152325"/>
            <a:ext cx="2475300" cy="327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000000"/>
                </a:solidFill>
                <a:latin typeface="Arial"/>
                <a:ea typeface="Arial"/>
                <a:cs typeface="Arial"/>
                <a:sym typeface="Arial"/>
              </a:rPr>
              <a:t>Function</a:t>
            </a:r>
            <a:endParaRPr b="1" i="0" sz="1800" u="none" cap="none" strike="noStrike">
              <a:solidFill>
                <a:srgbClr val="000000"/>
              </a:solidFill>
              <a:latin typeface="Arial"/>
              <a:ea typeface="Arial"/>
              <a:cs typeface="Arial"/>
              <a:sym typeface="Arial"/>
            </a:endParaRPr>
          </a:p>
        </p:txBody>
      </p:sp>
      <p:sp>
        <p:nvSpPr>
          <p:cNvPr id="340" name="Google Shape;340;p42"/>
          <p:cNvSpPr txBox="1"/>
          <p:nvPr/>
        </p:nvSpPr>
        <p:spPr>
          <a:xfrm>
            <a:off x="4956000" y="1801575"/>
            <a:ext cx="3790800" cy="2831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 … x</a:t>
            </a:r>
            <a:r>
              <a:rPr b="0" baseline="-25000" i="1" lang="en" sz="2400" u="none" cap="none" strike="noStrike">
                <a:solidFill>
                  <a:srgbClr val="434343"/>
                </a:solidFill>
                <a:latin typeface="Times New Roman"/>
                <a:ea typeface="Times New Roman"/>
                <a:cs typeface="Times New Roman"/>
                <a:sym typeface="Times New Roman"/>
              </a:rPr>
              <a:t>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500"/>
              </a:spcBef>
              <a:spcAft>
                <a:spcPts val="0"/>
              </a:spcAft>
              <a:buClr>
                <a:srgbClr val="000000"/>
              </a:buClr>
              <a:buSzPts val="2400"/>
              <a:buFont typeface="Arial"/>
              <a:buNone/>
            </a:pPr>
            <a:r>
              <a:rPr b="0" i="1" lang="en" sz="2400" u="none" cap="none" strike="noStrike">
                <a:solidFill>
                  <a:srgbClr val="434343"/>
                </a:solidFill>
                <a:latin typeface="Times New Roman"/>
                <a:ea typeface="Times New Roman"/>
                <a:cs typeface="Times New Roman"/>
                <a:sym typeface="Times New Roman"/>
              </a:rPr>
              <a:t>y = B</a:t>
            </a:r>
            <a:r>
              <a:rPr b="0" baseline="-25000" i="1" lang="en" sz="2400" u="none" cap="none" strike="noStrike">
                <a:solidFill>
                  <a:srgbClr val="434343"/>
                </a:solidFill>
                <a:latin typeface="Times New Roman"/>
                <a:ea typeface="Times New Roman"/>
                <a:cs typeface="Times New Roman"/>
                <a:sym typeface="Times New Roman"/>
              </a:rPr>
              <a:t>0</a:t>
            </a:r>
            <a:r>
              <a:rPr b="0" i="1" lang="en" sz="2400" u="none" cap="none" strike="noStrike">
                <a:solidFill>
                  <a:srgbClr val="434343"/>
                </a:solidFill>
                <a:latin typeface="Times New Roman"/>
                <a:ea typeface="Times New Roman"/>
                <a:cs typeface="Times New Roman"/>
                <a:sym typeface="Times New Roman"/>
              </a:rPr>
              <a:t> + B</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 + … + B</a:t>
            </a:r>
            <a:r>
              <a:rPr b="0" baseline="-25000" i="1" lang="en" sz="2400" u="none" cap="none" strike="noStrike">
                <a:solidFill>
                  <a:srgbClr val="434343"/>
                </a:solidFill>
                <a:latin typeface="Times New Roman"/>
                <a:ea typeface="Times New Roman"/>
                <a:cs typeface="Times New Roman"/>
                <a:sym typeface="Times New Roman"/>
              </a:rPr>
              <a:t>p</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p</a:t>
            </a:r>
            <a:endParaRPr b="0" baseline="-25000" i="1" sz="2400" u="none" cap="none" strike="noStrike">
              <a:solidFill>
                <a:srgbClr val="434343"/>
              </a:solidFill>
              <a:latin typeface="Times New Roman"/>
              <a:ea typeface="Times New Roman"/>
              <a:cs typeface="Times New Roman"/>
              <a:sym typeface="Times New Roman"/>
            </a:endParaRPr>
          </a:p>
          <a:p>
            <a:pPr indent="0" lvl="0" marL="0" marR="0" rtl="0" algn="ctr">
              <a:lnSpc>
                <a:spcPct val="100000"/>
              </a:lnSpc>
              <a:spcBef>
                <a:spcPts val="5500"/>
              </a:spcBef>
              <a:spcAft>
                <a:spcPts val="0"/>
              </a:spcAft>
              <a:buClr>
                <a:srgbClr val="000000"/>
              </a:buClr>
              <a:buSzPts val="2400"/>
              <a:buFont typeface="Arial"/>
              <a:buNone/>
            </a:pPr>
            <a:r>
              <a:rPr b="0" i="1" lang="en" sz="2400" u="none" cap="none" strike="noStrike">
                <a:solidFill>
                  <a:srgbClr val="434343"/>
                </a:solidFill>
                <a:latin typeface="Times New Roman"/>
                <a:ea typeface="Times New Roman"/>
                <a:cs typeface="Times New Roman"/>
                <a:sym typeface="Times New Roman"/>
              </a:rPr>
              <a:t>y</a:t>
            </a:r>
            <a:endParaRPr b="0" baseline="-25000" i="1" sz="2400" u="none" cap="none" strike="noStrike">
              <a:solidFill>
                <a:srgbClr val="434343"/>
              </a:solidFill>
              <a:latin typeface="Times New Roman"/>
              <a:ea typeface="Times New Roman"/>
              <a:cs typeface="Times New Roman"/>
              <a:sym typeface="Times New Roman"/>
            </a:endParaRPr>
          </a:p>
        </p:txBody>
      </p:sp>
      <p:cxnSp>
        <p:nvCxnSpPr>
          <p:cNvPr id="341" name="Google Shape;341;p42"/>
          <p:cNvCxnSpPr/>
          <p:nvPr/>
        </p:nvCxnSpPr>
        <p:spPr>
          <a:xfrm>
            <a:off x="3149250" y="2156925"/>
            <a:ext cx="2031600" cy="0"/>
          </a:xfrm>
          <a:prstGeom prst="straightConnector1">
            <a:avLst/>
          </a:prstGeom>
          <a:noFill/>
          <a:ln cap="flat" cmpd="sng" w="9525">
            <a:solidFill>
              <a:schemeClr val="dk2"/>
            </a:solidFill>
            <a:prstDash val="solid"/>
            <a:round/>
            <a:headEnd len="med" w="med" type="triangle"/>
            <a:tailEnd len="med" w="med" type="triangle"/>
          </a:ln>
        </p:spPr>
      </p:cxnSp>
      <p:cxnSp>
        <p:nvCxnSpPr>
          <p:cNvPr id="342" name="Google Shape;342;p42"/>
          <p:cNvCxnSpPr/>
          <p:nvPr/>
        </p:nvCxnSpPr>
        <p:spPr>
          <a:xfrm>
            <a:off x="3685950" y="3217425"/>
            <a:ext cx="1010100" cy="0"/>
          </a:xfrm>
          <a:prstGeom prst="straightConnector1">
            <a:avLst/>
          </a:prstGeom>
          <a:noFill/>
          <a:ln cap="flat" cmpd="sng" w="9525">
            <a:solidFill>
              <a:schemeClr val="dk2"/>
            </a:solidFill>
            <a:prstDash val="solid"/>
            <a:round/>
            <a:headEnd len="med" w="med" type="triangle"/>
            <a:tailEnd len="med" w="med" type="triangle"/>
          </a:ln>
        </p:spPr>
      </p:cxnSp>
      <p:cxnSp>
        <p:nvCxnSpPr>
          <p:cNvPr id="343" name="Google Shape;343;p42"/>
          <p:cNvCxnSpPr/>
          <p:nvPr/>
        </p:nvCxnSpPr>
        <p:spPr>
          <a:xfrm>
            <a:off x="4025700" y="4267075"/>
            <a:ext cx="1397400" cy="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3"/>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i="1" lang="en" sz="1600">
                <a:latin typeface="Helvetica Neue"/>
                <a:ea typeface="Helvetica Neue"/>
                <a:cs typeface="Helvetica Neue"/>
                <a:sym typeface="Helvetica Neue"/>
              </a:rPr>
              <a:t>Ordinary least squares </a:t>
            </a:r>
            <a:r>
              <a:rPr lang="en" sz="1600">
                <a:latin typeface="Helvetica Neue"/>
                <a:ea typeface="Helvetica Neue"/>
                <a:cs typeface="Helvetica Neue"/>
                <a:sym typeface="Helvetica Neue"/>
              </a:rPr>
              <a:t>method of linear regression calculates the weight vector </a:t>
            </a:r>
            <a:r>
              <a:rPr i="1" lang="en">
                <a:solidFill>
                  <a:srgbClr val="434343"/>
                </a:solidFill>
                <a:latin typeface="Times New Roman"/>
                <a:ea typeface="Times New Roman"/>
                <a:cs typeface="Times New Roman"/>
                <a:sym typeface="Times New Roman"/>
              </a:rPr>
              <a:t>B</a:t>
            </a:r>
            <a:r>
              <a:rPr lang="en" sz="1600">
                <a:latin typeface="Helvetica Neue"/>
                <a:ea typeface="Helvetica Neue"/>
                <a:cs typeface="Helvetica Neue"/>
                <a:sym typeface="Helvetica Neue"/>
              </a:rPr>
              <a:t> by minimizing the </a:t>
            </a:r>
            <a:r>
              <a:rPr b="1" lang="en" sz="1600">
                <a:latin typeface="Helvetica Neue"/>
                <a:ea typeface="Helvetica Neue"/>
                <a:cs typeface="Helvetica Neue"/>
                <a:sym typeface="Helvetica Neue"/>
              </a:rPr>
              <a:t>mean-squared error</a:t>
            </a:r>
            <a:r>
              <a:rPr lang="en" sz="1600">
                <a:latin typeface="Helvetica Neue"/>
                <a:ea typeface="Helvetica Neue"/>
                <a:cs typeface="Helvetica Neue"/>
                <a:sym typeface="Helvetica Neue"/>
              </a:rPr>
              <a:t> of the predicted y-values</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None/>
            </a:pPr>
            <a: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Other types of linear regression (i.e. ridge regression) use different </a:t>
            </a:r>
            <a:r>
              <a:rPr i="1" lang="en" sz="1600">
                <a:latin typeface="Helvetica Neue"/>
                <a:ea typeface="Helvetica Neue"/>
                <a:cs typeface="Helvetica Neue"/>
                <a:sym typeface="Helvetica Neue"/>
              </a:rPr>
              <a:t>loss functions </a:t>
            </a:r>
            <a:r>
              <a:rPr lang="en" sz="1600">
                <a:latin typeface="Helvetica Neue"/>
                <a:ea typeface="Helvetica Neue"/>
                <a:cs typeface="Helvetica Neue"/>
                <a:sym typeface="Helvetica Neue"/>
              </a:rPr>
              <a:t>to calculate the weights</a:t>
            </a:r>
            <a:endParaRPr sz="1600">
              <a:latin typeface="Helvetica Neue"/>
              <a:ea typeface="Helvetica Neue"/>
              <a:cs typeface="Helvetica Neue"/>
              <a:sym typeface="Helvetica Neue"/>
            </a:endParaRPr>
          </a:p>
        </p:txBody>
      </p:sp>
      <p:sp>
        <p:nvSpPr>
          <p:cNvPr id="349" name="Google Shape;349;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Linear Regression: Ordinary Least Squares</a:t>
            </a:r>
            <a:endParaRPr i="0" sz="2400" u="none" cap="none" strike="noStrike">
              <a:solidFill>
                <a:srgbClr val="613CB0"/>
              </a:solidFill>
              <a:latin typeface="Hind"/>
              <a:ea typeface="Hind"/>
              <a:cs typeface="Hind"/>
              <a:sym typeface="Hind"/>
            </a:endParaRPr>
          </a:p>
        </p:txBody>
      </p:sp>
      <p:pic>
        <p:nvPicPr>
          <p:cNvPr id="350" name="Google Shape;350;p43"/>
          <p:cNvPicPr preferRelativeResize="0"/>
          <p:nvPr/>
        </p:nvPicPr>
        <p:blipFill rotWithShape="1">
          <a:blip r:embed="rId3">
            <a:alphaModFix/>
          </a:blip>
          <a:srcRect b="0" l="0" r="0" t="0"/>
          <a:stretch/>
        </p:blipFill>
        <p:spPr>
          <a:xfrm>
            <a:off x="1085851" y="2997875"/>
            <a:ext cx="2179401" cy="2145625"/>
          </a:xfrm>
          <a:prstGeom prst="rect">
            <a:avLst/>
          </a:prstGeom>
          <a:noFill/>
          <a:ln>
            <a:noFill/>
          </a:ln>
        </p:spPr>
      </p:pic>
      <p:pic>
        <p:nvPicPr>
          <p:cNvPr id="351" name="Google Shape;351;p43"/>
          <p:cNvPicPr preferRelativeResize="0"/>
          <p:nvPr/>
        </p:nvPicPr>
        <p:blipFill rotWithShape="1">
          <a:blip r:embed="rId4">
            <a:alphaModFix/>
          </a:blip>
          <a:srcRect b="0" l="0" r="0" t="0"/>
          <a:stretch/>
        </p:blipFill>
        <p:spPr>
          <a:xfrm>
            <a:off x="4480200" y="2824925"/>
            <a:ext cx="3634374" cy="204436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5" name="Shape 355"/>
        <p:cNvGrpSpPr/>
        <p:nvPr/>
      </p:nvGrpSpPr>
      <p:grpSpPr>
        <a:xfrm>
          <a:off x="0" y="0"/>
          <a:ext cx="0" cy="0"/>
          <a:chOff x="0" y="0"/>
          <a:chExt cx="0" cy="0"/>
        </a:xfrm>
      </p:grpSpPr>
      <p:sp>
        <p:nvSpPr>
          <p:cNvPr id="356" name="Google Shape;356;p44"/>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Dataset of n training points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Datapoints: (</a:t>
            </a:r>
            <a:r>
              <a:rPr i="1" lang="en" sz="2400">
                <a:solidFill>
                  <a:srgbClr val="434343"/>
                </a:solidFill>
                <a:latin typeface="Times New Roman"/>
                <a:ea typeface="Times New Roman"/>
                <a:cs typeface="Times New Roman"/>
                <a:sym typeface="Times New Roman"/>
              </a:rPr>
              <a:t>𝚇</a:t>
            </a:r>
            <a:r>
              <a:rPr lang="en" sz="1600">
                <a:latin typeface="Helvetica Neue"/>
                <a:ea typeface="Helvetica Neue"/>
                <a:cs typeface="Helvetica Neue"/>
                <a:sym typeface="Helvetica Neue"/>
              </a:rPr>
              <a:t>,</a:t>
            </a:r>
            <a:r>
              <a:rPr i="1" lang="en" sz="2400">
                <a:solidFill>
                  <a:srgbClr val="434343"/>
                </a:solidFill>
                <a:latin typeface="Times New Roman"/>
                <a:ea typeface="Times New Roman"/>
                <a:cs typeface="Times New Roman"/>
                <a:sym typeface="Times New Roman"/>
              </a:rPr>
              <a:t>𝚈</a:t>
            </a:r>
            <a:r>
              <a:rPr baseline="-25000" i="1" lang="en" sz="2400">
                <a:solidFill>
                  <a:srgbClr val="434343"/>
                </a:solidFill>
                <a:latin typeface="Times New Roman"/>
                <a:ea typeface="Times New Roman"/>
                <a:cs typeface="Times New Roman"/>
                <a:sym typeface="Times New Roman"/>
              </a:rPr>
              <a:t>i</a:t>
            </a:r>
            <a:r>
              <a:rPr lang="en" sz="1600">
                <a:latin typeface="Helvetica Neue"/>
                <a:ea typeface="Helvetica Neue"/>
                <a:cs typeface="Helvetica Neue"/>
                <a:sym typeface="Helvetica Neue"/>
              </a:rPr>
              <a:t>) -&gt; (input, output)</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Objective: Minimize MSE</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AutoNum type="arabicPeriod"/>
            </a:pPr>
            <a:r>
              <a:rPr lang="en" sz="1600">
                <a:latin typeface="Helvetica Neue"/>
                <a:ea typeface="Helvetica Neue"/>
                <a:cs typeface="Helvetica Neue"/>
                <a:sym typeface="Helvetica Neue"/>
              </a:rPr>
              <a:t>Use the </a:t>
            </a:r>
            <a:r>
              <a:rPr i="1" lang="en" sz="2400">
                <a:solidFill>
                  <a:srgbClr val="434343"/>
                </a:solidFill>
                <a:latin typeface="Times New Roman"/>
                <a:ea typeface="Times New Roman"/>
                <a:cs typeface="Times New Roman"/>
                <a:sym typeface="Times New Roman"/>
              </a:rPr>
              <a:t>𝑥</a:t>
            </a:r>
            <a:r>
              <a:rPr lang="en" sz="1600">
                <a:latin typeface="Helvetica Neue"/>
                <a:ea typeface="Helvetica Neue"/>
                <a:cs typeface="Helvetica Neue"/>
                <a:sym typeface="Helvetica Neue"/>
              </a:rPr>
              <a:t> values in our dataset to make a prediction</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AutoNum type="alphaLcPeriod"/>
            </a:pPr>
            <a:r>
              <a:rPr lang="en" sz="1600">
                <a:latin typeface="Helvetica Neue"/>
                <a:ea typeface="Helvetica Neue"/>
                <a:cs typeface="Helvetica Neue"/>
                <a:sym typeface="Helvetica Neue"/>
              </a:rPr>
              <a:t>Note: </a:t>
            </a:r>
            <a:r>
              <a:rPr i="1" lang="en" sz="2400">
                <a:solidFill>
                  <a:srgbClr val="434343"/>
                </a:solidFill>
                <a:latin typeface="Times New Roman"/>
                <a:ea typeface="Times New Roman"/>
                <a:cs typeface="Times New Roman"/>
                <a:sym typeface="Times New Roman"/>
              </a:rPr>
              <a:t>𝑥</a:t>
            </a:r>
            <a:r>
              <a:rPr lang="en" sz="1600">
                <a:latin typeface="Helvetica Neue"/>
                <a:ea typeface="Helvetica Neue"/>
                <a:cs typeface="Helvetica Neue"/>
                <a:sym typeface="Helvetica Neue"/>
              </a:rPr>
              <a:t> is a vector</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AutoNum type="arabicPeriod"/>
            </a:pPr>
            <a:r>
              <a:rPr lang="en" sz="1600">
                <a:latin typeface="Helvetica Neue"/>
                <a:ea typeface="Helvetica Neue"/>
                <a:cs typeface="Helvetica Neue"/>
                <a:sym typeface="Helvetica Neue"/>
              </a:rPr>
              <a:t>Compare our prediction to the real </a:t>
            </a:r>
            <a:r>
              <a:rPr i="1" lang="en" sz="2400">
                <a:solidFill>
                  <a:srgbClr val="434343"/>
                </a:solidFill>
                <a:latin typeface="Times New Roman"/>
                <a:ea typeface="Times New Roman"/>
                <a:cs typeface="Times New Roman"/>
                <a:sym typeface="Times New Roman"/>
              </a:rPr>
              <a:t>𝚈</a:t>
            </a:r>
            <a:r>
              <a:rPr baseline="-25000" i="1" lang="en" sz="2400">
                <a:solidFill>
                  <a:srgbClr val="434343"/>
                </a:solidFill>
                <a:latin typeface="Times New Roman"/>
                <a:ea typeface="Times New Roman"/>
                <a:cs typeface="Times New Roman"/>
                <a:sym typeface="Times New Roman"/>
              </a:rPr>
              <a:t>i</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AutoNum type="arabicPeriod"/>
            </a:pPr>
            <a:r>
              <a:rPr i="1" lang="en" sz="1600">
                <a:latin typeface="Helvetica Neue"/>
                <a:ea typeface="Helvetica Neue"/>
                <a:cs typeface="Helvetica Neue"/>
                <a:sym typeface="Helvetica Neue"/>
              </a:rPr>
              <a:t>Update B to get a better prediction</a:t>
            </a:r>
            <a:endParaRPr i="1"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AutoNum type="alphaLcPeriod"/>
            </a:pPr>
            <a:r>
              <a:rPr lang="en" sz="1600">
                <a:latin typeface="Helvetica Neue"/>
                <a:ea typeface="Helvetica Neue"/>
                <a:cs typeface="Helvetica Neue"/>
                <a:sym typeface="Helvetica Neue"/>
              </a:rPr>
              <a:t>Special Algorithm: Gradient Descent</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AutoNum type="arabicPeriod"/>
            </a:pPr>
            <a:r>
              <a:rPr lang="en" sz="1600">
                <a:latin typeface="Helvetica Neue"/>
                <a:ea typeface="Helvetica Neue"/>
                <a:cs typeface="Helvetica Neue"/>
                <a:sym typeface="Helvetica Neue"/>
              </a:rPr>
              <a:t>Repeat until MSE is as small as possible</a:t>
            </a:r>
            <a:endParaRPr sz="1600">
              <a:latin typeface="Helvetica Neue"/>
              <a:ea typeface="Helvetica Neue"/>
              <a:cs typeface="Helvetica Neue"/>
              <a:sym typeface="Helvetica Neue"/>
            </a:endParaRPr>
          </a:p>
        </p:txBody>
      </p:sp>
      <p:sp>
        <p:nvSpPr>
          <p:cNvPr id="357" name="Google Shape;357;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“Training” a Model</a:t>
            </a:r>
            <a:endParaRPr i="0" sz="2400" u="none" cap="none" strike="noStrike">
              <a:solidFill>
                <a:srgbClr val="613CB0"/>
              </a:solidFill>
              <a:latin typeface="Hind"/>
              <a:ea typeface="Hind"/>
              <a:cs typeface="Hind"/>
              <a:sym typeface="Hind"/>
            </a:endParaRPr>
          </a:p>
        </p:txBody>
      </p:sp>
      <p:pic>
        <p:nvPicPr>
          <p:cNvPr id="358" name="Google Shape;358;p44"/>
          <p:cNvPicPr preferRelativeResize="0"/>
          <p:nvPr/>
        </p:nvPicPr>
        <p:blipFill rotWithShape="1">
          <a:blip r:embed="rId3">
            <a:alphaModFix/>
          </a:blip>
          <a:srcRect b="0" l="0" r="0" t="0"/>
          <a:stretch/>
        </p:blipFill>
        <p:spPr>
          <a:xfrm>
            <a:off x="5912301" y="208650"/>
            <a:ext cx="2179401" cy="2145625"/>
          </a:xfrm>
          <a:prstGeom prst="rect">
            <a:avLst/>
          </a:prstGeom>
          <a:noFill/>
          <a:ln>
            <a:noFill/>
          </a:ln>
        </p:spPr>
      </p:pic>
      <p:pic>
        <p:nvPicPr>
          <p:cNvPr id="359" name="Google Shape;359;p44"/>
          <p:cNvPicPr preferRelativeResize="0"/>
          <p:nvPr/>
        </p:nvPicPr>
        <p:blipFill rotWithShape="1">
          <a:blip r:embed="rId4">
            <a:alphaModFix/>
          </a:blip>
          <a:srcRect b="0" l="0" r="0" t="0"/>
          <a:stretch/>
        </p:blipFill>
        <p:spPr>
          <a:xfrm>
            <a:off x="5070925" y="3090525"/>
            <a:ext cx="3020775" cy="1699199"/>
          </a:xfrm>
          <a:prstGeom prst="rect">
            <a:avLst/>
          </a:prstGeom>
          <a:noFill/>
          <a:ln>
            <a:noFill/>
          </a:ln>
        </p:spPr>
      </p:pic>
      <p:sp>
        <p:nvSpPr>
          <p:cNvPr id="360" name="Google Shape;360;p44"/>
          <p:cNvSpPr txBox="1"/>
          <p:nvPr/>
        </p:nvSpPr>
        <p:spPr>
          <a:xfrm>
            <a:off x="4535700" y="2700125"/>
            <a:ext cx="43494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0" i="1" lang="en" sz="2400" u="none" cap="none" strike="noStrike">
                <a:solidFill>
                  <a:srgbClr val="434343"/>
                </a:solidFill>
                <a:latin typeface="Times New Roman"/>
                <a:ea typeface="Times New Roman"/>
                <a:cs typeface="Times New Roman"/>
                <a:sym typeface="Times New Roman"/>
              </a:rPr>
              <a:t>Ŷ</a:t>
            </a:r>
            <a:r>
              <a:rPr b="0" baseline="-25000" i="1" lang="en" sz="2400" u="none" cap="none" strike="noStrike">
                <a:solidFill>
                  <a:srgbClr val="434343"/>
                </a:solidFill>
                <a:latin typeface="Times New Roman"/>
                <a:ea typeface="Times New Roman"/>
                <a:cs typeface="Times New Roman"/>
                <a:sym typeface="Times New Roman"/>
              </a:rPr>
              <a:t>i</a:t>
            </a:r>
            <a:r>
              <a:rPr b="0" i="1" lang="en" sz="2400" u="none" cap="none" strike="noStrike">
                <a:solidFill>
                  <a:srgbClr val="434343"/>
                </a:solidFill>
                <a:latin typeface="Times New Roman"/>
                <a:ea typeface="Times New Roman"/>
                <a:cs typeface="Times New Roman"/>
                <a:sym typeface="Times New Roman"/>
              </a:rPr>
              <a:t>= B</a:t>
            </a:r>
            <a:r>
              <a:rPr b="0" baseline="-25000" i="1" lang="en" sz="2400" u="none" cap="none" strike="noStrike">
                <a:solidFill>
                  <a:srgbClr val="434343"/>
                </a:solidFill>
                <a:latin typeface="Times New Roman"/>
                <a:ea typeface="Times New Roman"/>
                <a:cs typeface="Times New Roman"/>
                <a:sym typeface="Times New Roman"/>
              </a:rPr>
              <a:t>0</a:t>
            </a:r>
            <a:r>
              <a:rPr b="0" i="1" lang="en" sz="2400" u="none" cap="none" strike="noStrike">
                <a:solidFill>
                  <a:srgbClr val="434343"/>
                </a:solidFill>
                <a:latin typeface="Times New Roman"/>
                <a:ea typeface="Times New Roman"/>
                <a:cs typeface="Times New Roman"/>
                <a:sym typeface="Times New Roman"/>
              </a:rPr>
              <a:t> + B</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1</a:t>
            </a:r>
            <a:r>
              <a:rPr b="0" i="1" lang="en" sz="2400" u="none" cap="none" strike="noStrike">
                <a:solidFill>
                  <a:srgbClr val="434343"/>
                </a:solidFill>
                <a:latin typeface="Times New Roman"/>
                <a:ea typeface="Times New Roman"/>
                <a:cs typeface="Times New Roman"/>
                <a:sym typeface="Times New Roman"/>
              </a:rPr>
              <a:t> + … + B</a:t>
            </a:r>
            <a:r>
              <a:rPr b="0" baseline="-25000" i="1" lang="en" sz="2400" u="none" cap="none" strike="noStrike">
                <a:solidFill>
                  <a:srgbClr val="434343"/>
                </a:solidFill>
                <a:latin typeface="Times New Roman"/>
                <a:ea typeface="Times New Roman"/>
                <a:cs typeface="Times New Roman"/>
                <a:sym typeface="Times New Roman"/>
              </a:rPr>
              <a:t>p</a:t>
            </a:r>
            <a:r>
              <a:rPr b="0" i="1" lang="en" sz="2400" u="none" cap="none" strike="noStrike">
                <a:solidFill>
                  <a:srgbClr val="434343"/>
                </a:solidFill>
                <a:latin typeface="Times New Roman"/>
                <a:ea typeface="Times New Roman"/>
                <a:cs typeface="Times New Roman"/>
                <a:sym typeface="Times New Roman"/>
              </a:rPr>
              <a:t>x</a:t>
            </a:r>
            <a:r>
              <a:rPr b="0" baseline="-25000" i="1" lang="en" sz="2400" u="none" cap="none" strike="noStrike">
                <a:solidFill>
                  <a:srgbClr val="434343"/>
                </a:solidFill>
                <a:latin typeface="Times New Roman"/>
                <a:ea typeface="Times New Roman"/>
                <a:cs typeface="Times New Roman"/>
                <a:sym typeface="Times New Roman"/>
              </a:rPr>
              <a:t>p</a:t>
            </a:r>
            <a:r>
              <a:rPr b="0" i="1" lang="en" sz="2400" u="none" cap="none" strike="noStrike">
                <a:solidFill>
                  <a:srgbClr val="434343"/>
                </a:solidFill>
                <a:latin typeface="Times New Roman"/>
                <a:ea typeface="Times New Roman"/>
                <a:cs typeface="Times New Roman"/>
                <a:sym typeface="Times New Roman"/>
              </a:rPr>
              <a:t>+ </a:t>
            </a:r>
            <a:r>
              <a:rPr b="0" i="1" lang="en" sz="2400" u="none" cap="none" strike="noStrike">
                <a:solidFill>
                  <a:srgbClr val="434343"/>
                </a:solidFill>
                <a:highlight>
                  <a:srgbClr val="FFFFFF"/>
                </a:highlight>
                <a:latin typeface="Times New Roman"/>
                <a:ea typeface="Times New Roman"/>
                <a:cs typeface="Times New Roman"/>
                <a:sym typeface="Times New Roman"/>
              </a:rPr>
              <a:t>ε</a:t>
            </a:r>
            <a:endParaRPr b="0" i="0" sz="2000" u="none" cap="none" strike="noStrike">
              <a:solidFill>
                <a:srgbClr val="595959"/>
              </a:solidFill>
              <a:latin typeface="Hind"/>
              <a:ea typeface="Hind"/>
              <a:cs typeface="Hind"/>
              <a:sym typeface="Hind"/>
            </a:endParaRPr>
          </a:p>
        </p:txBody>
      </p:sp>
      <p:cxnSp>
        <p:nvCxnSpPr>
          <p:cNvPr id="361" name="Google Shape;361;p44"/>
          <p:cNvCxnSpPr/>
          <p:nvPr/>
        </p:nvCxnSpPr>
        <p:spPr>
          <a:xfrm>
            <a:off x="3601350" y="2639800"/>
            <a:ext cx="1260900" cy="244800"/>
          </a:xfrm>
          <a:prstGeom prst="straightConnector1">
            <a:avLst/>
          </a:prstGeom>
          <a:noFill/>
          <a:ln cap="flat" cmpd="sng" w="9525">
            <a:solidFill>
              <a:srgbClr val="FF0000"/>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What’s Machine Learning?</a:t>
            </a:r>
            <a:r>
              <a:rPr lang="en" sz="2400">
                <a:solidFill>
                  <a:srgbClr val="1C4587"/>
                </a:solidFill>
                <a:latin typeface="Hind"/>
                <a:ea typeface="Hind"/>
                <a:cs typeface="Hind"/>
                <a:sym typeface="Hind"/>
              </a:rPr>
              <a:t> </a:t>
            </a:r>
            <a:r>
              <a:rPr b="0" lang="en" sz="1600">
                <a:solidFill>
                  <a:schemeClr val="dk2"/>
                </a:solidFill>
              </a:rPr>
              <a:t>Part 4: What makes a </a:t>
            </a:r>
            <a:r>
              <a:rPr b="0" i="1" lang="en" sz="1600">
                <a:solidFill>
                  <a:schemeClr val="dk2"/>
                </a:solidFill>
              </a:rPr>
              <a:t>good</a:t>
            </a:r>
            <a:r>
              <a:rPr b="0" lang="en" sz="1600">
                <a:solidFill>
                  <a:schemeClr val="dk2"/>
                </a:solidFill>
              </a:rPr>
              <a:t> model?</a:t>
            </a:r>
            <a:endParaRPr sz="2400" u="none" cap="none" strike="noStrike">
              <a:solidFill>
                <a:srgbClr val="1C4587"/>
              </a:solidFill>
              <a:latin typeface="Hind"/>
              <a:ea typeface="Hind"/>
              <a:cs typeface="Hind"/>
              <a:sym typeface="Hind"/>
            </a:endParaRPr>
          </a:p>
        </p:txBody>
      </p:sp>
      <p:pic>
        <p:nvPicPr>
          <p:cNvPr id="367" name="Google Shape;367;p45"/>
          <p:cNvPicPr preferRelativeResize="0"/>
          <p:nvPr/>
        </p:nvPicPr>
        <p:blipFill rotWithShape="1">
          <a:blip r:embed="rId3">
            <a:alphaModFix/>
          </a:blip>
          <a:srcRect b="0" l="0" r="0" t="0"/>
          <a:stretch/>
        </p:blipFill>
        <p:spPr>
          <a:xfrm>
            <a:off x="2693375" y="1104500"/>
            <a:ext cx="3450250" cy="3450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Terminology: Training and Validating</a:t>
            </a:r>
            <a:endParaRPr i="0" sz="2400" u="none" cap="none" strike="noStrike">
              <a:solidFill>
                <a:srgbClr val="613CB0"/>
              </a:solidFill>
              <a:latin typeface="Hind"/>
              <a:ea typeface="Hind"/>
              <a:cs typeface="Hind"/>
              <a:sym typeface="Hind"/>
            </a:endParaRPr>
          </a:p>
        </p:txBody>
      </p:sp>
      <p:sp>
        <p:nvSpPr>
          <p:cNvPr id="373" name="Google Shape;373;p46"/>
          <p:cNvSpPr txBox="1"/>
          <p:nvPr>
            <p:ph idx="1" type="body"/>
          </p:nvPr>
        </p:nvSpPr>
        <p:spPr>
          <a:xfrm>
            <a:off x="311700" y="1187750"/>
            <a:ext cx="8520600" cy="3381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Split data into two sets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Train model on one, validate on the other </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“Model training” = learn a relationship/program</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e.g. give the linear regression data so it can define the </a:t>
            </a:r>
            <a:r>
              <a:rPr i="1" lang="en" sz="1800">
                <a:latin typeface="Times New Roman"/>
                <a:ea typeface="Times New Roman"/>
                <a:cs typeface="Times New Roman"/>
                <a:sym typeface="Times New Roman"/>
              </a:rPr>
              <a:t>B</a:t>
            </a:r>
            <a:r>
              <a:rPr lang="en" sz="1600">
                <a:latin typeface="Helvetica Neue"/>
                <a:ea typeface="Helvetica Neue"/>
                <a:cs typeface="Helvetica Neue"/>
                <a:sym typeface="Helvetica Neue"/>
              </a:rPr>
              <a:t>’s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“Model validation” = see if the learned relationship is accurate on other data</a:t>
            </a:r>
            <a:endParaRPr sz="1600">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600">
              <a:latin typeface="Helvetica Neue"/>
              <a:ea typeface="Helvetica Neue"/>
              <a:cs typeface="Helvetica Neue"/>
              <a:sym typeface="Helvetica Neue"/>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7"/>
          <p:cNvSpPr txBox="1"/>
          <p:nvPr/>
        </p:nvSpPr>
        <p:spPr>
          <a:xfrm>
            <a:off x="296025" y="2471250"/>
            <a:ext cx="1374000" cy="49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Training Data &amp; Output</a:t>
            </a:r>
            <a:endParaRPr b="1" i="0" sz="1400" u="none" cap="none" strike="noStrike">
              <a:solidFill>
                <a:srgbClr val="000000"/>
              </a:solidFill>
              <a:latin typeface="Arial"/>
              <a:ea typeface="Arial"/>
              <a:cs typeface="Arial"/>
              <a:sym typeface="Arial"/>
            </a:endParaRPr>
          </a:p>
        </p:txBody>
      </p:sp>
      <p:sp>
        <p:nvSpPr>
          <p:cNvPr id="379" name="Google Shape;379;p47"/>
          <p:cNvSpPr txBox="1"/>
          <p:nvPr/>
        </p:nvSpPr>
        <p:spPr>
          <a:xfrm>
            <a:off x="235025" y="3096400"/>
            <a:ext cx="13740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ML Algorithm</a:t>
            </a:r>
            <a:endParaRPr b="1" i="0" sz="1400" u="none" cap="none" strike="noStrike">
              <a:solidFill>
                <a:srgbClr val="000000"/>
              </a:solidFill>
              <a:latin typeface="Arial"/>
              <a:ea typeface="Arial"/>
              <a:cs typeface="Arial"/>
              <a:sym typeface="Arial"/>
            </a:endParaRPr>
          </a:p>
        </p:txBody>
      </p:sp>
      <p:sp>
        <p:nvSpPr>
          <p:cNvPr id="380" name="Google Shape;380;p47"/>
          <p:cNvSpPr/>
          <p:nvPr/>
        </p:nvSpPr>
        <p:spPr>
          <a:xfrm>
            <a:off x="1578429" y="2744061"/>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47"/>
          <p:cNvSpPr/>
          <p:nvPr/>
        </p:nvSpPr>
        <p:spPr>
          <a:xfrm>
            <a:off x="1578326" y="3215316"/>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47"/>
          <p:cNvSpPr/>
          <p:nvPr/>
        </p:nvSpPr>
        <p:spPr>
          <a:xfrm>
            <a:off x="1949604" y="2590547"/>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7"/>
          <p:cNvSpPr/>
          <p:nvPr/>
        </p:nvSpPr>
        <p:spPr>
          <a:xfrm>
            <a:off x="2948253" y="2977048"/>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7"/>
          <p:cNvSpPr txBox="1"/>
          <p:nvPr/>
        </p:nvSpPr>
        <p:spPr>
          <a:xfrm>
            <a:off x="3346150" y="2880825"/>
            <a:ext cx="1017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Function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(Model)</a:t>
            </a:r>
            <a:endParaRPr b="1" i="0" sz="1400" u="none" cap="none" strike="noStrike">
              <a:solidFill>
                <a:srgbClr val="000000"/>
              </a:solidFill>
              <a:latin typeface="Arial"/>
              <a:ea typeface="Arial"/>
              <a:cs typeface="Arial"/>
              <a:sym typeface="Arial"/>
            </a:endParaRPr>
          </a:p>
        </p:txBody>
      </p:sp>
      <p:sp>
        <p:nvSpPr>
          <p:cNvPr id="385" name="Google Shape;385;p47"/>
          <p:cNvSpPr txBox="1"/>
          <p:nvPr/>
        </p:nvSpPr>
        <p:spPr>
          <a:xfrm>
            <a:off x="3308025" y="2223425"/>
            <a:ext cx="10998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Validation Data</a:t>
            </a:r>
            <a:endParaRPr b="1" i="0" sz="1400" u="none" cap="none" strike="noStrike">
              <a:solidFill>
                <a:srgbClr val="000000"/>
              </a:solidFill>
              <a:latin typeface="Arial"/>
              <a:ea typeface="Arial"/>
              <a:cs typeface="Arial"/>
              <a:sym typeface="Arial"/>
            </a:endParaRPr>
          </a:p>
        </p:txBody>
      </p:sp>
      <p:sp>
        <p:nvSpPr>
          <p:cNvPr id="386" name="Google Shape;386;p47"/>
          <p:cNvSpPr txBox="1"/>
          <p:nvPr>
            <p:ph type="title"/>
          </p:nvPr>
        </p:nvSpPr>
        <p:spPr>
          <a:xfrm>
            <a:off x="1816100" y="2042375"/>
            <a:ext cx="12108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Training</a:t>
            </a:r>
            <a:endParaRPr b="1" i="0" sz="2000" u="none" cap="none" strike="noStrike">
              <a:solidFill>
                <a:srgbClr val="20124D"/>
              </a:solidFill>
              <a:latin typeface="Hind"/>
              <a:ea typeface="Hind"/>
              <a:cs typeface="Hind"/>
              <a:sym typeface="Hind"/>
            </a:endParaRPr>
          </a:p>
        </p:txBody>
      </p:sp>
      <p:sp>
        <p:nvSpPr>
          <p:cNvPr id="387" name="Google Shape;387;p47"/>
          <p:cNvSpPr/>
          <p:nvPr/>
        </p:nvSpPr>
        <p:spPr>
          <a:xfrm>
            <a:off x="4260877" y="2565912"/>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7"/>
          <p:cNvSpPr/>
          <p:nvPr/>
        </p:nvSpPr>
        <p:spPr>
          <a:xfrm>
            <a:off x="4260774" y="2992980"/>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7"/>
          <p:cNvSpPr/>
          <p:nvPr/>
        </p:nvSpPr>
        <p:spPr>
          <a:xfrm>
            <a:off x="4632052" y="2412398"/>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7"/>
          <p:cNvSpPr txBox="1"/>
          <p:nvPr/>
        </p:nvSpPr>
        <p:spPr>
          <a:xfrm>
            <a:off x="4614419" y="2823319"/>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Computer</a:t>
            </a:r>
            <a:endParaRPr b="1" i="0" sz="1400" u="none" cap="none" strike="noStrike">
              <a:solidFill>
                <a:srgbClr val="000000"/>
              </a:solidFill>
              <a:latin typeface="Arial"/>
              <a:ea typeface="Arial"/>
              <a:cs typeface="Arial"/>
              <a:sym typeface="Arial"/>
            </a:endParaRPr>
          </a:p>
        </p:txBody>
      </p:sp>
      <p:sp>
        <p:nvSpPr>
          <p:cNvPr id="391" name="Google Shape;391;p47"/>
          <p:cNvSpPr/>
          <p:nvPr/>
        </p:nvSpPr>
        <p:spPr>
          <a:xfrm>
            <a:off x="5706901" y="2798899"/>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7"/>
          <p:cNvSpPr txBox="1"/>
          <p:nvPr/>
        </p:nvSpPr>
        <p:spPr>
          <a:xfrm>
            <a:off x="6049951" y="2704175"/>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Computed</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393" name="Google Shape;393;p47"/>
          <p:cNvSpPr txBox="1"/>
          <p:nvPr>
            <p:ph type="title"/>
          </p:nvPr>
        </p:nvSpPr>
        <p:spPr>
          <a:xfrm>
            <a:off x="4479475" y="1853300"/>
            <a:ext cx="14898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Validation</a:t>
            </a:r>
            <a:endParaRPr b="1" i="0" sz="2000" u="none" cap="none" strike="noStrike">
              <a:solidFill>
                <a:srgbClr val="20124D"/>
              </a:solidFill>
              <a:latin typeface="Hind"/>
              <a:ea typeface="Hind"/>
              <a:cs typeface="Hind"/>
              <a:sym typeface="Hind"/>
            </a:endParaRPr>
          </a:p>
        </p:txBody>
      </p:sp>
      <p:sp>
        <p:nvSpPr>
          <p:cNvPr id="394" name="Google Shape;394;p47"/>
          <p:cNvSpPr txBox="1"/>
          <p:nvPr/>
        </p:nvSpPr>
        <p:spPr>
          <a:xfrm>
            <a:off x="7524551" y="2722600"/>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Validation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395" name="Google Shape;395;p47"/>
          <p:cNvSpPr txBox="1"/>
          <p:nvPr/>
        </p:nvSpPr>
        <p:spPr>
          <a:xfrm>
            <a:off x="7008855" y="2733271"/>
            <a:ext cx="5904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VS</a:t>
            </a:r>
            <a:endParaRPr b="1" i="0" sz="1400" u="none" cap="none" strike="noStrike">
              <a:solidFill>
                <a:srgbClr val="000000"/>
              </a:solidFill>
              <a:latin typeface="Arial"/>
              <a:ea typeface="Arial"/>
              <a:cs typeface="Arial"/>
              <a:sym typeface="Arial"/>
            </a:endParaRPr>
          </a:p>
        </p:txBody>
      </p:sp>
      <p:sp>
        <p:nvSpPr>
          <p:cNvPr id="396" name="Google Shape;396;p47"/>
          <p:cNvSpPr/>
          <p:nvPr/>
        </p:nvSpPr>
        <p:spPr>
          <a:xfrm flipH="1">
            <a:off x="1002850" y="1047175"/>
            <a:ext cx="6392100" cy="1387500"/>
          </a:xfrm>
          <a:prstGeom prst="uturnArrow">
            <a:avLst>
              <a:gd fmla="val 5383" name="adj1"/>
              <a:gd fmla="val 7686" name="adj2"/>
              <a:gd fmla="val 11063" name="adj3"/>
              <a:gd fmla="val 43750" name="adj4"/>
              <a:gd fmla="val 99979" name="adj5"/>
            </a:avLst>
          </a:prstGeom>
          <a:noFill/>
          <a:ln cap="flat" cmpd="sng" w="3810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7"/>
          <p:cNvSpPr txBox="1"/>
          <p:nvPr>
            <p:ph type="title"/>
          </p:nvPr>
        </p:nvSpPr>
        <p:spPr>
          <a:xfrm>
            <a:off x="311700" y="318600"/>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2400">
                <a:solidFill>
                  <a:srgbClr val="613CB0"/>
                </a:solidFill>
                <a:latin typeface="Hind"/>
                <a:ea typeface="Hind"/>
                <a:cs typeface="Hind"/>
                <a:sym typeface="Hind"/>
              </a:rPr>
              <a:t>Our ML Workflow</a:t>
            </a:r>
            <a:endParaRPr b="1" i="0" sz="2400" u="none" cap="none" strike="noStrike">
              <a:solidFill>
                <a:srgbClr val="613CB0"/>
              </a:solidFill>
              <a:latin typeface="Hind"/>
              <a:ea typeface="Hind"/>
              <a:cs typeface="Hind"/>
              <a:sym typeface="Hind"/>
            </a:endParaRPr>
          </a:p>
        </p:txBody>
      </p:sp>
      <p:sp>
        <p:nvSpPr>
          <p:cNvPr id="398" name="Google Shape;398;p47"/>
          <p:cNvSpPr txBox="1"/>
          <p:nvPr/>
        </p:nvSpPr>
        <p:spPr>
          <a:xfrm>
            <a:off x="1937744" y="2964369"/>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Computer</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8"/>
          <p:cNvSpPr/>
          <p:nvPr/>
        </p:nvSpPr>
        <p:spPr>
          <a:xfrm>
            <a:off x="5814300" y="1616375"/>
            <a:ext cx="2787000" cy="1156500"/>
          </a:xfrm>
          <a:prstGeom prst="ellipse">
            <a:avLst/>
          </a:prstGeom>
          <a:solidFill>
            <a:srgbClr val="D9D2E9"/>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8"/>
          <p:cNvSpPr/>
          <p:nvPr/>
        </p:nvSpPr>
        <p:spPr>
          <a:xfrm>
            <a:off x="1873404" y="1752347"/>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a:off x="2872053" y="2138848"/>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8"/>
          <p:cNvSpPr txBox="1"/>
          <p:nvPr/>
        </p:nvSpPr>
        <p:spPr>
          <a:xfrm>
            <a:off x="3269948" y="2042635"/>
            <a:ext cx="9438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Function (Model)</a:t>
            </a:r>
            <a:endParaRPr b="1" i="0" sz="1400" u="none" cap="none" strike="noStrike">
              <a:solidFill>
                <a:srgbClr val="000000"/>
              </a:solidFill>
              <a:latin typeface="Arial"/>
              <a:ea typeface="Arial"/>
              <a:cs typeface="Arial"/>
              <a:sym typeface="Arial"/>
            </a:endParaRPr>
          </a:p>
        </p:txBody>
      </p:sp>
      <p:sp>
        <p:nvSpPr>
          <p:cNvPr id="407" name="Google Shape;407;p48"/>
          <p:cNvSpPr txBox="1"/>
          <p:nvPr>
            <p:ph type="title"/>
          </p:nvPr>
        </p:nvSpPr>
        <p:spPr>
          <a:xfrm>
            <a:off x="1816100" y="1280375"/>
            <a:ext cx="12108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Training</a:t>
            </a:r>
            <a:endParaRPr b="1" i="0" sz="2000" u="none" cap="none" strike="noStrike">
              <a:solidFill>
                <a:srgbClr val="20124D"/>
              </a:solidFill>
              <a:latin typeface="Hind"/>
              <a:ea typeface="Hind"/>
              <a:cs typeface="Hind"/>
              <a:sym typeface="Hind"/>
            </a:endParaRPr>
          </a:p>
        </p:txBody>
      </p:sp>
      <p:sp>
        <p:nvSpPr>
          <p:cNvPr id="408" name="Google Shape;408;p48"/>
          <p:cNvSpPr/>
          <p:nvPr/>
        </p:nvSpPr>
        <p:spPr>
          <a:xfrm>
            <a:off x="4184574" y="2154780"/>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8"/>
          <p:cNvSpPr/>
          <p:nvPr/>
        </p:nvSpPr>
        <p:spPr>
          <a:xfrm>
            <a:off x="4555852" y="1574198"/>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48"/>
          <p:cNvSpPr/>
          <p:nvPr/>
        </p:nvSpPr>
        <p:spPr>
          <a:xfrm>
            <a:off x="5630701" y="1960699"/>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txBox="1"/>
          <p:nvPr/>
        </p:nvSpPr>
        <p:spPr>
          <a:xfrm>
            <a:off x="5973751" y="1865975"/>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Computed</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12" name="Google Shape;412;p48"/>
          <p:cNvSpPr txBox="1"/>
          <p:nvPr>
            <p:ph type="title"/>
          </p:nvPr>
        </p:nvSpPr>
        <p:spPr>
          <a:xfrm>
            <a:off x="4403275" y="1091300"/>
            <a:ext cx="14352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Validation</a:t>
            </a:r>
            <a:endParaRPr b="1" i="0" sz="2000" u="none" cap="none" strike="noStrike">
              <a:solidFill>
                <a:srgbClr val="20124D"/>
              </a:solidFill>
              <a:latin typeface="Hind"/>
              <a:ea typeface="Hind"/>
              <a:cs typeface="Hind"/>
              <a:sym typeface="Hind"/>
            </a:endParaRPr>
          </a:p>
        </p:txBody>
      </p:sp>
      <p:sp>
        <p:nvSpPr>
          <p:cNvPr id="413" name="Google Shape;413;p48"/>
          <p:cNvSpPr txBox="1"/>
          <p:nvPr/>
        </p:nvSpPr>
        <p:spPr>
          <a:xfrm>
            <a:off x="7448351" y="1884400"/>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Validation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14" name="Google Shape;414;p48"/>
          <p:cNvSpPr txBox="1"/>
          <p:nvPr/>
        </p:nvSpPr>
        <p:spPr>
          <a:xfrm>
            <a:off x="6932655" y="1895071"/>
            <a:ext cx="5904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VS</a:t>
            </a:r>
            <a:endParaRPr b="1" i="0" sz="1400" u="none" cap="none" strike="noStrike">
              <a:solidFill>
                <a:srgbClr val="000000"/>
              </a:solidFill>
              <a:latin typeface="Arial"/>
              <a:ea typeface="Arial"/>
              <a:cs typeface="Arial"/>
              <a:sym typeface="Arial"/>
            </a:endParaRPr>
          </a:p>
        </p:txBody>
      </p:sp>
      <p:sp>
        <p:nvSpPr>
          <p:cNvPr id="415" name="Google Shape;415;p48"/>
          <p:cNvSpPr/>
          <p:nvPr/>
        </p:nvSpPr>
        <p:spPr>
          <a:xfrm flipH="1">
            <a:off x="926650" y="437575"/>
            <a:ext cx="6392100" cy="1387500"/>
          </a:xfrm>
          <a:prstGeom prst="uturnArrow">
            <a:avLst>
              <a:gd fmla="val 5383" name="adj1"/>
              <a:gd fmla="val 7686" name="adj2"/>
              <a:gd fmla="val 11063" name="adj3"/>
              <a:gd fmla="val 43750" name="adj4"/>
              <a:gd fmla="val 99979" name="adj5"/>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9900"/>
              </a:highlight>
              <a:latin typeface="Arial"/>
              <a:ea typeface="Arial"/>
              <a:cs typeface="Arial"/>
              <a:sym typeface="Arial"/>
            </a:endParaRPr>
          </a:p>
        </p:txBody>
      </p:sp>
      <p:sp>
        <p:nvSpPr>
          <p:cNvPr id="416" name="Google Shape;416;p48"/>
          <p:cNvSpPr txBox="1"/>
          <p:nvPr/>
        </p:nvSpPr>
        <p:spPr>
          <a:xfrm>
            <a:off x="800600" y="1752350"/>
            <a:ext cx="7926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93C47D"/>
                </a:solidFill>
                <a:latin typeface="Arial"/>
                <a:ea typeface="Arial"/>
                <a:cs typeface="Arial"/>
                <a:sym typeface="Arial"/>
              </a:rPr>
              <a:t>Train Data &amp; Output</a:t>
            </a:r>
            <a:endParaRPr b="1" i="0" sz="1400" u="none" cap="none" strike="noStrike">
              <a:solidFill>
                <a:srgbClr val="93C47D"/>
              </a:solidFill>
              <a:latin typeface="Arial"/>
              <a:ea typeface="Arial"/>
              <a:cs typeface="Arial"/>
              <a:sym typeface="Arial"/>
            </a:endParaRPr>
          </a:p>
        </p:txBody>
      </p:sp>
      <p:sp>
        <p:nvSpPr>
          <p:cNvPr id="417" name="Google Shape;417;p48"/>
          <p:cNvSpPr/>
          <p:nvPr/>
        </p:nvSpPr>
        <p:spPr>
          <a:xfrm>
            <a:off x="1565354" y="2042761"/>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8"/>
          <p:cNvSpPr txBox="1"/>
          <p:nvPr/>
        </p:nvSpPr>
        <p:spPr>
          <a:xfrm>
            <a:off x="3269950" y="1461425"/>
            <a:ext cx="10617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93C47D"/>
                </a:solidFill>
                <a:latin typeface="Arial"/>
                <a:ea typeface="Arial"/>
                <a:cs typeface="Arial"/>
                <a:sym typeface="Arial"/>
              </a:rPr>
              <a:t>Validation Data</a:t>
            </a:r>
            <a:endParaRPr b="1" i="0" sz="1400" u="none" cap="none" strike="noStrike">
              <a:solidFill>
                <a:srgbClr val="93C47D"/>
              </a:solidFill>
              <a:latin typeface="Arial"/>
              <a:ea typeface="Arial"/>
              <a:cs typeface="Arial"/>
              <a:sym typeface="Arial"/>
            </a:endParaRPr>
          </a:p>
        </p:txBody>
      </p:sp>
      <p:sp>
        <p:nvSpPr>
          <p:cNvPr id="419" name="Google Shape;419;p48"/>
          <p:cNvSpPr/>
          <p:nvPr/>
        </p:nvSpPr>
        <p:spPr>
          <a:xfrm>
            <a:off x="4240949" y="1776343"/>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8"/>
          <p:cNvSpPr txBox="1"/>
          <p:nvPr/>
        </p:nvSpPr>
        <p:spPr>
          <a:xfrm>
            <a:off x="1720038" y="3593388"/>
            <a:ext cx="4360800" cy="4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2.  Assess model accuracy</a:t>
            </a:r>
            <a:endParaRPr b="1" i="0" sz="2400" u="none" cap="none" strike="noStrike">
              <a:solidFill>
                <a:srgbClr val="674EA7"/>
              </a:solidFill>
              <a:latin typeface="Arial"/>
              <a:ea typeface="Arial"/>
              <a:cs typeface="Arial"/>
              <a:sym typeface="Arial"/>
            </a:endParaRPr>
          </a:p>
        </p:txBody>
      </p:sp>
      <p:sp>
        <p:nvSpPr>
          <p:cNvPr id="421" name="Google Shape;421;p48"/>
          <p:cNvSpPr txBox="1"/>
          <p:nvPr/>
        </p:nvSpPr>
        <p:spPr>
          <a:xfrm>
            <a:off x="1739875" y="3033500"/>
            <a:ext cx="4360800" cy="4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3C47D"/>
                </a:solidFill>
                <a:latin typeface="Arial"/>
                <a:ea typeface="Arial"/>
                <a:cs typeface="Arial"/>
                <a:sym typeface="Arial"/>
              </a:rPr>
              <a:t>1.  Select data</a:t>
            </a:r>
            <a:endParaRPr b="1" i="0" sz="2400" u="none" cap="none" strike="noStrike">
              <a:solidFill>
                <a:srgbClr val="93C47D"/>
              </a:solidFill>
              <a:latin typeface="Arial"/>
              <a:ea typeface="Arial"/>
              <a:cs typeface="Arial"/>
              <a:sym typeface="Arial"/>
            </a:endParaRPr>
          </a:p>
        </p:txBody>
      </p:sp>
      <p:sp>
        <p:nvSpPr>
          <p:cNvPr id="422" name="Google Shape;422;p48"/>
          <p:cNvSpPr txBox="1"/>
          <p:nvPr/>
        </p:nvSpPr>
        <p:spPr>
          <a:xfrm>
            <a:off x="1739863" y="4179788"/>
            <a:ext cx="4360800" cy="4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FF9900"/>
                </a:solidFill>
                <a:latin typeface="Arial"/>
                <a:ea typeface="Arial"/>
                <a:cs typeface="Arial"/>
                <a:sym typeface="Arial"/>
              </a:rPr>
              <a:t>3.  Adjust Model</a:t>
            </a:r>
            <a:endParaRPr b="1" i="0" sz="2400" u="none" cap="none" strike="noStrike">
              <a:solidFill>
                <a:srgbClr val="FF9900"/>
              </a:solidFill>
              <a:latin typeface="Arial"/>
              <a:ea typeface="Arial"/>
              <a:cs typeface="Arial"/>
              <a:sym typeface="Arial"/>
            </a:endParaRPr>
          </a:p>
        </p:txBody>
      </p:sp>
      <p:sp>
        <p:nvSpPr>
          <p:cNvPr id="423" name="Google Shape;423;p48"/>
          <p:cNvSpPr txBox="1"/>
          <p:nvPr>
            <p:ph type="title"/>
          </p:nvPr>
        </p:nvSpPr>
        <p:spPr>
          <a:xfrm>
            <a:off x="2215675" y="406250"/>
            <a:ext cx="35616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FF9900"/>
                </a:solidFill>
                <a:latin typeface="Hind"/>
                <a:ea typeface="Hind"/>
                <a:cs typeface="Hind"/>
                <a:sym typeface="Hind"/>
              </a:rPr>
              <a:t>Adjust Algorithm Parameters</a:t>
            </a:r>
            <a:endParaRPr b="1" i="0" sz="2000" u="none" cap="none" strike="noStrike">
              <a:solidFill>
                <a:srgbClr val="FF9900"/>
              </a:solidFill>
              <a:latin typeface="Hind"/>
              <a:ea typeface="Hind"/>
              <a:cs typeface="Hind"/>
              <a:sym typeface="Hind"/>
            </a:endParaRPr>
          </a:p>
        </p:txBody>
      </p:sp>
      <p:sp>
        <p:nvSpPr>
          <p:cNvPr id="424" name="Google Shape;424;p48"/>
          <p:cNvSpPr txBox="1"/>
          <p:nvPr/>
        </p:nvSpPr>
        <p:spPr>
          <a:xfrm>
            <a:off x="4566081" y="1966394"/>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Computer</a:t>
            </a:r>
            <a:endParaRPr b="1" i="0" sz="1400" u="none" cap="none" strike="noStrike">
              <a:solidFill>
                <a:srgbClr val="000000"/>
              </a:solidFill>
              <a:latin typeface="Arial"/>
              <a:ea typeface="Arial"/>
              <a:cs typeface="Arial"/>
              <a:sym typeface="Arial"/>
            </a:endParaRPr>
          </a:p>
        </p:txBody>
      </p:sp>
      <p:sp>
        <p:nvSpPr>
          <p:cNvPr id="425" name="Google Shape;425;p48"/>
          <p:cNvSpPr txBox="1"/>
          <p:nvPr/>
        </p:nvSpPr>
        <p:spPr>
          <a:xfrm>
            <a:off x="1785344" y="2154494"/>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Computer</a:t>
            </a:r>
            <a:endParaRPr b="1" i="0" sz="1400" u="none" cap="none" strike="noStrike">
              <a:solidFill>
                <a:srgbClr val="000000"/>
              </a:solidFill>
              <a:latin typeface="Arial"/>
              <a:ea typeface="Arial"/>
              <a:cs typeface="Arial"/>
              <a:sym typeface="Arial"/>
            </a:endParaRPr>
          </a:p>
        </p:txBody>
      </p:sp>
      <p:sp>
        <p:nvSpPr>
          <p:cNvPr id="426" name="Google Shape;426;p48"/>
          <p:cNvSpPr txBox="1"/>
          <p:nvPr/>
        </p:nvSpPr>
        <p:spPr>
          <a:xfrm>
            <a:off x="191350" y="2493225"/>
            <a:ext cx="13740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ML Algorithm</a:t>
            </a:r>
            <a:endParaRPr b="1" i="0" sz="1400" u="none" cap="none" strike="noStrike">
              <a:solidFill>
                <a:srgbClr val="000000"/>
              </a:solidFill>
              <a:latin typeface="Arial"/>
              <a:ea typeface="Arial"/>
              <a:cs typeface="Arial"/>
              <a:sym typeface="Arial"/>
            </a:endParaRPr>
          </a:p>
        </p:txBody>
      </p:sp>
      <p:sp>
        <p:nvSpPr>
          <p:cNvPr id="427" name="Google Shape;427;p48"/>
          <p:cNvSpPr/>
          <p:nvPr/>
        </p:nvSpPr>
        <p:spPr>
          <a:xfrm>
            <a:off x="1565351" y="2569566"/>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Pitfall of Training: Overfitting</a:t>
            </a:r>
            <a:endParaRPr i="0" sz="2400" u="none" cap="none" strike="noStrike">
              <a:solidFill>
                <a:srgbClr val="613CB0"/>
              </a:solidFill>
              <a:latin typeface="Hind"/>
              <a:ea typeface="Hind"/>
              <a:cs typeface="Hind"/>
              <a:sym typeface="Hind"/>
            </a:endParaRPr>
          </a:p>
        </p:txBody>
      </p:sp>
      <p:sp>
        <p:nvSpPr>
          <p:cNvPr id="433" name="Google Shape;433;p49"/>
          <p:cNvSpPr/>
          <p:nvPr/>
        </p:nvSpPr>
        <p:spPr>
          <a:xfrm>
            <a:off x="361850" y="1597575"/>
            <a:ext cx="34209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Model is accurate for </a:t>
            </a:r>
            <a:r>
              <a:rPr b="1" i="0" lang="en" sz="1600" u="none" cap="none" strike="noStrike">
                <a:solidFill>
                  <a:schemeClr val="dk2"/>
                </a:solidFill>
                <a:latin typeface="Helvetica Neue"/>
                <a:ea typeface="Helvetica Neue"/>
                <a:cs typeface="Helvetica Neue"/>
                <a:sym typeface="Helvetica Neue"/>
              </a:rPr>
              <a:t>train</a:t>
            </a:r>
            <a:r>
              <a:rPr b="0" i="0" lang="en" sz="1600" u="none" cap="none" strike="noStrike">
                <a:solidFill>
                  <a:schemeClr val="dk2"/>
                </a:solidFill>
                <a:latin typeface="Helvetica Neue"/>
                <a:ea typeface="Helvetica Neue"/>
                <a:cs typeface="Helvetica Neue"/>
                <a:sym typeface="Helvetica Neue"/>
              </a:rPr>
              <a:t> data</a:t>
            </a:r>
            <a:endParaRPr b="0" i="0" sz="1600" u="none" cap="none" strike="noStrike">
              <a:solidFill>
                <a:schemeClr val="dk2"/>
              </a:solidFill>
              <a:latin typeface="Helvetica Neue"/>
              <a:ea typeface="Helvetica Neue"/>
              <a:cs typeface="Helvetica Neue"/>
              <a:sym typeface="Helvetica Neue"/>
            </a:endParaRPr>
          </a:p>
        </p:txBody>
      </p:sp>
      <p:sp>
        <p:nvSpPr>
          <p:cNvPr id="434" name="Google Shape;434;p49"/>
          <p:cNvSpPr/>
          <p:nvPr/>
        </p:nvSpPr>
        <p:spPr>
          <a:xfrm>
            <a:off x="5033950" y="1498960"/>
            <a:ext cx="3748200" cy="5040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Model can accurately predict </a:t>
            </a:r>
            <a:r>
              <a:rPr b="1" i="0" lang="en" sz="1600" u="none" cap="none" strike="noStrike">
                <a:solidFill>
                  <a:schemeClr val="dk2"/>
                </a:solidFill>
                <a:latin typeface="Helvetica Neue"/>
                <a:ea typeface="Helvetica Neue"/>
                <a:cs typeface="Helvetica Neue"/>
                <a:sym typeface="Helvetica Neue"/>
              </a:rPr>
              <a:t>new</a:t>
            </a:r>
            <a:r>
              <a:rPr b="0" i="0" lang="en" sz="1600" u="none" cap="none" strike="noStrike">
                <a:solidFill>
                  <a:schemeClr val="dk2"/>
                </a:solidFill>
                <a:latin typeface="Helvetica Neue"/>
                <a:ea typeface="Helvetica Neue"/>
                <a:cs typeface="Helvetica Neue"/>
                <a:sym typeface="Helvetica Neue"/>
              </a:rPr>
              <a:t> data</a:t>
            </a:r>
            <a:endParaRPr b="0" i="0" sz="1600" u="none" cap="none" strike="noStrike">
              <a:solidFill>
                <a:schemeClr val="dk2"/>
              </a:solidFill>
              <a:latin typeface="Helvetica Neue"/>
              <a:ea typeface="Helvetica Neue"/>
              <a:cs typeface="Helvetica Neue"/>
              <a:sym typeface="Helvetica Neue"/>
            </a:endParaRPr>
          </a:p>
        </p:txBody>
      </p:sp>
      <p:sp>
        <p:nvSpPr>
          <p:cNvPr id="435" name="Google Shape;435;p49"/>
          <p:cNvSpPr txBox="1"/>
          <p:nvPr>
            <p:ph idx="1" type="body"/>
          </p:nvPr>
        </p:nvSpPr>
        <p:spPr>
          <a:xfrm>
            <a:off x="311700" y="2481425"/>
            <a:ext cx="8520600" cy="10149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We learned the specific mapping from </a:t>
            </a:r>
            <a:r>
              <a:rPr b="1" lang="en" sz="1600">
                <a:latin typeface="Helvetica Neue"/>
                <a:ea typeface="Helvetica Neue"/>
                <a:cs typeface="Helvetica Neue"/>
                <a:sym typeface="Helvetica Neue"/>
              </a:rPr>
              <a:t>train input to train outputs…</a:t>
            </a:r>
            <a:endParaRPr sz="1600">
              <a:latin typeface="Helvetica Neue"/>
              <a:ea typeface="Helvetica Neue"/>
              <a:cs typeface="Helvetica Neue"/>
              <a:sym typeface="Helvetica Neue"/>
            </a:endParaRPr>
          </a:p>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But, we didn’t learn the data’s </a:t>
            </a:r>
            <a:r>
              <a:rPr b="1" lang="en" sz="1600">
                <a:latin typeface="Helvetica Neue"/>
                <a:ea typeface="Helvetica Neue"/>
                <a:cs typeface="Helvetica Neue"/>
                <a:sym typeface="Helvetica Neue"/>
              </a:rPr>
              <a:t>general patterns </a:t>
            </a:r>
            <a:r>
              <a:rPr lang="en" sz="1600">
                <a:latin typeface="Helvetica Neue"/>
                <a:ea typeface="Helvetica Neue"/>
                <a:cs typeface="Helvetica Neue"/>
                <a:sym typeface="Helvetica Neue"/>
              </a:rPr>
              <a:t>🥲🥲🥲🥲🥲🥲</a:t>
            </a:r>
            <a:endParaRPr sz="1600">
              <a:latin typeface="Helvetica Neue"/>
              <a:ea typeface="Helvetica Neue"/>
              <a:cs typeface="Helvetica Neue"/>
              <a:sym typeface="Helvetica Neue"/>
            </a:endParaRPr>
          </a:p>
        </p:txBody>
      </p:sp>
      <p:sp>
        <p:nvSpPr>
          <p:cNvPr id="436" name="Google Shape;436;p49"/>
          <p:cNvSpPr/>
          <p:nvPr/>
        </p:nvSpPr>
        <p:spPr>
          <a:xfrm>
            <a:off x="1629700" y="3876225"/>
            <a:ext cx="5806800" cy="5727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Solution: train on part of data, and check accuracy on a separate part of data (</a:t>
            </a:r>
            <a:r>
              <a:rPr b="0" i="1" lang="en" sz="1600" u="none" cap="none" strike="noStrike">
                <a:solidFill>
                  <a:schemeClr val="dk2"/>
                </a:solidFill>
                <a:latin typeface="Helvetica Neue"/>
                <a:ea typeface="Helvetica Neue"/>
                <a:cs typeface="Helvetica Neue"/>
                <a:sym typeface="Helvetica Neue"/>
              </a:rPr>
              <a:t>validation</a:t>
            </a:r>
            <a:r>
              <a:rPr b="0" i="0" lang="en" sz="1600" u="none" cap="none" strike="noStrike">
                <a:solidFill>
                  <a:schemeClr val="dk2"/>
                </a:solidFill>
                <a:latin typeface="Helvetica Neue"/>
                <a:ea typeface="Helvetica Neue"/>
                <a:cs typeface="Helvetica Neue"/>
                <a:sym typeface="Helvetica Neue"/>
              </a:rPr>
              <a:t> set)</a:t>
            </a:r>
            <a:endParaRPr b="0" i="0" sz="1600" u="none" cap="none" strike="noStrike">
              <a:solidFill>
                <a:schemeClr val="dk2"/>
              </a:solidFill>
              <a:latin typeface="Helvetica Neue"/>
              <a:ea typeface="Helvetica Neue"/>
              <a:cs typeface="Helvetica Neue"/>
              <a:sym typeface="Helvetica Neue"/>
            </a:endParaRPr>
          </a:p>
        </p:txBody>
      </p:sp>
      <p:grpSp>
        <p:nvGrpSpPr>
          <p:cNvPr id="437" name="Google Shape;437;p49"/>
          <p:cNvGrpSpPr/>
          <p:nvPr/>
        </p:nvGrpSpPr>
        <p:grpSpPr>
          <a:xfrm>
            <a:off x="4065450" y="1403400"/>
            <a:ext cx="640200" cy="624900"/>
            <a:chOff x="4141650" y="1251000"/>
            <a:chExt cx="640200" cy="624900"/>
          </a:xfrm>
        </p:grpSpPr>
        <p:cxnSp>
          <p:nvCxnSpPr>
            <p:cNvPr id="438" name="Google Shape;438;p49"/>
            <p:cNvCxnSpPr/>
            <p:nvPr/>
          </p:nvCxnSpPr>
          <p:spPr>
            <a:xfrm>
              <a:off x="4141650" y="1460200"/>
              <a:ext cx="640200" cy="0"/>
            </a:xfrm>
            <a:prstGeom prst="straightConnector1">
              <a:avLst/>
            </a:prstGeom>
            <a:noFill/>
            <a:ln cap="flat" cmpd="sng" w="114300">
              <a:solidFill>
                <a:schemeClr val="dk2"/>
              </a:solidFill>
              <a:prstDash val="solid"/>
              <a:round/>
              <a:headEnd len="sm" w="sm" type="none"/>
              <a:tailEnd len="sm" w="sm" type="none"/>
            </a:ln>
          </p:spPr>
        </p:cxnSp>
        <p:cxnSp>
          <p:nvCxnSpPr>
            <p:cNvPr id="439" name="Google Shape;439;p49"/>
            <p:cNvCxnSpPr/>
            <p:nvPr/>
          </p:nvCxnSpPr>
          <p:spPr>
            <a:xfrm>
              <a:off x="4141650" y="1675275"/>
              <a:ext cx="640200" cy="0"/>
            </a:xfrm>
            <a:prstGeom prst="straightConnector1">
              <a:avLst/>
            </a:prstGeom>
            <a:noFill/>
            <a:ln cap="flat" cmpd="sng" w="114300">
              <a:solidFill>
                <a:schemeClr val="dk2"/>
              </a:solidFill>
              <a:prstDash val="solid"/>
              <a:round/>
              <a:headEnd len="sm" w="sm" type="none"/>
              <a:tailEnd len="sm" w="sm" type="none"/>
            </a:ln>
          </p:spPr>
        </p:cxnSp>
        <p:cxnSp>
          <p:nvCxnSpPr>
            <p:cNvPr id="440" name="Google Shape;440;p49"/>
            <p:cNvCxnSpPr/>
            <p:nvPr/>
          </p:nvCxnSpPr>
          <p:spPr>
            <a:xfrm flipH="1" rot="10800000">
              <a:off x="4254338" y="1251000"/>
              <a:ext cx="469800" cy="624900"/>
            </a:xfrm>
            <a:prstGeom prst="straightConnector1">
              <a:avLst/>
            </a:prstGeom>
            <a:noFill/>
            <a:ln cap="flat" cmpd="sng" w="114300">
              <a:solidFill>
                <a:schemeClr val="dk2"/>
              </a:solidFill>
              <a:prstDash val="solid"/>
              <a:round/>
              <a:headEnd len="sm" w="sm" type="none"/>
              <a:tailEnd len="sm" w="sm" type="none"/>
            </a:ln>
          </p:spPr>
        </p:cxnSp>
      </p:grpSp>
      <p:pic>
        <p:nvPicPr>
          <p:cNvPr id="441" name="Google Shape;441;p49"/>
          <p:cNvPicPr preferRelativeResize="0"/>
          <p:nvPr/>
        </p:nvPicPr>
        <p:blipFill rotWithShape="1">
          <a:blip r:embed="rId3">
            <a:alphaModFix/>
          </a:blip>
          <a:srcRect b="0" l="0" r="0" t="0"/>
          <a:stretch/>
        </p:blipFill>
        <p:spPr>
          <a:xfrm>
            <a:off x="5252900" y="103344"/>
            <a:ext cx="3420901" cy="125605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Pitfall of Validation: Overfitting</a:t>
            </a:r>
            <a:endParaRPr i="0" sz="2400" u="none" cap="none" strike="noStrike">
              <a:solidFill>
                <a:srgbClr val="613CB0"/>
              </a:solidFill>
              <a:latin typeface="Hind"/>
              <a:ea typeface="Hind"/>
              <a:cs typeface="Hind"/>
              <a:sym typeface="Hind"/>
            </a:endParaRPr>
          </a:p>
        </p:txBody>
      </p:sp>
      <p:sp>
        <p:nvSpPr>
          <p:cNvPr id="447" name="Google Shape;447;p50"/>
          <p:cNvSpPr/>
          <p:nvPr/>
        </p:nvSpPr>
        <p:spPr>
          <a:xfrm>
            <a:off x="361850" y="1597575"/>
            <a:ext cx="34209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Predicting well on validation set</a:t>
            </a:r>
            <a:endParaRPr b="0" i="0" sz="1600" u="none" cap="none" strike="noStrike">
              <a:solidFill>
                <a:schemeClr val="dk2"/>
              </a:solidFill>
              <a:latin typeface="Helvetica Neue"/>
              <a:ea typeface="Helvetica Neue"/>
              <a:cs typeface="Helvetica Neue"/>
              <a:sym typeface="Helvetica Neue"/>
            </a:endParaRPr>
          </a:p>
        </p:txBody>
      </p:sp>
      <p:sp>
        <p:nvSpPr>
          <p:cNvPr id="448" name="Google Shape;448;p50"/>
          <p:cNvSpPr/>
          <p:nvPr/>
        </p:nvSpPr>
        <p:spPr>
          <a:xfrm>
            <a:off x="5195725" y="1597575"/>
            <a:ext cx="34209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Predicting well on new data</a:t>
            </a:r>
            <a:endParaRPr b="0" i="0" sz="1600" u="none" cap="none" strike="noStrike">
              <a:solidFill>
                <a:schemeClr val="dk2"/>
              </a:solidFill>
              <a:latin typeface="Helvetica Neue"/>
              <a:ea typeface="Helvetica Neue"/>
              <a:cs typeface="Helvetica Neue"/>
              <a:sym typeface="Helvetica Neue"/>
            </a:endParaRPr>
          </a:p>
        </p:txBody>
      </p:sp>
      <p:sp>
        <p:nvSpPr>
          <p:cNvPr id="449" name="Google Shape;449;p50"/>
          <p:cNvSpPr txBox="1"/>
          <p:nvPr>
            <p:ph idx="1" type="body"/>
          </p:nvPr>
        </p:nvSpPr>
        <p:spPr>
          <a:xfrm>
            <a:off x="311700" y="2481425"/>
            <a:ext cx="8520600" cy="10149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We used the validation set to make our adjustments.</a:t>
            </a:r>
            <a:endParaRPr sz="1600">
              <a:latin typeface="Helvetica Neue"/>
              <a:ea typeface="Helvetica Neue"/>
              <a:cs typeface="Helvetica Neue"/>
              <a:sym typeface="Helvetica Neue"/>
            </a:endParaRPr>
          </a:p>
          <a:p>
            <a:pPr indent="-330200" lvl="1" marL="914400" rtl="0" algn="l">
              <a:lnSpc>
                <a:spcPct val="115000"/>
              </a:lnSpc>
              <a:spcBef>
                <a:spcPts val="0"/>
              </a:spcBef>
              <a:spcAft>
                <a:spcPts val="0"/>
              </a:spcAft>
              <a:buSzPts val="1600"/>
              <a:buFont typeface="Helvetica Neue"/>
              <a:buChar char="○"/>
            </a:pPr>
            <a:r>
              <a:rPr lang="en" sz="1600">
                <a:latin typeface="Helvetica Neue"/>
                <a:ea typeface="Helvetica Neue"/>
                <a:cs typeface="Helvetica Neue"/>
                <a:sym typeface="Helvetica Neue"/>
              </a:rPr>
              <a:t>⇒ Our model is </a:t>
            </a:r>
            <a:r>
              <a:rPr b="1" lang="en" sz="1600">
                <a:latin typeface="Helvetica Neue"/>
                <a:ea typeface="Helvetica Neue"/>
                <a:cs typeface="Helvetica Neue"/>
                <a:sym typeface="Helvetica Neue"/>
              </a:rPr>
              <a:t>biased </a:t>
            </a:r>
            <a:r>
              <a:rPr lang="en" sz="1600">
                <a:latin typeface="Helvetica Neue"/>
                <a:ea typeface="Helvetica Neue"/>
                <a:cs typeface="Helvetica Neue"/>
                <a:sym typeface="Helvetica Neue"/>
              </a:rPr>
              <a:t>to the validation set. 🥲🥲</a:t>
            </a:r>
            <a:endParaRPr b="1" sz="1600">
              <a:latin typeface="Helvetica Neue"/>
              <a:ea typeface="Helvetica Neue"/>
              <a:cs typeface="Helvetica Neue"/>
              <a:sym typeface="Helvetica Neue"/>
            </a:endParaRPr>
          </a:p>
        </p:txBody>
      </p:sp>
      <p:sp>
        <p:nvSpPr>
          <p:cNvPr id="450" name="Google Shape;450;p50"/>
          <p:cNvSpPr/>
          <p:nvPr/>
        </p:nvSpPr>
        <p:spPr>
          <a:xfrm>
            <a:off x="1629700" y="3876225"/>
            <a:ext cx="5806800" cy="306300"/>
          </a:xfrm>
          <a:prstGeom prst="roundRect">
            <a:avLst>
              <a:gd fmla="val 16667" name="adj"/>
            </a:avLst>
          </a:prstGeom>
          <a:noFill/>
          <a:ln cap="flat" cmpd="sng" w="19050">
            <a:solidFill>
              <a:srgbClr val="3F3F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1600" u="none" cap="none" strike="noStrike">
                <a:solidFill>
                  <a:schemeClr val="dk2"/>
                </a:solidFill>
                <a:latin typeface="Helvetica Neue"/>
                <a:ea typeface="Helvetica Neue"/>
                <a:cs typeface="Helvetica Neue"/>
                <a:sym typeface="Helvetica Neue"/>
              </a:rPr>
              <a:t>Solution: keep a separate, rarely-used </a:t>
            </a:r>
            <a:r>
              <a:rPr b="1" i="1" lang="en" sz="1600" u="none" cap="none" strike="noStrike">
                <a:solidFill>
                  <a:schemeClr val="dk2"/>
                </a:solidFill>
                <a:latin typeface="Helvetica Neue"/>
                <a:ea typeface="Helvetica Neue"/>
                <a:cs typeface="Helvetica Neue"/>
                <a:sym typeface="Helvetica Neue"/>
              </a:rPr>
              <a:t>test</a:t>
            </a:r>
            <a:r>
              <a:rPr b="0" i="0" lang="en" sz="1600" u="none" cap="none" strike="noStrike">
                <a:solidFill>
                  <a:schemeClr val="dk2"/>
                </a:solidFill>
                <a:latin typeface="Helvetica Neue"/>
                <a:ea typeface="Helvetica Neue"/>
                <a:cs typeface="Helvetica Neue"/>
                <a:sym typeface="Helvetica Neue"/>
              </a:rPr>
              <a:t> set</a:t>
            </a:r>
            <a:endParaRPr b="0" i="0" sz="1600" u="none" cap="none" strike="noStrike">
              <a:solidFill>
                <a:schemeClr val="dk2"/>
              </a:solidFill>
              <a:latin typeface="Helvetica Neue"/>
              <a:ea typeface="Helvetica Neue"/>
              <a:cs typeface="Helvetica Neue"/>
              <a:sym typeface="Helvetica Neue"/>
            </a:endParaRPr>
          </a:p>
        </p:txBody>
      </p:sp>
      <p:grpSp>
        <p:nvGrpSpPr>
          <p:cNvPr id="451" name="Google Shape;451;p50"/>
          <p:cNvGrpSpPr/>
          <p:nvPr/>
        </p:nvGrpSpPr>
        <p:grpSpPr>
          <a:xfrm>
            <a:off x="4141650" y="1403400"/>
            <a:ext cx="640200" cy="624900"/>
            <a:chOff x="4141650" y="1251000"/>
            <a:chExt cx="640200" cy="624900"/>
          </a:xfrm>
        </p:grpSpPr>
        <p:cxnSp>
          <p:nvCxnSpPr>
            <p:cNvPr id="452" name="Google Shape;452;p50"/>
            <p:cNvCxnSpPr/>
            <p:nvPr/>
          </p:nvCxnSpPr>
          <p:spPr>
            <a:xfrm>
              <a:off x="4141650" y="1460200"/>
              <a:ext cx="640200" cy="0"/>
            </a:xfrm>
            <a:prstGeom prst="straightConnector1">
              <a:avLst/>
            </a:prstGeom>
            <a:noFill/>
            <a:ln cap="flat" cmpd="sng" w="114300">
              <a:solidFill>
                <a:schemeClr val="dk2"/>
              </a:solidFill>
              <a:prstDash val="solid"/>
              <a:round/>
              <a:headEnd len="sm" w="sm" type="none"/>
              <a:tailEnd len="sm" w="sm" type="none"/>
            </a:ln>
          </p:spPr>
        </p:cxnSp>
        <p:cxnSp>
          <p:nvCxnSpPr>
            <p:cNvPr id="453" name="Google Shape;453;p50"/>
            <p:cNvCxnSpPr/>
            <p:nvPr/>
          </p:nvCxnSpPr>
          <p:spPr>
            <a:xfrm>
              <a:off x="4141650" y="1675275"/>
              <a:ext cx="640200" cy="0"/>
            </a:xfrm>
            <a:prstGeom prst="straightConnector1">
              <a:avLst/>
            </a:prstGeom>
            <a:noFill/>
            <a:ln cap="flat" cmpd="sng" w="114300">
              <a:solidFill>
                <a:schemeClr val="dk2"/>
              </a:solidFill>
              <a:prstDash val="solid"/>
              <a:round/>
              <a:headEnd len="sm" w="sm" type="none"/>
              <a:tailEnd len="sm" w="sm" type="none"/>
            </a:ln>
          </p:spPr>
        </p:cxnSp>
        <p:cxnSp>
          <p:nvCxnSpPr>
            <p:cNvPr id="454" name="Google Shape;454;p50"/>
            <p:cNvCxnSpPr/>
            <p:nvPr/>
          </p:nvCxnSpPr>
          <p:spPr>
            <a:xfrm flipH="1" rot="10800000">
              <a:off x="4254338" y="1251000"/>
              <a:ext cx="469800" cy="624900"/>
            </a:xfrm>
            <a:prstGeom prst="straightConnector1">
              <a:avLst/>
            </a:prstGeom>
            <a:noFill/>
            <a:ln cap="flat" cmpd="sng" w="114300">
              <a:solidFill>
                <a:schemeClr val="dk2"/>
              </a:solidFill>
              <a:prstDash val="solid"/>
              <a:round/>
              <a:headEnd len="sm" w="sm" type="none"/>
              <a:tailEnd len="sm" w="sm" type="none"/>
            </a:ln>
          </p:spPr>
        </p:cxn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p:nvPr/>
        </p:nvSpPr>
        <p:spPr>
          <a:xfrm rot="5400000">
            <a:off x="3349550" y="2186325"/>
            <a:ext cx="1762800" cy="2166600"/>
          </a:xfrm>
          <a:prstGeom prst="bentUpArrow">
            <a:avLst>
              <a:gd fmla="val 5466" name="adj1"/>
              <a:gd fmla="val 6353" name="adj2"/>
              <a:gd fmla="val 7265" name="adj3"/>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51"/>
          <p:cNvSpPr txBox="1"/>
          <p:nvPr/>
        </p:nvSpPr>
        <p:spPr>
          <a:xfrm>
            <a:off x="109425" y="1785438"/>
            <a:ext cx="10272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Training Data</a:t>
            </a:r>
            <a:endParaRPr b="1" i="0" sz="1400" u="none" cap="none" strike="noStrike">
              <a:solidFill>
                <a:srgbClr val="000000"/>
              </a:solidFill>
              <a:latin typeface="Arial"/>
              <a:ea typeface="Arial"/>
              <a:cs typeface="Arial"/>
              <a:sym typeface="Arial"/>
            </a:endParaRPr>
          </a:p>
        </p:txBody>
      </p:sp>
      <p:sp>
        <p:nvSpPr>
          <p:cNvPr id="461" name="Google Shape;461;p51"/>
          <p:cNvSpPr txBox="1"/>
          <p:nvPr/>
        </p:nvSpPr>
        <p:spPr>
          <a:xfrm>
            <a:off x="124637" y="2258190"/>
            <a:ext cx="10272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Training Output</a:t>
            </a:r>
            <a:endParaRPr b="1" i="0" sz="1400" u="none" cap="none" strike="noStrike">
              <a:solidFill>
                <a:srgbClr val="000000"/>
              </a:solidFill>
              <a:latin typeface="Arial"/>
              <a:ea typeface="Arial"/>
              <a:cs typeface="Arial"/>
              <a:sym typeface="Arial"/>
            </a:endParaRPr>
          </a:p>
        </p:txBody>
      </p:sp>
      <p:sp>
        <p:nvSpPr>
          <p:cNvPr id="462" name="Google Shape;462;p51"/>
          <p:cNvSpPr/>
          <p:nvPr/>
        </p:nvSpPr>
        <p:spPr>
          <a:xfrm>
            <a:off x="1045029" y="1905861"/>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51"/>
          <p:cNvSpPr/>
          <p:nvPr/>
        </p:nvSpPr>
        <p:spPr>
          <a:xfrm>
            <a:off x="1044926" y="2377116"/>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51"/>
          <p:cNvSpPr/>
          <p:nvPr/>
        </p:nvSpPr>
        <p:spPr>
          <a:xfrm>
            <a:off x="1416204" y="1752347"/>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1"/>
          <p:cNvSpPr txBox="1"/>
          <p:nvPr/>
        </p:nvSpPr>
        <p:spPr>
          <a:xfrm>
            <a:off x="1322371" y="2772868"/>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Supervised Learning</a:t>
            </a:r>
            <a:endParaRPr b="1" i="0" sz="1400" u="none" cap="none" strike="noStrike">
              <a:solidFill>
                <a:srgbClr val="000000"/>
              </a:solidFill>
              <a:latin typeface="Arial"/>
              <a:ea typeface="Arial"/>
              <a:cs typeface="Arial"/>
              <a:sym typeface="Arial"/>
            </a:endParaRPr>
          </a:p>
        </p:txBody>
      </p:sp>
      <p:sp>
        <p:nvSpPr>
          <p:cNvPr id="466" name="Google Shape;466;p51"/>
          <p:cNvSpPr/>
          <p:nvPr/>
        </p:nvSpPr>
        <p:spPr>
          <a:xfrm>
            <a:off x="2414853" y="2138848"/>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1"/>
          <p:cNvSpPr txBox="1"/>
          <p:nvPr/>
        </p:nvSpPr>
        <p:spPr>
          <a:xfrm>
            <a:off x="2736550" y="2042625"/>
            <a:ext cx="10272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Function</a:t>
            </a:r>
            <a:endParaRPr b="1" i="0" sz="1400" u="none" cap="none" strike="noStrike">
              <a:solidFill>
                <a:srgbClr val="000000"/>
              </a:solidFill>
              <a:latin typeface="Arial"/>
              <a:ea typeface="Arial"/>
              <a:cs typeface="Arial"/>
              <a:sym typeface="Arial"/>
            </a:endParaRPr>
          </a:p>
        </p:txBody>
      </p:sp>
      <p:sp>
        <p:nvSpPr>
          <p:cNvPr id="468" name="Google Shape;468;p51"/>
          <p:cNvSpPr txBox="1"/>
          <p:nvPr/>
        </p:nvSpPr>
        <p:spPr>
          <a:xfrm>
            <a:off x="2664500" y="1613825"/>
            <a:ext cx="10575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Validation Data</a:t>
            </a:r>
            <a:endParaRPr b="1" i="0" sz="1400" u="none" cap="none" strike="noStrike">
              <a:solidFill>
                <a:srgbClr val="000000"/>
              </a:solidFill>
              <a:latin typeface="Arial"/>
              <a:ea typeface="Arial"/>
              <a:cs typeface="Arial"/>
              <a:sym typeface="Arial"/>
            </a:endParaRPr>
          </a:p>
        </p:txBody>
      </p:sp>
      <p:sp>
        <p:nvSpPr>
          <p:cNvPr id="469" name="Google Shape;469;p51"/>
          <p:cNvSpPr txBox="1"/>
          <p:nvPr>
            <p:ph type="title"/>
          </p:nvPr>
        </p:nvSpPr>
        <p:spPr>
          <a:xfrm>
            <a:off x="1358900" y="1280375"/>
            <a:ext cx="12108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Training</a:t>
            </a:r>
            <a:endParaRPr b="1" i="0" sz="2000" u="none" cap="none" strike="noStrike">
              <a:solidFill>
                <a:srgbClr val="20124D"/>
              </a:solidFill>
              <a:latin typeface="Hind"/>
              <a:ea typeface="Hind"/>
              <a:cs typeface="Hind"/>
              <a:sym typeface="Hind"/>
            </a:endParaRPr>
          </a:p>
        </p:txBody>
      </p:sp>
      <p:sp>
        <p:nvSpPr>
          <p:cNvPr id="470" name="Google Shape;470;p51"/>
          <p:cNvSpPr/>
          <p:nvPr/>
        </p:nvSpPr>
        <p:spPr>
          <a:xfrm>
            <a:off x="3727477" y="1727712"/>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1"/>
          <p:cNvSpPr/>
          <p:nvPr/>
        </p:nvSpPr>
        <p:spPr>
          <a:xfrm>
            <a:off x="3727374" y="2154780"/>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1"/>
          <p:cNvSpPr/>
          <p:nvPr/>
        </p:nvSpPr>
        <p:spPr>
          <a:xfrm>
            <a:off x="4098652" y="1574198"/>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1"/>
          <p:cNvSpPr txBox="1"/>
          <p:nvPr/>
        </p:nvSpPr>
        <p:spPr>
          <a:xfrm>
            <a:off x="4004819" y="2594719"/>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Supervised Learning</a:t>
            </a:r>
            <a:endParaRPr b="1" i="0" sz="1400" u="none" cap="none" strike="noStrike">
              <a:solidFill>
                <a:srgbClr val="000000"/>
              </a:solidFill>
              <a:latin typeface="Arial"/>
              <a:ea typeface="Arial"/>
              <a:cs typeface="Arial"/>
              <a:sym typeface="Arial"/>
            </a:endParaRPr>
          </a:p>
        </p:txBody>
      </p:sp>
      <p:sp>
        <p:nvSpPr>
          <p:cNvPr id="474" name="Google Shape;474;p51"/>
          <p:cNvSpPr/>
          <p:nvPr/>
        </p:nvSpPr>
        <p:spPr>
          <a:xfrm>
            <a:off x="5173501" y="1960699"/>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5516551" y="1865975"/>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Computed</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76" name="Google Shape;476;p51"/>
          <p:cNvSpPr txBox="1"/>
          <p:nvPr/>
        </p:nvSpPr>
        <p:spPr>
          <a:xfrm>
            <a:off x="4013688" y="3337246"/>
            <a:ext cx="10272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Testing Data</a:t>
            </a:r>
            <a:endParaRPr b="1" i="0" sz="1400" u="none" cap="none" strike="noStrike">
              <a:solidFill>
                <a:srgbClr val="000000"/>
              </a:solidFill>
              <a:latin typeface="Arial"/>
              <a:ea typeface="Arial"/>
              <a:cs typeface="Arial"/>
              <a:sym typeface="Arial"/>
            </a:endParaRPr>
          </a:p>
        </p:txBody>
      </p:sp>
      <p:sp>
        <p:nvSpPr>
          <p:cNvPr id="477" name="Google Shape;477;p51"/>
          <p:cNvSpPr/>
          <p:nvPr/>
        </p:nvSpPr>
        <p:spPr>
          <a:xfrm>
            <a:off x="5052723" y="3488161"/>
            <a:ext cx="2532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51"/>
          <p:cNvSpPr/>
          <p:nvPr/>
        </p:nvSpPr>
        <p:spPr>
          <a:xfrm>
            <a:off x="5423898" y="3334648"/>
            <a:ext cx="943800" cy="966000"/>
          </a:xfrm>
          <a:prstGeom prst="cube">
            <a:avLst>
              <a:gd fmla="val 25000" name="adj"/>
            </a:avLst>
          </a:prstGeom>
          <a:solidFill>
            <a:srgbClr val="EFEFEF"/>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51"/>
          <p:cNvSpPr txBox="1"/>
          <p:nvPr/>
        </p:nvSpPr>
        <p:spPr>
          <a:xfrm>
            <a:off x="5330065" y="4355168"/>
            <a:ext cx="12723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Supervised Learning</a:t>
            </a:r>
            <a:endParaRPr b="1" i="0" sz="1400" u="none" cap="none" strike="noStrike">
              <a:solidFill>
                <a:srgbClr val="000000"/>
              </a:solidFill>
              <a:latin typeface="Arial"/>
              <a:ea typeface="Arial"/>
              <a:cs typeface="Arial"/>
              <a:sym typeface="Arial"/>
            </a:endParaRPr>
          </a:p>
        </p:txBody>
      </p:sp>
      <p:sp>
        <p:nvSpPr>
          <p:cNvPr id="480" name="Google Shape;480;p51"/>
          <p:cNvSpPr/>
          <p:nvPr/>
        </p:nvSpPr>
        <p:spPr>
          <a:xfrm>
            <a:off x="6475903" y="3710477"/>
            <a:ext cx="338700" cy="192900"/>
          </a:xfrm>
          <a:prstGeom prst="rightArrow">
            <a:avLst>
              <a:gd fmla="val 50000" name="adj1"/>
              <a:gd fmla="val 50000" name="adj2"/>
            </a:avLst>
          </a:prstGeom>
          <a:noFill/>
          <a:ln cap="flat" cmpd="sng" w="38100">
            <a:solidFill>
              <a:srgbClr val="5B0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7014025" y="3647774"/>
            <a:ext cx="10272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Predicted Output</a:t>
            </a:r>
            <a:endParaRPr b="1" i="0" sz="1400" u="none" cap="none" strike="noStrike">
              <a:solidFill>
                <a:srgbClr val="000000"/>
              </a:solidFill>
              <a:latin typeface="Arial"/>
              <a:ea typeface="Arial"/>
              <a:cs typeface="Arial"/>
              <a:sym typeface="Arial"/>
            </a:endParaRPr>
          </a:p>
        </p:txBody>
      </p:sp>
      <p:sp>
        <p:nvSpPr>
          <p:cNvPr id="482" name="Google Shape;482;p51"/>
          <p:cNvSpPr txBox="1"/>
          <p:nvPr>
            <p:ph type="title"/>
          </p:nvPr>
        </p:nvSpPr>
        <p:spPr>
          <a:xfrm>
            <a:off x="3946075" y="1091300"/>
            <a:ext cx="14427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Validation</a:t>
            </a:r>
            <a:endParaRPr b="1" i="0" sz="2000" u="none" cap="none" strike="noStrike">
              <a:solidFill>
                <a:srgbClr val="20124D"/>
              </a:solidFill>
              <a:latin typeface="Hind"/>
              <a:ea typeface="Hind"/>
              <a:cs typeface="Hind"/>
              <a:sym typeface="Hind"/>
            </a:endParaRPr>
          </a:p>
        </p:txBody>
      </p:sp>
      <p:sp>
        <p:nvSpPr>
          <p:cNvPr id="483" name="Google Shape;483;p51"/>
          <p:cNvSpPr txBox="1"/>
          <p:nvPr/>
        </p:nvSpPr>
        <p:spPr>
          <a:xfrm>
            <a:off x="6991151" y="1884400"/>
            <a:ext cx="1152900" cy="34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Validation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Output</a:t>
            </a:r>
            <a:endParaRPr b="1"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6475455" y="1895071"/>
            <a:ext cx="590400" cy="34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VS</a:t>
            </a:r>
            <a:endParaRPr b="1" i="0" sz="1400" u="none" cap="none" strike="noStrike">
              <a:solidFill>
                <a:srgbClr val="000000"/>
              </a:solidFill>
              <a:latin typeface="Arial"/>
              <a:ea typeface="Arial"/>
              <a:cs typeface="Arial"/>
              <a:sym typeface="Arial"/>
            </a:endParaRPr>
          </a:p>
        </p:txBody>
      </p:sp>
      <p:sp>
        <p:nvSpPr>
          <p:cNvPr id="485" name="Google Shape;485;p51"/>
          <p:cNvSpPr/>
          <p:nvPr/>
        </p:nvSpPr>
        <p:spPr>
          <a:xfrm flipH="1">
            <a:off x="469450" y="437575"/>
            <a:ext cx="6392100" cy="1387500"/>
          </a:xfrm>
          <a:prstGeom prst="uturnArrow">
            <a:avLst>
              <a:gd fmla="val 5383" name="adj1"/>
              <a:gd fmla="val 7686" name="adj2"/>
              <a:gd fmla="val 11063" name="adj3"/>
              <a:gd fmla="val 43750" name="adj4"/>
              <a:gd fmla="val 99979" name="adj5"/>
            </a:avLst>
          </a:prstGeom>
          <a:noFill/>
          <a:ln cap="flat" cmpd="sng" w="3810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ph type="title"/>
          </p:nvPr>
        </p:nvSpPr>
        <p:spPr>
          <a:xfrm>
            <a:off x="5422625" y="2787475"/>
            <a:ext cx="1087200" cy="49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lang="en" sz="2000">
                <a:solidFill>
                  <a:srgbClr val="20124D"/>
                </a:solidFill>
                <a:latin typeface="Hind"/>
                <a:ea typeface="Hind"/>
                <a:cs typeface="Hind"/>
                <a:sym typeface="Hind"/>
              </a:rPr>
              <a:t>Testing</a:t>
            </a:r>
            <a:endParaRPr b="1" i="0" sz="2000" u="none" cap="none" strike="noStrike">
              <a:solidFill>
                <a:srgbClr val="20124D"/>
              </a:solidFill>
              <a:latin typeface="Hind"/>
              <a:ea typeface="Hind"/>
              <a:cs typeface="Hind"/>
              <a:sym typeface="Hi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Model Goals</a:t>
            </a:r>
            <a:endParaRPr i="0" sz="2400" u="none" cap="none" strike="noStrike">
              <a:solidFill>
                <a:srgbClr val="613CB0"/>
              </a:solidFill>
              <a:latin typeface="Hind"/>
              <a:ea typeface="Hind"/>
              <a:cs typeface="Hind"/>
              <a:sym typeface="Hind"/>
            </a:endParaRPr>
          </a:p>
        </p:txBody>
      </p:sp>
      <p:sp>
        <p:nvSpPr>
          <p:cNvPr id="492" name="Google Shape;492;p52"/>
          <p:cNvSpPr txBox="1"/>
          <p:nvPr/>
        </p:nvSpPr>
        <p:spPr>
          <a:xfrm>
            <a:off x="311700" y="1017725"/>
            <a:ext cx="8283900" cy="371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200"/>
              <a:buFont typeface="Arial"/>
              <a:buNone/>
            </a:pPr>
            <a:r>
              <a:rPr b="0" i="0" lang="en" sz="2200" u="none" cap="none" strike="noStrike">
                <a:solidFill>
                  <a:srgbClr val="595959"/>
                </a:solidFill>
                <a:latin typeface="Hind"/>
                <a:ea typeface="Hind"/>
                <a:cs typeface="Hind"/>
                <a:sym typeface="Hind"/>
              </a:rPr>
              <a:t>When training a model we want our models to:</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1600"/>
              </a:spcBef>
              <a:spcAft>
                <a:spcPts val="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rPr b="0" i="0" lang="en" sz="2200" u="none" cap="none" strike="noStrike">
                <a:solidFill>
                  <a:srgbClr val="595959"/>
                </a:solidFill>
                <a:latin typeface="Hind"/>
                <a:ea typeface="Hind"/>
                <a:cs typeface="Hind"/>
                <a:sym typeface="Hind"/>
              </a:rPr>
              <a:t>The first two are especially difficult to do simultaneously!</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0"/>
              </a:spcAft>
              <a:buClr>
                <a:srgbClr val="000000"/>
              </a:buClr>
              <a:buSzPts val="2200"/>
              <a:buFont typeface="Arial"/>
              <a:buNone/>
            </a:pPr>
            <a:r>
              <a:rPr b="0" i="0" lang="en" sz="2200" u="none" cap="none" strike="noStrike">
                <a:solidFill>
                  <a:srgbClr val="595959"/>
                </a:solidFill>
                <a:latin typeface="Hind"/>
                <a:ea typeface="Hind"/>
                <a:cs typeface="Hind"/>
                <a:sym typeface="Hind"/>
              </a:rPr>
              <a:t>The more sensitive the model, the less generalizable and vice versa.</a:t>
            </a:r>
            <a:endParaRPr b="0" i="0" sz="2200" u="none" cap="none" strike="noStrike">
              <a:solidFill>
                <a:srgbClr val="595959"/>
              </a:solidFill>
              <a:latin typeface="Hind"/>
              <a:ea typeface="Hind"/>
              <a:cs typeface="Hind"/>
              <a:sym typeface="Hind"/>
            </a:endParaRPr>
          </a:p>
          <a:p>
            <a:pPr indent="0" lvl="0" marL="0" marR="0" rtl="0" algn="l">
              <a:lnSpc>
                <a:spcPct val="115000"/>
              </a:lnSpc>
              <a:spcBef>
                <a:spcPts val="0"/>
              </a:spcBef>
              <a:spcAft>
                <a:spcPts val="1600"/>
              </a:spcAft>
              <a:buClr>
                <a:srgbClr val="000000"/>
              </a:buClr>
              <a:buSzPts val="2200"/>
              <a:buFont typeface="Arial"/>
              <a:buNone/>
            </a:pPr>
            <a:r>
              <a:t/>
            </a:r>
            <a:endParaRPr b="0" i="0" sz="2200" u="none" cap="none" strike="noStrike">
              <a:solidFill>
                <a:srgbClr val="595959"/>
              </a:solidFill>
              <a:latin typeface="Hind"/>
              <a:ea typeface="Hind"/>
              <a:cs typeface="Hind"/>
              <a:sym typeface="Hind"/>
            </a:endParaRPr>
          </a:p>
        </p:txBody>
      </p:sp>
      <p:sp>
        <p:nvSpPr>
          <p:cNvPr id="493" name="Google Shape;493;p52"/>
          <p:cNvSpPr/>
          <p:nvPr/>
        </p:nvSpPr>
        <p:spPr>
          <a:xfrm>
            <a:off x="762150" y="1778250"/>
            <a:ext cx="7619700" cy="1482000"/>
          </a:xfrm>
          <a:prstGeom prst="rect">
            <a:avLst/>
          </a:prstGeom>
          <a:solidFill>
            <a:srgbClr val="D9D2E9"/>
          </a:solidFill>
          <a:ln>
            <a:noFill/>
          </a:ln>
        </p:spPr>
        <p:txBody>
          <a:bodyPr anchorCtr="0" anchor="ctr" bIns="91425" lIns="91425" spcFirstLastPara="1" rIns="91425" wrap="square" tIns="91425">
            <a:noAutofit/>
          </a:bodyPr>
          <a:lstStyle/>
          <a:p>
            <a:pPr indent="-368300" lvl="0" marL="457200" marR="0" rtl="0" algn="l">
              <a:lnSpc>
                <a:spcPct val="115000"/>
              </a:lnSpc>
              <a:spcBef>
                <a:spcPts val="0"/>
              </a:spcBef>
              <a:spcAft>
                <a:spcPts val="0"/>
              </a:spcAft>
              <a:buClr>
                <a:srgbClr val="595959"/>
              </a:buClr>
              <a:buSzPts val="2200"/>
              <a:buFont typeface="Hind"/>
              <a:buChar char="●"/>
            </a:pPr>
            <a:r>
              <a:rPr b="0" i="0" lang="en" sz="2200" u="none" cap="none" strike="noStrike">
                <a:solidFill>
                  <a:srgbClr val="595959"/>
                </a:solidFill>
                <a:latin typeface="Hind"/>
                <a:ea typeface="Hind"/>
                <a:cs typeface="Hind"/>
                <a:sym typeface="Hind"/>
              </a:rPr>
              <a:t>Capture the trends of the training data</a:t>
            </a:r>
            <a:endParaRPr b="0" i="0" sz="2200" u="none" cap="none" strike="noStrike">
              <a:solidFill>
                <a:srgbClr val="595959"/>
              </a:solidFill>
              <a:latin typeface="Hind"/>
              <a:ea typeface="Hind"/>
              <a:cs typeface="Hind"/>
              <a:sym typeface="Hind"/>
            </a:endParaRPr>
          </a:p>
          <a:p>
            <a:pPr indent="-368300" lvl="0" marL="457200" marR="0" rtl="0" algn="l">
              <a:lnSpc>
                <a:spcPct val="115000"/>
              </a:lnSpc>
              <a:spcBef>
                <a:spcPts val="0"/>
              </a:spcBef>
              <a:spcAft>
                <a:spcPts val="0"/>
              </a:spcAft>
              <a:buClr>
                <a:srgbClr val="595959"/>
              </a:buClr>
              <a:buSzPts val="2200"/>
              <a:buFont typeface="Hind"/>
              <a:buChar char="●"/>
            </a:pPr>
            <a:r>
              <a:rPr b="0" i="0" lang="en" sz="2200" u="none" cap="none" strike="noStrike">
                <a:solidFill>
                  <a:srgbClr val="595959"/>
                </a:solidFill>
                <a:latin typeface="Hind"/>
                <a:ea typeface="Hind"/>
                <a:cs typeface="Hind"/>
                <a:sym typeface="Hind"/>
              </a:rPr>
              <a:t>Generalize well to other samples of the population</a:t>
            </a:r>
            <a:endParaRPr b="0" i="0" sz="2200" u="none" cap="none" strike="noStrike">
              <a:solidFill>
                <a:srgbClr val="595959"/>
              </a:solidFill>
              <a:latin typeface="Hind"/>
              <a:ea typeface="Hind"/>
              <a:cs typeface="Hind"/>
              <a:sym typeface="Hind"/>
            </a:endParaRPr>
          </a:p>
          <a:p>
            <a:pPr indent="-368300" lvl="0" marL="457200" marR="0" rtl="0" algn="l">
              <a:lnSpc>
                <a:spcPct val="115000"/>
              </a:lnSpc>
              <a:spcBef>
                <a:spcPts val="0"/>
              </a:spcBef>
              <a:spcAft>
                <a:spcPts val="0"/>
              </a:spcAft>
              <a:buClr>
                <a:srgbClr val="595959"/>
              </a:buClr>
              <a:buSzPts val="2200"/>
              <a:buFont typeface="Hind"/>
              <a:buChar char="●"/>
            </a:pPr>
            <a:r>
              <a:rPr b="0" i="0" lang="en" sz="2200" u="none" cap="none" strike="noStrike">
                <a:solidFill>
                  <a:srgbClr val="595959"/>
                </a:solidFill>
                <a:latin typeface="Hind"/>
                <a:ea typeface="Hind"/>
                <a:cs typeface="Hind"/>
                <a:sym typeface="Hind"/>
              </a:rPr>
              <a:t>Be moderately interpretable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2400">
                <a:solidFill>
                  <a:srgbClr val="613CB0"/>
                </a:solidFill>
                <a:latin typeface="Hind"/>
                <a:ea typeface="Hind"/>
                <a:cs typeface="Hind"/>
                <a:sym typeface="Hind"/>
              </a:rPr>
              <a:t>Things to Keep In Mind</a:t>
            </a:r>
            <a:endParaRPr i="0" sz="2400" u="none" cap="none" strike="noStrike">
              <a:solidFill>
                <a:srgbClr val="613CB0"/>
              </a:solidFill>
              <a:latin typeface="Hind"/>
              <a:ea typeface="Hind"/>
              <a:cs typeface="Hind"/>
              <a:sym typeface="Hind"/>
            </a:endParaRPr>
          </a:p>
        </p:txBody>
      </p:sp>
      <p:sp>
        <p:nvSpPr>
          <p:cNvPr id="499" name="Google Shape;499;p53"/>
          <p:cNvSpPr txBox="1"/>
          <p:nvPr/>
        </p:nvSpPr>
        <p:spPr>
          <a:xfrm>
            <a:off x="311700" y="1257800"/>
            <a:ext cx="8766900" cy="3472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Linear Regression is just one algorithm — we’ll cover many more! 🤠</a:t>
            </a:r>
            <a:endParaRPr b="0" i="0" sz="2000" u="none" cap="none" strike="noStrike">
              <a:solidFill>
                <a:srgbClr val="595959"/>
              </a:solidFill>
              <a:latin typeface="Hind"/>
              <a:ea typeface="Hind"/>
              <a:cs typeface="Hind"/>
              <a:sym typeface="Hind"/>
            </a:endParaRPr>
          </a:p>
          <a:p>
            <a:pPr indent="0" lvl="0" marL="457200" marR="0" rtl="0" algn="l">
              <a:lnSpc>
                <a:spcPct val="115000"/>
              </a:lnSpc>
              <a:spcBef>
                <a:spcPts val="0"/>
              </a:spcBef>
              <a:spcAft>
                <a:spcPts val="0"/>
              </a:spcAft>
              <a:buNone/>
            </a:pPr>
            <a:r>
              <a:t/>
            </a:r>
            <a:endParaRPr sz="2000">
              <a:solidFill>
                <a:srgbClr val="595959"/>
              </a:solidFill>
              <a:latin typeface="Hind"/>
              <a:ea typeface="Hind"/>
              <a:cs typeface="Hind"/>
              <a:sym typeface="Hind"/>
            </a:endParaRPr>
          </a:p>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The “model” produced by an algorithm is not always a simple equation like in linear regression.</a:t>
            </a:r>
            <a:endParaRPr b="0" i="0" sz="2000" u="none" cap="none" strike="noStrike">
              <a:solidFill>
                <a:srgbClr val="595959"/>
              </a:solidFill>
              <a:latin typeface="Hind"/>
              <a:ea typeface="Hind"/>
              <a:cs typeface="Hind"/>
              <a:sym typeface="Hind"/>
            </a:endParaRPr>
          </a:p>
          <a:p>
            <a:pPr indent="0" lvl="0" marL="457200" marR="0" rtl="0" algn="l">
              <a:lnSpc>
                <a:spcPct val="115000"/>
              </a:lnSpc>
              <a:spcBef>
                <a:spcPts val="0"/>
              </a:spcBef>
              <a:spcAft>
                <a:spcPts val="0"/>
              </a:spcAft>
              <a:buNone/>
            </a:pPr>
            <a:r>
              <a:t/>
            </a:r>
            <a:endParaRPr sz="2000">
              <a:solidFill>
                <a:srgbClr val="595959"/>
              </a:solidFill>
              <a:latin typeface="Hind"/>
              <a:ea typeface="Hind"/>
              <a:cs typeface="Hind"/>
              <a:sym typeface="Hind"/>
            </a:endParaRPr>
          </a:p>
          <a:p>
            <a:pPr indent="-355600" lvl="0" marL="4572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Validation is </a:t>
            </a:r>
            <a:r>
              <a:rPr b="0" i="1" lang="en" sz="2000" u="none" cap="none" strike="noStrike">
                <a:solidFill>
                  <a:srgbClr val="595959"/>
                </a:solidFill>
                <a:latin typeface="Hind"/>
                <a:ea typeface="Hind"/>
                <a:cs typeface="Hind"/>
                <a:sym typeface="Hind"/>
              </a:rPr>
              <a:t>really</a:t>
            </a:r>
            <a:r>
              <a:rPr b="0" i="0" lang="en" sz="2000" u="none" cap="none" strike="noStrike">
                <a:solidFill>
                  <a:srgbClr val="595959"/>
                </a:solidFill>
                <a:latin typeface="Hind"/>
                <a:ea typeface="Hind"/>
                <a:cs typeface="Hind"/>
                <a:sym typeface="Hind"/>
              </a:rPr>
              <a:t> important.</a:t>
            </a:r>
            <a:endParaRPr b="0" i="0" sz="2000" u="none" cap="none" strike="noStrike">
              <a:solidFill>
                <a:srgbClr val="595959"/>
              </a:solidFill>
              <a:latin typeface="Hind"/>
              <a:ea typeface="Hind"/>
              <a:cs typeface="Hind"/>
              <a:sym typeface="Hind"/>
            </a:endParaRPr>
          </a:p>
          <a:p>
            <a:pPr indent="-355600" lvl="1" marL="914400" marR="0" rtl="0" algn="l">
              <a:lnSpc>
                <a:spcPct val="115000"/>
              </a:lnSpc>
              <a:spcBef>
                <a:spcPts val="0"/>
              </a:spcBef>
              <a:spcAft>
                <a:spcPts val="0"/>
              </a:spcAft>
              <a:buClr>
                <a:srgbClr val="595959"/>
              </a:buClr>
              <a:buSzPts val="2000"/>
              <a:buFont typeface="Hind"/>
              <a:buChar char="○"/>
            </a:pPr>
            <a:r>
              <a:rPr b="0" i="0" lang="en" sz="2000" u="none" cap="none" strike="noStrike">
                <a:solidFill>
                  <a:schemeClr val="dk2"/>
                </a:solidFill>
                <a:latin typeface="Hind"/>
                <a:ea typeface="Hind"/>
                <a:cs typeface="Hind"/>
                <a:sym typeface="Hind"/>
              </a:rPr>
              <a:t>Overfitting is a huge problem!</a:t>
            </a:r>
            <a:endParaRPr b="0" i="0" sz="2000" u="none" cap="none" strike="noStrike">
              <a:solidFill>
                <a:srgbClr val="595959"/>
              </a:solidFill>
              <a:latin typeface="Hind"/>
              <a:ea typeface="Hind"/>
              <a:cs typeface="Hind"/>
              <a:sym typeface="Hind"/>
            </a:endParaRPr>
          </a:p>
          <a:p>
            <a:pPr indent="-355600" lvl="1" marL="914400" marR="0" rtl="0" algn="l">
              <a:lnSpc>
                <a:spcPct val="115000"/>
              </a:lnSpc>
              <a:spcBef>
                <a:spcPts val="0"/>
              </a:spcBef>
              <a:spcAft>
                <a:spcPts val="0"/>
              </a:spcAft>
              <a:buClr>
                <a:srgbClr val="595959"/>
              </a:buClr>
              <a:buSzPts val="2000"/>
              <a:buFont typeface="Hind"/>
              <a:buChar char="○"/>
            </a:pPr>
            <a:r>
              <a:rPr b="0" i="0" lang="en" sz="2000" u="none" cap="none" strike="noStrike">
                <a:solidFill>
                  <a:srgbClr val="595959"/>
                </a:solidFill>
                <a:latin typeface="Hind"/>
                <a:ea typeface="Hind"/>
                <a:cs typeface="Hind"/>
                <a:sym typeface="Hind"/>
              </a:rPr>
              <a:t>We’ll delve deeper in the next few lectures…</a:t>
            </a:r>
            <a:endParaRPr b="0" i="0" sz="2000" u="none" cap="none" strike="noStrike">
              <a:solidFill>
                <a:srgbClr val="595959"/>
              </a:solidFill>
              <a:latin typeface="Hind"/>
              <a:ea typeface="Hind"/>
              <a:cs typeface="Hind"/>
              <a:sym typeface="Hi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
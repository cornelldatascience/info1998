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Hind"/>
      <p:regular r:id="rId44"/>
      <p:bold r:id="rId45"/>
    </p:embeddedFont>
    <p:embeddedFont>
      <p:font typeface="Helvetica Neue"/>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41DA03-DB5E-43B5-91D8-C42B614085EE}">
  <a:tblStyle styleId="{4441DA03-DB5E-43B5-91D8-C42B614085E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1E8"/>
          </a:solidFill>
        </a:fill>
      </a:tcStyle>
    </a:wholeTbl>
    <a:band1H>
      <a:tcTxStyle b="off" i="off"/>
      <a:tcStyle>
        <a:fill>
          <a:solidFill>
            <a:srgbClr val="FFE2CD"/>
          </a:solidFill>
        </a:fill>
      </a:tcStyle>
    </a:band1H>
    <a:band2H>
      <a:tcTxStyle b="off" i="off"/>
    </a:band2H>
    <a:band1V>
      <a:tcTxStyle b="off" i="off"/>
      <a:tcStyle>
        <a:fill>
          <a:solidFill>
            <a:srgbClr val="FFE2CD"/>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Hind-regular.fntdata"/><Relationship Id="rId43" Type="http://schemas.openxmlformats.org/officeDocument/2006/relationships/slide" Target="slides/slide38.xml"/><Relationship Id="rId46" Type="http://schemas.openxmlformats.org/officeDocument/2006/relationships/font" Target="fonts/HelveticaNeue-regular.fntdata"/><Relationship Id="rId45" Type="http://schemas.openxmlformats.org/officeDocument/2006/relationships/font" Target="fonts/Hin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italic.fntdata"/><Relationship Id="rId47" Type="http://schemas.openxmlformats.org/officeDocument/2006/relationships/font" Target="fonts/HelveticaNeue-bold.fntdata"/><Relationship Id="rId49" Type="http://schemas.openxmlformats.org/officeDocument/2006/relationships/font" Target="fonts/HelveticaNeue-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owardsdatascience.com/https-medium-com-lorrli-classification-and-regression-analysis-with-decision-trees-c43cdbc58054"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williamkoehrsen/random-forest-simple-explanation-377895a60d2d"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2f66949fecd_0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 name="Google Shape;41;g2f66949fecd_0_4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6eef46f03f215fe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h6eef46f03f215fe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f66949fecd_0_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g2f66949fecd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f66949fecd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2f66949fecd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u="sng">
                <a:solidFill>
                  <a:schemeClr val="hlink"/>
                </a:solidFill>
                <a:hlinkClick r:id="rId2"/>
              </a:rPr>
              <a:t>https://towardsdatascience.com/https-medium-com-lorrli-classification-and-regression-analysis-with-decision-trees-c43cdbc58054</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f66949fecd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2f66949fecd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f66949fecd_0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2f66949fecd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f66949fecd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2f66949fecd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f66949fecd_0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2f66949fecd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f66949fecd_0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g2f66949fecd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66949fecd_0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2f66949fecd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f66949fecd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2f66949fecd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f66949fecd_0_3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2f66949fecd_0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f66949fecd_0_3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2f66949fecd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u="sng">
                <a:solidFill>
                  <a:schemeClr val="hlink"/>
                </a:solidFill>
                <a:hlinkClick r:id="rId2"/>
              </a:rPr>
              <a:t>https://medium.com/@williamkoehrsen/random-forest-simple-explanation-377895a60d2d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f66949fecd_0_3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2f66949fecd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f66949fecd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g2f66949fecd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f66949fecd_0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2f66949fecd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f66949fecd_0_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2f66949fecd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f66949fecd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f66949fecd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f66949fecd_0_3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g2f66949fecd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7f049ffea2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terminology: train, validation, test</a:t>
            </a:r>
            <a:endParaRPr/>
          </a:p>
        </p:txBody>
      </p:sp>
      <p:sp>
        <p:nvSpPr>
          <p:cNvPr id="252" name="Google Shape;252;g7f049ffea2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d2c11eb362_1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d2c11eb362_1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7f049ffea2_0_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7f049ffea2_0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7f049ffea2_0_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7f049ffea2_0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K-Fold you create k partitions, and then pick each of k partitions to be test set exactly once</a:t>
            </a:r>
            <a:endParaRPr/>
          </a:p>
          <a:p>
            <a:pPr indent="0" lvl="0" marL="0" marR="0" rtl="0" algn="l">
              <a:lnSpc>
                <a:spcPct val="100000"/>
              </a:lnSpc>
              <a:spcBef>
                <a:spcPts val="0"/>
              </a:spcBef>
              <a:spcAft>
                <a:spcPts val="0"/>
              </a:spcAft>
              <a:buClr>
                <a:srgbClr val="000000"/>
              </a:buClr>
              <a:buSzPts val="1400"/>
              <a:buFont typeface="Arial"/>
              <a:buNone/>
            </a:pPr>
            <a:r>
              <a:rPr lang="en"/>
              <a:t>Leave-P-Out: you use all possible test sets based on size P, much slower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7f049ffea2_0_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7f049ffea2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Runtime explodes when P ~ N/2</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7f049ffea2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7f049ffea2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7f049ffea2_0_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7f049ffea2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7f19f4ff45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7f19f4ff45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t>The use of the term bootstrap derives from the phrase to pull oneself up by one’s bootstraps, widely thought to be based on one of the eighteenth century “The Surprising Adventures of Baron Munchausen” by Rudolph Erich Raspe: The Baron had fallen to the bottom of a deep lake. Just when it looked like all was lost, he thought to pick himself up by his own bootstraps. It is not the same as the term “bootstrap” used in computer science meaning to “boot” a computer from a set of core instructions, though the derivation is similar.</a:t>
            </a:r>
            <a:endParaRPr sz="1400"/>
          </a:p>
          <a:p>
            <a:pPr indent="0" lvl="0" marL="0" rtl="0" algn="l">
              <a:lnSpc>
                <a:spcPct val="100000"/>
              </a:lnSpc>
              <a:spcBef>
                <a:spcPts val="0"/>
              </a:spcBef>
              <a:spcAft>
                <a:spcPts val="0"/>
              </a:spcAft>
              <a:buSzPts val="1100"/>
              <a:buNone/>
            </a:pPr>
            <a:r>
              <a:rPr lang="en" sz="1400">
                <a:solidFill>
                  <a:schemeClr val="dk1"/>
                </a:solidFill>
              </a:rPr>
              <a:t>The bootstrap is a flexible and powerful statistical tool that can be used to quantify the uncertainty associated with a given estimator or statistical learning method. For example, it can provide an estimate of the standard error of a coefficient, or a confidence interval for that coefficient.</a:t>
            </a:r>
            <a:endParaRPr sz="1400">
              <a:solidFill>
                <a:schemeClr val="dk1"/>
              </a:solidFill>
            </a:endParaRPr>
          </a:p>
          <a:p>
            <a:pPr indent="0" lvl="0" marL="0" rtl="0" algn="l">
              <a:lnSpc>
                <a:spcPct val="100000"/>
              </a:lnSpc>
              <a:spcBef>
                <a:spcPts val="0"/>
              </a:spcBef>
              <a:spcAft>
                <a:spcPts val="0"/>
              </a:spcAft>
              <a:buSzPts val="1100"/>
              <a:buNone/>
            </a:pPr>
            <a:r>
              <a:t/>
            </a:r>
            <a:endParaRPr sz="1700"/>
          </a:p>
          <a:p>
            <a:pPr indent="0" lvl="0" marL="0" rtl="0" algn="l">
              <a:lnSpc>
                <a:spcPct val="100000"/>
              </a:lnSpc>
              <a:spcBef>
                <a:spcPts val="0"/>
              </a:spcBef>
              <a:spcAft>
                <a:spcPts val="0"/>
              </a:spcAft>
              <a:buSzPts val="1100"/>
              <a:buNone/>
            </a:pPr>
            <a:r>
              <a:rPr lang="en" sz="1700"/>
              <a:t>Bootstrap → sample from training data</a:t>
            </a:r>
            <a:endParaRPr sz="1700"/>
          </a:p>
          <a:p>
            <a:pPr indent="0" lvl="0" marL="0" rtl="0" algn="l">
              <a:lnSpc>
                <a:spcPct val="100000"/>
              </a:lnSpc>
              <a:spcBef>
                <a:spcPts val="0"/>
              </a:spcBef>
              <a:spcAft>
                <a:spcPts val="0"/>
              </a:spcAft>
              <a:buSzPts val="1100"/>
              <a:buNone/>
            </a:pPr>
            <a:r>
              <a:rPr lang="en" sz="1700"/>
              <a:t>Monte Carlo → train test splits of training data</a:t>
            </a:r>
            <a:endParaRPr sz="17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0fcc01fbf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0fcc01fbf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7f19f4ff45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7f19f4ff45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7f19f4ff45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7f19f4ff45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7f19f4ff45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7f19f4ff45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7f19f4ff45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g7f19f4ff45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400">
                <a:solidFill>
                  <a:schemeClr val="dk1"/>
                </a:solidFill>
              </a:rPr>
              <a:t>For real data we cannot generate new samples from the original population. However, the bootstrap approach allows us to use a computer to mimic the process of obtaining new data sets, so that we can estimate the variability of our estimate without generating additional samples. </a:t>
            </a:r>
            <a:endParaRPr sz="1400">
              <a:solidFill>
                <a:schemeClr val="dk1"/>
              </a:solidFill>
            </a:endParaRPr>
          </a:p>
          <a:p>
            <a:pPr indent="0" lvl="0" marL="0" rtl="0" algn="l">
              <a:lnSpc>
                <a:spcPct val="115000"/>
              </a:lnSpc>
              <a:spcBef>
                <a:spcPts val="0"/>
              </a:spcBef>
              <a:spcAft>
                <a:spcPts val="0"/>
              </a:spcAft>
              <a:buSzPts val="1100"/>
              <a:buNone/>
            </a:pPr>
            <a:r>
              <a:rPr lang="en" sz="1400">
                <a:solidFill>
                  <a:schemeClr val="dk1"/>
                </a:solidFill>
              </a:rPr>
              <a:t>• Rather than repeatedly obtaining independent data sets from the population, we instead obtain distinct data sets by repeatedly sampling observations from the original data set with replacement. </a:t>
            </a:r>
            <a:endParaRPr sz="1400">
              <a:solidFill>
                <a:schemeClr val="dk1"/>
              </a:solidFill>
            </a:endParaRPr>
          </a:p>
          <a:p>
            <a:pPr indent="0" lvl="0" marL="0" rtl="0" algn="l">
              <a:lnSpc>
                <a:spcPct val="115000"/>
              </a:lnSpc>
              <a:spcBef>
                <a:spcPts val="0"/>
              </a:spcBef>
              <a:spcAft>
                <a:spcPts val="0"/>
              </a:spcAft>
              <a:buSzPts val="1100"/>
              <a:buNone/>
            </a:pPr>
            <a:r>
              <a:rPr lang="en" sz="1400">
                <a:solidFill>
                  <a:schemeClr val="dk1"/>
                </a:solidFill>
              </a:rPr>
              <a:t>• Each of these “bootstrap data sets” is created by sampling with replacement, and is the same size as our original dataset. As a result some observations may appear more than once in a given bootstrap data set and some not at all.</a:t>
            </a:r>
            <a:endParaRPr sz="1400">
              <a:solidFill>
                <a:schemeClr val="dk1"/>
              </a:solidFill>
            </a:endParaRPr>
          </a:p>
          <a:p>
            <a:pPr indent="0" lvl="0" marL="0" rtl="0" algn="l">
              <a:lnSpc>
                <a:spcPct val="115000"/>
              </a:lnSpc>
              <a:spcBef>
                <a:spcPts val="0"/>
              </a:spcBef>
              <a:spcAft>
                <a:spcPts val="0"/>
              </a:spcAft>
              <a:buSzPts val="1100"/>
              <a:buNone/>
            </a:pPr>
            <a:r>
              <a:rPr lang="en" sz="1400">
                <a:solidFill>
                  <a:schemeClr val="dk1"/>
                </a:solidFill>
              </a:rPr>
              <a:t>• In more complex data situations, figuring out the appropriate way to generate bootstrap samples can require some thought.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 For example, if the data is a time series, we can’t simply sample the observations with replacement</a:t>
            </a:r>
            <a:endParaRPr sz="1400">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7f19f4ff45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7f19f4ff45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7f19f4ff45_0_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7f19f4ff45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ce01a1569a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gce01a1569a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7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613CB0"/>
              </a:buClr>
              <a:buSzPts val="2800"/>
              <a:buFont typeface="Hind"/>
              <a:buNone/>
              <a:defRPr b="1" i="0" sz="2000" u="none" cap="none" strike="noStrike">
                <a:solidFill>
                  <a:srgbClr val="613CB0"/>
                </a:solidFill>
                <a:latin typeface="Hind"/>
                <a:ea typeface="Hind"/>
                <a:cs typeface="Hind"/>
                <a:sym typeface="Hind"/>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pic>
        <p:nvPicPr>
          <p:cNvPr id="14" name="Google Shape;14;p3"/>
          <p:cNvPicPr preferRelativeResize="0"/>
          <p:nvPr/>
        </p:nvPicPr>
        <p:blipFill>
          <a:blip r:embed="rId2">
            <a:alphaModFix/>
          </a:blip>
          <a:stretch>
            <a:fillRect/>
          </a:stretch>
        </p:blipFill>
        <p:spPr>
          <a:xfrm>
            <a:off x="38650" y="4740050"/>
            <a:ext cx="378028" cy="36479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613CB0"/>
              </a:buClr>
              <a:buSzPts val="3600"/>
              <a:buFont typeface="Hind"/>
              <a:buNone/>
              <a:defRPr b="1" i="0" sz="3600" u="none" cap="none" strike="noStrike">
                <a:solidFill>
                  <a:srgbClr val="613CB0"/>
                </a:solidFill>
                <a:latin typeface="Hind"/>
                <a:ea typeface="Hind"/>
                <a:cs typeface="Hind"/>
                <a:sym typeface="Hind"/>
              </a:defRPr>
            </a:lvl1pPr>
            <a:lvl2pPr lvl="1"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 name="Google Shape;18;p4"/>
          <p:cNvPicPr preferRelativeResize="0"/>
          <p:nvPr/>
        </p:nvPicPr>
        <p:blipFill>
          <a:blip r:embed="rId2">
            <a:alphaModFix/>
          </a:blip>
          <a:stretch>
            <a:fillRect/>
          </a:stretch>
        </p:blipFill>
        <p:spPr>
          <a:xfrm>
            <a:off x="38650" y="4532150"/>
            <a:ext cx="593463" cy="57270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 name="Shape 19"/>
        <p:cNvGrpSpPr/>
        <p:nvPr/>
      </p:nvGrpSpPr>
      <p:grpSpPr>
        <a:xfrm>
          <a:off x="0" y="0"/>
          <a:ext cx="0" cy="0"/>
          <a:chOff x="0" y="0"/>
          <a:chExt cx="0" cy="0"/>
        </a:xfrm>
      </p:grpSpPr>
      <p:sp>
        <p:nvSpPr>
          <p:cNvPr id="20" name="Google Shape;20;p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9pPr>
          </a:lstStyle>
          <a:p/>
        </p:txBody>
      </p:sp>
      <p:sp>
        <p:nvSpPr>
          <p:cNvPr id="21" name="Google Shape;21;p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1pPr>
            <a:lvl2pPr indent="-304800" lvl="1" marL="914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2pPr>
            <a:lvl3pPr indent="-304800" lvl="2" marL="1371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3pPr>
            <a:lvl4pPr indent="-304800" lvl="3" marL="18288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4pPr>
            <a:lvl5pPr indent="-304800" lvl="4" marL="22860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04800" lvl="5" marL="27432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6pPr>
            <a:lvl7pPr indent="-304800" lvl="6" marL="3200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7pPr>
            <a:lvl8pPr indent="-304800" lvl="7" marL="3657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8pPr>
            <a:lvl9pPr indent="-304800" lvl="8" marL="4114800" marR="0" algn="l">
              <a:lnSpc>
                <a:spcPct val="115000"/>
              </a:lnSpc>
              <a:spcBef>
                <a:spcPts val="1600"/>
              </a:spcBef>
              <a:spcAft>
                <a:spcPts val="1600"/>
              </a:spcAft>
              <a:buClr>
                <a:schemeClr val="dk2"/>
              </a:buClr>
              <a:buSzPts val="1200"/>
              <a:buFont typeface="Arial"/>
              <a:buChar char="■"/>
              <a:defRPr b="0" i="0" sz="1200" u="none" cap="none" strike="noStrike">
                <a:solidFill>
                  <a:schemeClr val="dk2"/>
                </a:solidFill>
                <a:latin typeface="Arial"/>
                <a:ea typeface="Arial"/>
                <a:cs typeface="Arial"/>
                <a:sym typeface="Arial"/>
              </a:defRPr>
            </a:lvl9pPr>
          </a:lstStyle>
          <a:p/>
        </p:txBody>
      </p:sp>
      <p:sp>
        <p:nvSpPr>
          <p:cNvPr id="22" name="Google Shape;2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3" name="Shape 23"/>
        <p:cNvGrpSpPr/>
        <p:nvPr/>
      </p:nvGrpSpPr>
      <p:grpSpPr>
        <a:xfrm>
          <a:off x="0" y="0"/>
          <a:ext cx="0" cy="0"/>
          <a:chOff x="0" y="0"/>
          <a:chExt cx="0" cy="0"/>
        </a:xfrm>
      </p:grpSpPr>
      <p:sp>
        <p:nvSpPr>
          <p:cNvPr id="24" name="Google Shape;24;p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 name="Shape 26"/>
        <p:cNvGrpSpPr/>
        <p:nvPr/>
      </p:nvGrpSpPr>
      <p:grpSpPr>
        <a:xfrm>
          <a:off x="0" y="0"/>
          <a:ext cx="0" cy="0"/>
          <a:chOff x="0" y="0"/>
          <a:chExt cx="0" cy="0"/>
        </a:xfrm>
      </p:grpSpPr>
      <p:sp>
        <p:nvSpPr>
          <p:cNvPr id="27" name="Google Shape;27;p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9pPr>
          </a:lstStyle>
          <a:p/>
        </p:txBody>
      </p:sp>
      <p:sp>
        <p:nvSpPr>
          <p:cNvPr id="29" name="Google Shape;29;p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1pPr>
            <a:lvl2pPr lvl="1"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9pPr>
          </a:lstStyle>
          <a:p/>
        </p:txBody>
      </p:sp>
      <p:sp>
        <p:nvSpPr>
          <p:cNvPr id="30" name="Google Shape;30;p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 name="Shape 32"/>
        <p:cNvGrpSpPr/>
        <p:nvPr/>
      </p:nvGrpSpPr>
      <p:grpSpPr>
        <a:xfrm>
          <a:off x="0" y="0"/>
          <a:ext cx="0" cy="0"/>
          <a:chOff x="0" y="0"/>
          <a:chExt cx="0" cy="0"/>
        </a:xfrm>
      </p:grpSpPr>
      <p:sp>
        <p:nvSpPr>
          <p:cNvPr id="33" name="Google Shape;33;p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 name="Shape 35"/>
        <p:cNvGrpSpPr/>
        <p:nvPr/>
      </p:nvGrpSpPr>
      <p:grpSpPr>
        <a:xfrm>
          <a:off x="0" y="0"/>
          <a:ext cx="0" cy="0"/>
          <a:chOff x="0" y="0"/>
          <a:chExt cx="0" cy="0"/>
        </a:xfrm>
      </p:grpSpPr>
      <p:sp>
        <p:nvSpPr>
          <p:cNvPr id="36" name="Google Shape;36;p9"/>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9pPr>
          </a:lstStyle>
          <a:p/>
        </p:txBody>
      </p:sp>
      <p:sp>
        <p:nvSpPr>
          <p:cNvPr id="37" name="Google Shape;37;p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marR="0" algn="ctr">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ctr">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8" name="Google Shape;3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towardsdatascience.com/https-medium-com-lorrli-classification-and-regression-analysis-with-decision-trees-c43cdbc5805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10.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medium.com/@williamkoehrsen/random-forest-simple-explanation-377895a60d2d" TargetMode="Externa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hyperlink" Target="https://medium.com/@williamkoehrsen/random-forest-simple-explanation-377895a60d2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math.stackexchange.com/questions/882741/limit-of-1-x-nn-when-n-tends-to-infinity"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0"/>
          <p:cNvSpPr txBox="1"/>
          <p:nvPr>
            <p:ph idx="4294967295" type="ctrTitle"/>
          </p:nvPr>
        </p:nvSpPr>
        <p:spPr>
          <a:xfrm>
            <a:off x="1018463" y="1817025"/>
            <a:ext cx="7107000" cy="795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2400" u="none" cap="none" strike="noStrike">
                <a:solidFill>
                  <a:srgbClr val="613CB0"/>
                </a:solidFill>
                <a:latin typeface="Hind"/>
                <a:ea typeface="Hind"/>
                <a:cs typeface="Hind"/>
                <a:sym typeface="Hind"/>
              </a:rPr>
              <a:t>Lecture 8: </a:t>
            </a:r>
            <a:r>
              <a:rPr b="1" lang="en" sz="2400">
                <a:solidFill>
                  <a:srgbClr val="613CB0"/>
                </a:solidFill>
                <a:latin typeface="Hind"/>
                <a:ea typeface="Hind"/>
                <a:cs typeface="Hind"/>
                <a:sym typeface="Hind"/>
              </a:rPr>
              <a:t>Supervised Learning Pt. 2</a:t>
            </a:r>
            <a:endParaRPr b="1" sz="2400">
              <a:solidFill>
                <a:srgbClr val="613CB0"/>
              </a:solidFill>
              <a:latin typeface="Hind"/>
              <a:ea typeface="Hind"/>
              <a:cs typeface="Hind"/>
              <a:sym typeface="Hind"/>
            </a:endParaRPr>
          </a:p>
        </p:txBody>
      </p:sp>
      <p:sp>
        <p:nvSpPr>
          <p:cNvPr id="44" name="Google Shape;44;p10"/>
          <p:cNvSpPr txBox="1"/>
          <p:nvPr/>
        </p:nvSpPr>
        <p:spPr>
          <a:xfrm>
            <a:off x="1018531" y="2988979"/>
            <a:ext cx="7107000" cy="33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200" u="none" cap="none" strike="noStrike">
                <a:solidFill>
                  <a:srgbClr val="3F3F3F"/>
                </a:solidFill>
                <a:latin typeface="Hind"/>
                <a:ea typeface="Hind"/>
                <a:cs typeface="Hind"/>
                <a:sym typeface="Hind"/>
              </a:rPr>
              <a:t>INFO 1998: Introduction to Machine Learning</a:t>
            </a:r>
            <a:endParaRPr i="0" sz="1400" u="none" cap="none" strike="noStrike">
              <a:solidFill>
                <a:srgbClr val="000000"/>
              </a:solidFill>
              <a:latin typeface="Hind"/>
              <a:ea typeface="Hind"/>
              <a:cs typeface="Hind"/>
              <a:sym typeface="Hind"/>
            </a:endParaRPr>
          </a:p>
        </p:txBody>
      </p:sp>
      <p:pic>
        <p:nvPicPr>
          <p:cNvPr id="45" name="Google Shape;45;p10"/>
          <p:cNvPicPr preferRelativeResize="0"/>
          <p:nvPr/>
        </p:nvPicPr>
        <p:blipFill>
          <a:blip r:embed="rId3">
            <a:alphaModFix/>
          </a:blip>
          <a:stretch>
            <a:fillRect/>
          </a:stretch>
        </p:blipFill>
        <p:spPr>
          <a:xfrm>
            <a:off x="100850" y="4493296"/>
            <a:ext cx="1835400" cy="529729"/>
          </a:xfrm>
          <a:prstGeom prst="rect">
            <a:avLst/>
          </a:prstGeom>
          <a:noFill/>
          <a:ln>
            <a:noFill/>
          </a:ln>
        </p:spPr>
      </p:pic>
      <p:sp>
        <p:nvSpPr>
          <p:cNvPr id="46" name="Google Shape;46;p10"/>
          <p:cNvSpPr txBox="1"/>
          <p:nvPr/>
        </p:nvSpPr>
        <p:spPr>
          <a:xfrm>
            <a:off x="2557913" y="2486200"/>
            <a:ext cx="4028100" cy="4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Hind"/>
                <a:ea typeface="Hind"/>
                <a:cs typeface="Hind"/>
                <a:sym typeface="Hind"/>
              </a:rPr>
              <a:t>More Models, Bootstrapping, and Bagging</a:t>
            </a:r>
            <a:endParaRPr b="1" sz="1500">
              <a:solidFill>
                <a:schemeClr val="dk2"/>
              </a:solidFill>
              <a:latin typeface="Hind"/>
              <a:ea typeface="Hind"/>
              <a:cs typeface="Hind"/>
              <a:sym typeface="Hi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11" title="info1998_lec8_attendance_qr.png"/>
          <p:cNvPicPr preferRelativeResize="0"/>
          <p:nvPr/>
        </p:nvPicPr>
        <p:blipFill>
          <a:blip r:embed="rId3">
            <a:alphaModFix/>
          </a:blip>
          <a:stretch>
            <a:fillRect/>
          </a:stretch>
        </p:blipFill>
        <p:spPr>
          <a:xfrm>
            <a:off x="3017520" y="1737360"/>
            <a:ext cx="3108960" cy="3108960"/>
          </a:xfrm>
          <a:prstGeom prst="rect">
            <a:avLst/>
          </a:prstGeom>
          <a:noFill/>
          <a:ln>
            <a:noFill/>
          </a:ln>
        </p:spPr>
      </p:pic>
      <p:sp>
        <p:nvSpPr>
          <p:cNvPr id="52" name="Google Shape;52;p11"/>
          <p:cNvSpPr txBox="1"/>
          <p:nvPr/>
        </p:nvSpPr>
        <p:spPr>
          <a:xfrm>
            <a:off x="1605725" y="288450"/>
            <a:ext cx="59613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0">
                <a:solidFill>
                  <a:schemeClr val="dk2"/>
                </a:solidFill>
              </a:rPr>
              <a:t>Attendance Form!</a:t>
            </a:r>
            <a:endParaRPr sz="4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t>Agenda</a:t>
            </a:r>
            <a:endParaRPr i="0" sz="2400" u="none" cap="none" strike="noStrike"/>
          </a:p>
        </p:txBody>
      </p:sp>
      <p:sp>
        <p:nvSpPr>
          <p:cNvPr id="58" name="Google Shape;58;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1"/>
              </a:buClr>
              <a:buSzPts val="2000"/>
              <a:buFont typeface="Hind"/>
              <a:buAutoNum type="arabicPeriod"/>
            </a:pPr>
            <a:r>
              <a:rPr lang="en" sz="2000">
                <a:solidFill>
                  <a:schemeClr val="dk1"/>
                </a:solidFill>
                <a:latin typeface="Hind"/>
                <a:ea typeface="Hind"/>
                <a:cs typeface="Hind"/>
                <a:sym typeface="Hind"/>
              </a:rPr>
              <a:t>Decision Trees</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AutoNum type="arabicPeriod"/>
            </a:pPr>
            <a:r>
              <a:rPr lang="en" sz="2000">
                <a:solidFill>
                  <a:schemeClr val="dk1"/>
                </a:solidFill>
                <a:latin typeface="Hind"/>
                <a:ea typeface="Hind"/>
                <a:cs typeface="Hind"/>
                <a:sym typeface="Hind"/>
              </a:rPr>
              <a:t>Logistic Regression</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AutoNum type="arabicPeriod"/>
            </a:pPr>
            <a:r>
              <a:rPr lang="en" sz="2000">
                <a:solidFill>
                  <a:schemeClr val="dk1"/>
                </a:solidFill>
                <a:latin typeface="Hind"/>
                <a:ea typeface="Hind"/>
                <a:cs typeface="Hind"/>
                <a:sym typeface="Hind"/>
              </a:rPr>
              <a:t>Validation Techniques</a:t>
            </a:r>
            <a:endParaRPr sz="2000">
              <a:solidFill>
                <a:schemeClr val="dk1"/>
              </a:solidFill>
              <a:latin typeface="Hind"/>
              <a:ea typeface="Hind"/>
              <a:cs typeface="Hind"/>
              <a:sym typeface="Hind"/>
            </a:endParaRPr>
          </a:p>
          <a:p>
            <a:pPr indent="-355600" lvl="1" marL="9144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Bootstrapping &amp; Bagging</a:t>
            </a:r>
            <a:endParaRPr sz="2000">
              <a:solidFill>
                <a:schemeClr val="dk1"/>
              </a:solidFill>
              <a:latin typeface="Hind"/>
              <a:ea typeface="Hind"/>
              <a:cs typeface="Hind"/>
              <a:sym typeface="Hi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lang="en" sz="4800"/>
              <a:t>Decision Trees</a:t>
            </a:r>
            <a:endParaRPr sz="4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How Should I Spend My Weekends</a:t>
            </a:r>
            <a:endParaRPr sz="2400"/>
          </a:p>
        </p:txBody>
      </p:sp>
      <p:sp>
        <p:nvSpPr>
          <p:cNvPr id="69" name="Google Shape;69;p14"/>
          <p:cNvSpPr txBox="1"/>
          <p:nvPr>
            <p:ph idx="1" type="body"/>
          </p:nvPr>
        </p:nvSpPr>
        <p:spPr>
          <a:xfrm>
            <a:off x="311700" y="1152474"/>
            <a:ext cx="3201000" cy="35622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
                <a:latin typeface="Hind"/>
                <a:ea typeface="Hind"/>
                <a:cs typeface="Hind"/>
                <a:sym typeface="Hind"/>
              </a:rPr>
              <a:t>D</a:t>
            </a:r>
            <a:r>
              <a:rPr b="1" lang="en">
                <a:latin typeface="Hind"/>
                <a:ea typeface="Hind"/>
                <a:cs typeface="Hind"/>
                <a:sym typeface="Hind"/>
              </a:rPr>
              <a:t>ecision Tree</a:t>
            </a:r>
            <a:endParaRPr>
              <a:latin typeface="Hind"/>
              <a:ea typeface="Hind"/>
              <a:cs typeface="Hind"/>
              <a:sym typeface="Hind"/>
            </a:endParaRPr>
          </a:p>
          <a:p>
            <a:pPr indent="-342900" lvl="0" marL="457200" rtl="0" algn="l">
              <a:lnSpc>
                <a:spcPct val="115000"/>
              </a:lnSpc>
              <a:spcBef>
                <a:spcPts val="0"/>
              </a:spcBef>
              <a:spcAft>
                <a:spcPts val="0"/>
              </a:spcAft>
              <a:buSzPts val="1800"/>
              <a:buFont typeface="Hind"/>
              <a:buChar char="●"/>
            </a:pPr>
            <a:r>
              <a:rPr i="1" lang="en">
                <a:latin typeface="Hind"/>
                <a:ea typeface="Hind"/>
                <a:cs typeface="Hind"/>
                <a:sym typeface="Hind"/>
              </a:rPr>
              <a:t>supervised</a:t>
            </a:r>
            <a:r>
              <a:rPr lang="en">
                <a:latin typeface="Hind"/>
                <a:ea typeface="Hind"/>
                <a:cs typeface="Hind"/>
                <a:sym typeface="Hind"/>
              </a:rPr>
              <a:t> machine learning model</a:t>
            </a:r>
            <a:endParaRPr>
              <a:latin typeface="Hind"/>
              <a:ea typeface="Hind"/>
              <a:cs typeface="Hind"/>
              <a:sym typeface="Hind"/>
            </a:endParaRPr>
          </a:p>
          <a:p>
            <a:pPr indent="-342900" lvl="0" marL="457200" rtl="0" algn="l">
              <a:lnSpc>
                <a:spcPct val="115000"/>
              </a:lnSpc>
              <a:spcBef>
                <a:spcPts val="0"/>
              </a:spcBef>
              <a:spcAft>
                <a:spcPts val="0"/>
              </a:spcAft>
              <a:buSzPts val="1800"/>
              <a:buChar char="●"/>
            </a:pPr>
            <a:r>
              <a:rPr b="1" lang="en">
                <a:latin typeface="Hind"/>
                <a:ea typeface="Hind"/>
                <a:cs typeface="Hind"/>
                <a:sym typeface="Hind"/>
              </a:rPr>
              <a:t>breaking down </a:t>
            </a:r>
            <a:r>
              <a:rPr lang="en">
                <a:latin typeface="Hind"/>
                <a:ea typeface="Hind"/>
                <a:cs typeface="Hind"/>
                <a:sym typeface="Hind"/>
              </a:rPr>
              <a:t>our data by </a:t>
            </a:r>
            <a:r>
              <a:rPr b="1" lang="en">
                <a:latin typeface="Hind"/>
                <a:ea typeface="Hind"/>
                <a:cs typeface="Hind"/>
                <a:sym typeface="Hind"/>
              </a:rPr>
              <a:t>making a decision</a:t>
            </a:r>
            <a:r>
              <a:rPr lang="en">
                <a:latin typeface="Hind"/>
                <a:ea typeface="Hind"/>
                <a:cs typeface="Hind"/>
                <a:sym typeface="Hind"/>
              </a:rPr>
              <a:t> based on </a:t>
            </a:r>
            <a:r>
              <a:rPr b="1" lang="en">
                <a:latin typeface="Hind"/>
                <a:ea typeface="Hind"/>
                <a:cs typeface="Hind"/>
                <a:sym typeface="Hind"/>
              </a:rPr>
              <a:t>asking a series of questions </a:t>
            </a:r>
            <a:r>
              <a:rPr lang="en">
                <a:latin typeface="Hind"/>
                <a:ea typeface="Hind"/>
                <a:cs typeface="Hind"/>
                <a:sym typeface="Hind"/>
              </a:rPr>
              <a:t>based on features</a:t>
            </a:r>
            <a:endParaRPr>
              <a:latin typeface="Hind"/>
              <a:ea typeface="Hind"/>
              <a:cs typeface="Hind"/>
              <a:sym typeface="Hind"/>
            </a:endParaRPr>
          </a:p>
        </p:txBody>
      </p:sp>
      <p:sp>
        <p:nvSpPr>
          <p:cNvPr id="70" name="Google Shape;70;p14"/>
          <p:cNvSpPr/>
          <p:nvPr/>
        </p:nvSpPr>
        <p:spPr>
          <a:xfrm>
            <a:off x="4572000" y="1152475"/>
            <a:ext cx="1280100" cy="493500"/>
          </a:xfrm>
          <a:prstGeom prst="roundRect">
            <a:avLst>
              <a:gd fmla="val 16667" name="adj"/>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Work To Do?</a:t>
            </a:r>
            <a:endParaRPr b="0" i="0" sz="1400" u="none" cap="none" strike="noStrike">
              <a:solidFill>
                <a:srgbClr val="000000"/>
              </a:solidFill>
              <a:latin typeface="Arial"/>
              <a:ea typeface="Arial"/>
              <a:cs typeface="Arial"/>
              <a:sym typeface="Arial"/>
            </a:endParaRPr>
          </a:p>
        </p:txBody>
      </p:sp>
      <p:sp>
        <p:nvSpPr>
          <p:cNvPr id="71" name="Google Shape;71;p14"/>
          <p:cNvSpPr/>
          <p:nvPr/>
        </p:nvSpPr>
        <p:spPr>
          <a:xfrm>
            <a:off x="3832861" y="2152692"/>
            <a:ext cx="937200" cy="2913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Stay In</a:t>
            </a:r>
            <a:endParaRPr b="0" i="0" sz="1400" u="none" cap="none" strike="noStrike">
              <a:solidFill>
                <a:srgbClr val="000000"/>
              </a:solidFill>
              <a:latin typeface="Arial"/>
              <a:ea typeface="Arial"/>
              <a:cs typeface="Arial"/>
              <a:sym typeface="Arial"/>
            </a:endParaRPr>
          </a:p>
        </p:txBody>
      </p:sp>
      <p:sp>
        <p:nvSpPr>
          <p:cNvPr id="72" name="Google Shape;72;p14"/>
          <p:cNvSpPr/>
          <p:nvPr/>
        </p:nvSpPr>
        <p:spPr>
          <a:xfrm>
            <a:off x="5539740" y="2152692"/>
            <a:ext cx="1280100" cy="493500"/>
          </a:xfrm>
          <a:prstGeom prst="roundRect">
            <a:avLst>
              <a:gd fmla="val 16667" name="adj"/>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Weather?</a:t>
            </a:r>
            <a:endParaRPr b="0" i="0" sz="1400" u="none" cap="none" strike="noStrike">
              <a:solidFill>
                <a:srgbClr val="000000"/>
              </a:solidFill>
              <a:latin typeface="Arial"/>
              <a:ea typeface="Arial"/>
              <a:cs typeface="Arial"/>
              <a:sym typeface="Arial"/>
            </a:endParaRPr>
          </a:p>
        </p:txBody>
      </p:sp>
      <p:sp>
        <p:nvSpPr>
          <p:cNvPr id="73" name="Google Shape;73;p14"/>
          <p:cNvSpPr/>
          <p:nvPr/>
        </p:nvSpPr>
        <p:spPr>
          <a:xfrm>
            <a:off x="7044690" y="3167180"/>
            <a:ext cx="1280100" cy="493500"/>
          </a:xfrm>
          <a:prstGeom prst="roundRect">
            <a:avLst>
              <a:gd fmla="val 16667" name="adj"/>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Friends Busy?</a:t>
            </a:r>
            <a:endParaRPr b="0" i="0" sz="1400" u="none" cap="none" strike="noStrike">
              <a:solidFill>
                <a:srgbClr val="000000"/>
              </a:solidFill>
              <a:latin typeface="Arial"/>
              <a:ea typeface="Arial"/>
              <a:cs typeface="Arial"/>
              <a:sym typeface="Arial"/>
            </a:endParaRPr>
          </a:p>
        </p:txBody>
      </p:sp>
      <p:cxnSp>
        <p:nvCxnSpPr>
          <p:cNvPr id="74" name="Google Shape;74;p14"/>
          <p:cNvCxnSpPr>
            <a:stCxn id="70" idx="2"/>
            <a:endCxn id="71" idx="0"/>
          </p:cNvCxnSpPr>
          <p:nvPr/>
        </p:nvCxnSpPr>
        <p:spPr>
          <a:xfrm flipH="1">
            <a:off x="4301550" y="1645975"/>
            <a:ext cx="910500" cy="506700"/>
          </a:xfrm>
          <a:prstGeom prst="straightConnector1">
            <a:avLst/>
          </a:prstGeom>
          <a:noFill/>
          <a:ln cap="flat" cmpd="sng" w="9525">
            <a:solidFill>
              <a:srgbClr val="FDA739"/>
            </a:solidFill>
            <a:prstDash val="solid"/>
            <a:round/>
            <a:headEnd len="sm" w="sm" type="none"/>
            <a:tailEnd len="med" w="med" type="triangle"/>
          </a:ln>
        </p:spPr>
      </p:cxnSp>
      <p:cxnSp>
        <p:nvCxnSpPr>
          <p:cNvPr id="75" name="Google Shape;75;p14"/>
          <p:cNvCxnSpPr>
            <a:stCxn id="70" idx="2"/>
            <a:endCxn id="72" idx="0"/>
          </p:cNvCxnSpPr>
          <p:nvPr/>
        </p:nvCxnSpPr>
        <p:spPr>
          <a:xfrm>
            <a:off x="5212050" y="1645975"/>
            <a:ext cx="967800" cy="506700"/>
          </a:xfrm>
          <a:prstGeom prst="straightConnector1">
            <a:avLst/>
          </a:prstGeom>
          <a:noFill/>
          <a:ln cap="flat" cmpd="sng" w="9525">
            <a:solidFill>
              <a:srgbClr val="FDA739"/>
            </a:solidFill>
            <a:prstDash val="solid"/>
            <a:round/>
            <a:headEnd len="sm" w="sm" type="none"/>
            <a:tailEnd len="med" w="med" type="triangle"/>
          </a:ln>
        </p:spPr>
      </p:cxnSp>
      <p:sp>
        <p:nvSpPr>
          <p:cNvPr id="76" name="Google Shape;76;p14"/>
          <p:cNvSpPr/>
          <p:nvPr/>
        </p:nvSpPr>
        <p:spPr>
          <a:xfrm>
            <a:off x="4377690" y="3268238"/>
            <a:ext cx="937200" cy="2913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Beach</a:t>
            </a:r>
            <a:endParaRPr b="0" i="0" sz="1400" u="none" cap="none" strike="noStrike">
              <a:solidFill>
                <a:srgbClr val="000000"/>
              </a:solidFill>
              <a:latin typeface="Arial"/>
              <a:ea typeface="Arial"/>
              <a:cs typeface="Arial"/>
              <a:sym typeface="Arial"/>
            </a:endParaRPr>
          </a:p>
        </p:txBody>
      </p:sp>
      <p:sp>
        <p:nvSpPr>
          <p:cNvPr id="77" name="Google Shape;77;p14"/>
          <p:cNvSpPr/>
          <p:nvPr/>
        </p:nvSpPr>
        <p:spPr>
          <a:xfrm>
            <a:off x="5711190" y="3271677"/>
            <a:ext cx="937200" cy="2913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Run</a:t>
            </a:r>
            <a:endParaRPr b="0" i="0" sz="1400" u="none" cap="none" strike="noStrike">
              <a:solidFill>
                <a:srgbClr val="000000"/>
              </a:solidFill>
              <a:latin typeface="Arial"/>
              <a:ea typeface="Arial"/>
              <a:cs typeface="Arial"/>
              <a:sym typeface="Arial"/>
            </a:endParaRPr>
          </a:p>
        </p:txBody>
      </p:sp>
      <p:cxnSp>
        <p:nvCxnSpPr>
          <p:cNvPr id="78" name="Google Shape;78;p14"/>
          <p:cNvCxnSpPr>
            <a:stCxn id="72" idx="2"/>
            <a:endCxn id="76" idx="0"/>
          </p:cNvCxnSpPr>
          <p:nvPr/>
        </p:nvCxnSpPr>
        <p:spPr>
          <a:xfrm flipH="1">
            <a:off x="4846290" y="2646192"/>
            <a:ext cx="1333500" cy="621900"/>
          </a:xfrm>
          <a:prstGeom prst="straightConnector1">
            <a:avLst/>
          </a:prstGeom>
          <a:noFill/>
          <a:ln cap="flat" cmpd="sng" w="9525">
            <a:solidFill>
              <a:srgbClr val="FDA739"/>
            </a:solidFill>
            <a:prstDash val="solid"/>
            <a:round/>
            <a:headEnd len="sm" w="sm" type="none"/>
            <a:tailEnd len="med" w="med" type="triangle"/>
          </a:ln>
        </p:spPr>
      </p:cxnSp>
      <p:cxnSp>
        <p:nvCxnSpPr>
          <p:cNvPr id="79" name="Google Shape;79;p14"/>
          <p:cNvCxnSpPr>
            <a:stCxn id="72" idx="2"/>
            <a:endCxn id="77" idx="0"/>
          </p:cNvCxnSpPr>
          <p:nvPr/>
        </p:nvCxnSpPr>
        <p:spPr>
          <a:xfrm>
            <a:off x="6179790" y="2646192"/>
            <a:ext cx="0" cy="625500"/>
          </a:xfrm>
          <a:prstGeom prst="straightConnector1">
            <a:avLst/>
          </a:prstGeom>
          <a:noFill/>
          <a:ln cap="flat" cmpd="sng" w="9525">
            <a:solidFill>
              <a:srgbClr val="FDA739"/>
            </a:solidFill>
            <a:prstDash val="solid"/>
            <a:round/>
            <a:headEnd len="sm" w="sm" type="none"/>
            <a:tailEnd len="med" w="med" type="triangle"/>
          </a:ln>
        </p:spPr>
      </p:cxnSp>
      <p:cxnSp>
        <p:nvCxnSpPr>
          <p:cNvPr id="80" name="Google Shape;80;p14"/>
          <p:cNvCxnSpPr>
            <a:stCxn id="72" idx="2"/>
            <a:endCxn id="73" idx="0"/>
          </p:cNvCxnSpPr>
          <p:nvPr/>
        </p:nvCxnSpPr>
        <p:spPr>
          <a:xfrm>
            <a:off x="6179790" y="2646192"/>
            <a:ext cx="1504800" cy="521100"/>
          </a:xfrm>
          <a:prstGeom prst="straightConnector1">
            <a:avLst/>
          </a:prstGeom>
          <a:noFill/>
          <a:ln cap="flat" cmpd="sng" w="9525">
            <a:solidFill>
              <a:srgbClr val="FDA739"/>
            </a:solidFill>
            <a:prstDash val="solid"/>
            <a:round/>
            <a:headEnd len="sm" w="sm" type="none"/>
            <a:tailEnd len="med" w="med" type="triangle"/>
          </a:ln>
        </p:spPr>
      </p:cxnSp>
      <p:sp>
        <p:nvSpPr>
          <p:cNvPr id="81" name="Google Shape;81;p14"/>
          <p:cNvSpPr/>
          <p:nvPr/>
        </p:nvSpPr>
        <p:spPr>
          <a:xfrm>
            <a:off x="6648450" y="4423210"/>
            <a:ext cx="937200" cy="2913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Stay In</a:t>
            </a:r>
            <a:endParaRPr b="0" i="0" sz="1400" u="none" cap="none" strike="noStrike">
              <a:solidFill>
                <a:srgbClr val="000000"/>
              </a:solidFill>
              <a:latin typeface="Arial"/>
              <a:ea typeface="Arial"/>
              <a:cs typeface="Arial"/>
              <a:sym typeface="Arial"/>
            </a:endParaRPr>
          </a:p>
        </p:txBody>
      </p:sp>
      <p:sp>
        <p:nvSpPr>
          <p:cNvPr id="82" name="Google Shape;82;p14"/>
          <p:cNvSpPr/>
          <p:nvPr/>
        </p:nvSpPr>
        <p:spPr>
          <a:xfrm>
            <a:off x="7895040" y="4423210"/>
            <a:ext cx="1020300" cy="2913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Movies</a:t>
            </a:r>
            <a:endParaRPr b="0" i="0" sz="1400" u="none" cap="none" strike="noStrike">
              <a:solidFill>
                <a:srgbClr val="000000"/>
              </a:solidFill>
              <a:latin typeface="Arial"/>
              <a:ea typeface="Arial"/>
              <a:cs typeface="Arial"/>
              <a:sym typeface="Arial"/>
            </a:endParaRPr>
          </a:p>
        </p:txBody>
      </p:sp>
      <p:cxnSp>
        <p:nvCxnSpPr>
          <p:cNvPr id="83" name="Google Shape;83;p14"/>
          <p:cNvCxnSpPr>
            <a:stCxn id="73" idx="2"/>
            <a:endCxn id="81" idx="0"/>
          </p:cNvCxnSpPr>
          <p:nvPr/>
        </p:nvCxnSpPr>
        <p:spPr>
          <a:xfrm flipH="1">
            <a:off x="7117140" y="3660680"/>
            <a:ext cx="567600" cy="762600"/>
          </a:xfrm>
          <a:prstGeom prst="straightConnector1">
            <a:avLst/>
          </a:prstGeom>
          <a:noFill/>
          <a:ln cap="flat" cmpd="sng" w="9525">
            <a:solidFill>
              <a:srgbClr val="FDA739"/>
            </a:solidFill>
            <a:prstDash val="solid"/>
            <a:round/>
            <a:headEnd len="sm" w="sm" type="none"/>
            <a:tailEnd len="med" w="med" type="triangle"/>
          </a:ln>
        </p:spPr>
      </p:cxnSp>
      <p:cxnSp>
        <p:nvCxnSpPr>
          <p:cNvPr id="84" name="Google Shape;84;p14"/>
          <p:cNvCxnSpPr>
            <a:stCxn id="73" idx="2"/>
            <a:endCxn id="82" idx="0"/>
          </p:cNvCxnSpPr>
          <p:nvPr/>
        </p:nvCxnSpPr>
        <p:spPr>
          <a:xfrm>
            <a:off x="7684740" y="3660680"/>
            <a:ext cx="720600" cy="762600"/>
          </a:xfrm>
          <a:prstGeom prst="straightConnector1">
            <a:avLst/>
          </a:prstGeom>
          <a:noFill/>
          <a:ln cap="flat" cmpd="sng" w="9525">
            <a:solidFill>
              <a:srgbClr val="FDA739"/>
            </a:solidFill>
            <a:prstDash val="solid"/>
            <a:round/>
            <a:headEnd len="sm" w="sm" type="none"/>
            <a:tailEnd len="med" w="med" type="triangle"/>
          </a:ln>
        </p:spPr>
      </p:cxnSp>
      <p:sp>
        <p:nvSpPr>
          <p:cNvPr id="85" name="Google Shape;85;p14"/>
          <p:cNvSpPr txBox="1"/>
          <p:nvPr/>
        </p:nvSpPr>
        <p:spPr>
          <a:xfrm>
            <a:off x="4291965" y="1738021"/>
            <a:ext cx="464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86" name="Google Shape;86;p14"/>
          <p:cNvSpPr txBox="1"/>
          <p:nvPr/>
        </p:nvSpPr>
        <p:spPr>
          <a:xfrm>
            <a:off x="5690237" y="1738021"/>
            <a:ext cx="464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87" name="Google Shape;87;p14"/>
          <p:cNvSpPr txBox="1"/>
          <p:nvPr/>
        </p:nvSpPr>
        <p:spPr>
          <a:xfrm>
            <a:off x="4759581" y="2846230"/>
            <a:ext cx="710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Sunny</a:t>
            </a:r>
            <a:endParaRPr b="0" i="0" sz="1400" u="none" cap="none" strike="noStrike">
              <a:solidFill>
                <a:srgbClr val="000000"/>
              </a:solidFill>
              <a:latin typeface="Arial"/>
              <a:ea typeface="Arial"/>
              <a:cs typeface="Arial"/>
              <a:sym typeface="Arial"/>
            </a:endParaRPr>
          </a:p>
        </p:txBody>
      </p:sp>
      <p:sp>
        <p:nvSpPr>
          <p:cNvPr id="88" name="Google Shape;88;p14"/>
          <p:cNvSpPr txBox="1"/>
          <p:nvPr/>
        </p:nvSpPr>
        <p:spPr>
          <a:xfrm>
            <a:off x="5790188" y="2840435"/>
            <a:ext cx="779400" cy="169200"/>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Overcast</a:t>
            </a:r>
            <a:endParaRPr b="0" i="0" sz="1400" u="none" cap="none" strike="noStrike">
              <a:solidFill>
                <a:srgbClr val="000000"/>
              </a:solidFill>
              <a:latin typeface="Arial"/>
              <a:ea typeface="Arial"/>
              <a:cs typeface="Arial"/>
              <a:sym typeface="Arial"/>
            </a:endParaRPr>
          </a:p>
        </p:txBody>
      </p:sp>
      <p:sp>
        <p:nvSpPr>
          <p:cNvPr id="89" name="Google Shape;89;p14"/>
          <p:cNvSpPr txBox="1"/>
          <p:nvPr/>
        </p:nvSpPr>
        <p:spPr>
          <a:xfrm>
            <a:off x="7275697" y="2840434"/>
            <a:ext cx="710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Rainy</a:t>
            </a:r>
            <a:endParaRPr b="0" i="0" sz="1400" u="none" cap="none" strike="noStrike">
              <a:solidFill>
                <a:srgbClr val="000000"/>
              </a:solidFill>
              <a:latin typeface="Arial"/>
              <a:ea typeface="Arial"/>
              <a:cs typeface="Arial"/>
              <a:sym typeface="Arial"/>
            </a:endParaRPr>
          </a:p>
        </p:txBody>
      </p:sp>
      <p:sp>
        <p:nvSpPr>
          <p:cNvPr id="90" name="Google Shape;90;p14"/>
          <p:cNvSpPr txBox="1"/>
          <p:nvPr/>
        </p:nvSpPr>
        <p:spPr>
          <a:xfrm>
            <a:off x="6932295" y="3928245"/>
            <a:ext cx="710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91" name="Google Shape;91;p14"/>
          <p:cNvSpPr txBox="1"/>
          <p:nvPr/>
        </p:nvSpPr>
        <p:spPr>
          <a:xfrm>
            <a:off x="8107446" y="3928245"/>
            <a:ext cx="710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92" name="Google Shape;92;p14"/>
          <p:cNvCxnSpPr/>
          <p:nvPr/>
        </p:nvCxnSpPr>
        <p:spPr>
          <a:xfrm flipH="1">
            <a:off x="6736080" y="1257300"/>
            <a:ext cx="381000" cy="742200"/>
          </a:xfrm>
          <a:prstGeom prst="straightConnector1">
            <a:avLst/>
          </a:prstGeom>
          <a:noFill/>
          <a:ln cap="flat" cmpd="sng" w="9525">
            <a:solidFill>
              <a:schemeClr val="accent2"/>
            </a:solidFill>
            <a:prstDash val="solid"/>
            <a:round/>
            <a:headEnd len="sm" w="sm" type="none"/>
            <a:tailEnd len="sm" w="sm" type="none"/>
          </a:ln>
        </p:spPr>
      </p:cxnSp>
      <p:sp>
        <p:nvSpPr>
          <p:cNvPr id="93" name="Google Shape;93;p14"/>
          <p:cNvSpPr txBox="1"/>
          <p:nvPr/>
        </p:nvSpPr>
        <p:spPr>
          <a:xfrm>
            <a:off x="6932295" y="929640"/>
            <a:ext cx="1320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Internal Node</a:t>
            </a:r>
            <a:endParaRPr b="0" i="0" sz="1400" u="none" cap="none" strike="noStrike">
              <a:solidFill>
                <a:srgbClr val="000000"/>
              </a:solidFill>
              <a:latin typeface="Arial"/>
              <a:ea typeface="Arial"/>
              <a:cs typeface="Arial"/>
              <a:sym typeface="Arial"/>
            </a:endParaRPr>
          </a:p>
        </p:txBody>
      </p:sp>
      <p:sp>
        <p:nvSpPr>
          <p:cNvPr id="94" name="Google Shape;94;p14"/>
          <p:cNvSpPr txBox="1"/>
          <p:nvPr/>
        </p:nvSpPr>
        <p:spPr>
          <a:xfrm>
            <a:off x="3741421" y="4115433"/>
            <a:ext cx="112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Leaf Node</a:t>
            </a:r>
            <a:endParaRPr b="0" i="0" sz="1400" u="none" cap="none" strike="noStrike">
              <a:solidFill>
                <a:srgbClr val="000000"/>
              </a:solidFill>
              <a:latin typeface="Arial"/>
              <a:ea typeface="Arial"/>
              <a:cs typeface="Arial"/>
              <a:sym typeface="Arial"/>
            </a:endParaRPr>
          </a:p>
        </p:txBody>
      </p:sp>
      <p:cxnSp>
        <p:nvCxnSpPr>
          <p:cNvPr id="95" name="Google Shape;95;p14"/>
          <p:cNvCxnSpPr>
            <a:stCxn id="94" idx="0"/>
          </p:cNvCxnSpPr>
          <p:nvPr/>
        </p:nvCxnSpPr>
        <p:spPr>
          <a:xfrm flipH="1" rot="10800000">
            <a:off x="4301521" y="3660633"/>
            <a:ext cx="392700" cy="454800"/>
          </a:xfrm>
          <a:prstGeom prst="straightConnector1">
            <a:avLst/>
          </a:prstGeom>
          <a:noFill/>
          <a:ln cap="flat" cmpd="sng" w="9525">
            <a:solidFill>
              <a:schemeClr val="dk1"/>
            </a:solidFill>
            <a:prstDash val="solid"/>
            <a:round/>
            <a:headEnd len="sm" w="sm" type="none"/>
            <a:tailEnd len="sm" w="sm" type="none"/>
          </a:ln>
        </p:spPr>
      </p:cxnSp>
      <p:cxnSp>
        <p:nvCxnSpPr>
          <p:cNvPr id="96" name="Google Shape;96;p14"/>
          <p:cNvCxnSpPr/>
          <p:nvPr/>
        </p:nvCxnSpPr>
        <p:spPr>
          <a:xfrm flipH="1" rot="10800000">
            <a:off x="7044690" y="2152834"/>
            <a:ext cx="1000200" cy="687600"/>
          </a:xfrm>
          <a:prstGeom prst="straightConnector1">
            <a:avLst/>
          </a:prstGeom>
          <a:noFill/>
          <a:ln cap="flat" cmpd="sng" w="9525">
            <a:solidFill>
              <a:schemeClr val="accent2"/>
            </a:solidFill>
            <a:prstDash val="solid"/>
            <a:round/>
            <a:headEnd len="sm" w="sm" type="none"/>
            <a:tailEnd len="sm" w="sm" type="none"/>
          </a:ln>
        </p:spPr>
      </p:cxnSp>
      <p:sp>
        <p:nvSpPr>
          <p:cNvPr id="97" name="Google Shape;97;p14"/>
          <p:cNvSpPr txBox="1"/>
          <p:nvPr/>
        </p:nvSpPr>
        <p:spPr>
          <a:xfrm>
            <a:off x="8044995" y="1829526"/>
            <a:ext cx="112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Branch</a:t>
            </a:r>
            <a:endParaRPr b="0" i="0" sz="1400" u="none" cap="none" strike="noStrike">
              <a:solidFill>
                <a:srgbClr val="000000"/>
              </a:solidFill>
              <a:latin typeface="Arial"/>
              <a:ea typeface="Arial"/>
              <a:cs typeface="Arial"/>
              <a:sym typeface="Arial"/>
            </a:endParaRPr>
          </a:p>
        </p:txBody>
      </p:sp>
      <p:sp>
        <p:nvSpPr>
          <p:cNvPr id="98" name="Google Shape;98;p14"/>
          <p:cNvSpPr txBox="1"/>
          <p:nvPr/>
        </p:nvSpPr>
        <p:spPr>
          <a:xfrm>
            <a:off x="8469990" y="123602"/>
            <a:ext cx="6951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 sz="800" u="sng" cap="none" strike="noStrike">
                <a:solidFill>
                  <a:srgbClr val="000000"/>
                </a:solidFill>
                <a:latin typeface="Helvetica Neue"/>
                <a:ea typeface="Helvetica Neue"/>
                <a:cs typeface="Helvetica Neue"/>
                <a:sym typeface="Helvetica Neue"/>
                <a:hlinkClick r:id="rId3">
                  <a:extLst>
                    <a:ext uri="{A12FA001-AC4F-418D-AE19-62706E023703}">
                      <ahyp:hlinkClr val="tx"/>
                    </a:ext>
                  </a:extLst>
                </a:hlinkClick>
              </a:rPr>
              <a:t>Source</a:t>
            </a:r>
            <a:endParaRPr b="0" i="0" sz="8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0" lang="en" sz="2400" u="none" cap="none" strike="noStrike"/>
              <a:t>CART (Classification and Regression Trees)</a:t>
            </a:r>
            <a:endParaRPr i="0" sz="2400" u="none" cap="none" strike="noStrike"/>
          </a:p>
        </p:txBody>
      </p:sp>
      <p:sp>
        <p:nvSpPr>
          <p:cNvPr id="104" name="Google Shape;104;p15"/>
          <p:cNvSpPr/>
          <p:nvPr/>
        </p:nvSpPr>
        <p:spPr>
          <a:xfrm>
            <a:off x="527350" y="1364175"/>
            <a:ext cx="3603300" cy="2920500"/>
          </a:xfrm>
          <a:prstGeom prst="rect">
            <a:avLst/>
          </a:prstGeom>
          <a:noFill/>
          <a:ln>
            <a:noFill/>
          </a:ln>
        </p:spPr>
        <p:txBody>
          <a:bodyPr anchorCtr="0" anchor="t" bIns="45700" lIns="91425" spcFirstLastPara="1" rIns="91425" wrap="square" tIns="45700">
            <a:noAutofit/>
          </a:bodyPr>
          <a:lstStyle/>
          <a:p>
            <a:pPr indent="-304800" lvl="0" marL="342900" marR="0" rtl="0" algn="l">
              <a:lnSpc>
                <a:spcPct val="100000"/>
              </a:lnSpc>
              <a:spcBef>
                <a:spcPts val="0"/>
              </a:spcBef>
              <a:spcAft>
                <a:spcPts val="0"/>
              </a:spcAft>
              <a:buClr>
                <a:srgbClr val="000000"/>
              </a:buClr>
              <a:buSzPts val="1800"/>
              <a:buFont typeface="Hind"/>
              <a:buChar char="•"/>
            </a:pPr>
            <a:r>
              <a:rPr i="0" lang="en" sz="1800" u="none" cap="none" strike="noStrike">
                <a:solidFill>
                  <a:srgbClr val="595959"/>
                </a:solidFill>
                <a:latin typeface="Hind"/>
                <a:ea typeface="Hind"/>
                <a:cs typeface="Hind"/>
                <a:sym typeface="Hind"/>
              </a:rPr>
              <a:t>Used for Classification and Regression</a:t>
            </a:r>
            <a:endParaRPr i="0" sz="1800" u="none" cap="none" strike="noStrike">
              <a:solidFill>
                <a:srgbClr val="000000"/>
              </a:solidFill>
              <a:latin typeface="Hind"/>
              <a:ea typeface="Hind"/>
              <a:cs typeface="Hind"/>
              <a:sym typeface="Hind"/>
            </a:endParaRPr>
          </a:p>
          <a:p>
            <a:pPr indent="-304800" lvl="0" marL="342900" marR="0" rtl="0" algn="l">
              <a:lnSpc>
                <a:spcPct val="100000"/>
              </a:lnSpc>
              <a:spcBef>
                <a:spcPts val="0"/>
              </a:spcBef>
              <a:spcAft>
                <a:spcPts val="0"/>
              </a:spcAft>
              <a:buClr>
                <a:srgbClr val="000000"/>
              </a:buClr>
              <a:buSzPts val="1800"/>
              <a:buFont typeface="Hind"/>
              <a:buChar char="•"/>
            </a:pPr>
            <a:r>
              <a:rPr i="0" lang="en" sz="1800" u="none" cap="none" strike="noStrike">
                <a:solidFill>
                  <a:srgbClr val="595959"/>
                </a:solidFill>
                <a:latin typeface="Hind"/>
                <a:ea typeface="Hind"/>
                <a:cs typeface="Hind"/>
                <a:sym typeface="Hind"/>
              </a:rPr>
              <a:t>At each node, split on variables</a:t>
            </a:r>
            <a:endParaRPr i="0" sz="1800" u="none" cap="none" strike="noStrike">
              <a:solidFill>
                <a:srgbClr val="000000"/>
              </a:solidFill>
              <a:latin typeface="Hind"/>
              <a:ea typeface="Hind"/>
              <a:cs typeface="Hind"/>
              <a:sym typeface="Hind"/>
            </a:endParaRPr>
          </a:p>
          <a:p>
            <a:pPr indent="-304800" lvl="0" marL="342900" marR="0" rtl="0" algn="l">
              <a:lnSpc>
                <a:spcPct val="100000"/>
              </a:lnSpc>
              <a:spcBef>
                <a:spcPts val="1000"/>
              </a:spcBef>
              <a:spcAft>
                <a:spcPts val="0"/>
              </a:spcAft>
              <a:buClr>
                <a:srgbClr val="000000"/>
              </a:buClr>
              <a:buSzPts val="1800"/>
              <a:buFont typeface="Hind"/>
              <a:buChar char="•"/>
            </a:pPr>
            <a:r>
              <a:rPr i="0" lang="en" sz="1800" u="none" cap="none" strike="noStrike">
                <a:solidFill>
                  <a:srgbClr val="595959"/>
                </a:solidFill>
                <a:latin typeface="Hind"/>
                <a:ea typeface="Hind"/>
                <a:cs typeface="Hind"/>
                <a:sym typeface="Hind"/>
              </a:rPr>
              <a:t>Each split minimizes error/impurity function</a:t>
            </a:r>
            <a:endParaRPr i="0" sz="1800" u="none" cap="none" strike="noStrike">
              <a:solidFill>
                <a:srgbClr val="000000"/>
              </a:solidFill>
              <a:latin typeface="Hind"/>
              <a:ea typeface="Hind"/>
              <a:cs typeface="Hind"/>
              <a:sym typeface="Hind"/>
            </a:endParaRPr>
          </a:p>
          <a:p>
            <a:pPr indent="-304800" lvl="0" marL="342900" marR="0" rtl="0" algn="l">
              <a:lnSpc>
                <a:spcPct val="100000"/>
              </a:lnSpc>
              <a:spcBef>
                <a:spcPts val="1000"/>
              </a:spcBef>
              <a:spcAft>
                <a:spcPts val="0"/>
              </a:spcAft>
              <a:buClr>
                <a:srgbClr val="000000"/>
              </a:buClr>
              <a:buSzPts val="1800"/>
              <a:buFont typeface="Hind"/>
              <a:buChar char="•"/>
            </a:pPr>
            <a:r>
              <a:rPr i="0" lang="en" sz="1800" u="none" cap="none" strike="noStrike">
                <a:solidFill>
                  <a:srgbClr val="595959"/>
                </a:solidFill>
                <a:latin typeface="Hind"/>
                <a:ea typeface="Hind"/>
                <a:cs typeface="Hind"/>
                <a:sym typeface="Hind"/>
              </a:rPr>
              <a:t>Very interpretable</a:t>
            </a:r>
            <a:endParaRPr i="0" sz="1800" u="none" cap="none" strike="noStrike">
              <a:solidFill>
                <a:srgbClr val="000000"/>
              </a:solidFill>
              <a:latin typeface="Hind"/>
              <a:ea typeface="Hind"/>
              <a:cs typeface="Hind"/>
              <a:sym typeface="Hind"/>
            </a:endParaRPr>
          </a:p>
          <a:p>
            <a:pPr indent="-304800" lvl="0" marL="342900" marR="0" rtl="0" algn="l">
              <a:lnSpc>
                <a:spcPct val="100000"/>
              </a:lnSpc>
              <a:spcBef>
                <a:spcPts val="1000"/>
              </a:spcBef>
              <a:spcAft>
                <a:spcPts val="0"/>
              </a:spcAft>
              <a:buClr>
                <a:srgbClr val="000000"/>
              </a:buClr>
              <a:buSzPts val="1800"/>
              <a:buFont typeface="Hind"/>
              <a:buChar char="•"/>
            </a:pPr>
            <a:r>
              <a:rPr i="0" lang="en" sz="1800" u="sng" cap="none" strike="noStrike">
                <a:solidFill>
                  <a:srgbClr val="595959"/>
                </a:solidFill>
                <a:latin typeface="Hind"/>
                <a:ea typeface="Hind"/>
                <a:cs typeface="Hind"/>
                <a:sym typeface="Hind"/>
              </a:rPr>
              <a:t>Models a non-linear relationship!</a:t>
            </a:r>
            <a:endParaRPr i="0" sz="1800" u="none" cap="none" strike="noStrike">
              <a:solidFill>
                <a:srgbClr val="595959"/>
              </a:solidFill>
              <a:latin typeface="Hind"/>
              <a:ea typeface="Hind"/>
              <a:cs typeface="Hind"/>
              <a:sym typeface="Hind"/>
            </a:endParaRPr>
          </a:p>
        </p:txBody>
      </p:sp>
      <p:pic>
        <p:nvPicPr>
          <p:cNvPr descr="https://lh4.googleusercontent.com/YXNjM6J4HaWqL2qYG10KeYGWSzr-8Fml7Y83r9vWfAsPKKRZICLor6b0CB07h-XXA6p3yUgCRVAfLdiKXKVNcNphtvVUPA2wpHEZUB_AoHxu7ALMZzwfWokyO6LtB-DiHrrv8KxhTiE" id="105" name="Google Shape;105;p15"/>
          <p:cNvPicPr preferRelativeResize="0"/>
          <p:nvPr/>
        </p:nvPicPr>
        <p:blipFill rotWithShape="1">
          <a:blip r:embed="rId3">
            <a:alphaModFix/>
          </a:blip>
          <a:srcRect b="0" l="0" r="0" t="0"/>
          <a:stretch/>
        </p:blipFill>
        <p:spPr>
          <a:xfrm>
            <a:off x="5011765" y="1248804"/>
            <a:ext cx="3453675" cy="33512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Pros and Cons of Using Decision Trees</a:t>
            </a:r>
            <a:endParaRPr sz="2400"/>
          </a:p>
        </p:txBody>
      </p:sp>
      <p:graphicFrame>
        <p:nvGraphicFramePr>
          <p:cNvPr id="111" name="Google Shape;111;p16"/>
          <p:cNvGraphicFramePr/>
          <p:nvPr/>
        </p:nvGraphicFramePr>
        <p:xfrm>
          <a:off x="1123950" y="1397327"/>
          <a:ext cx="3000000" cy="3000000"/>
        </p:xfrm>
        <a:graphic>
          <a:graphicData uri="http://schemas.openxmlformats.org/drawingml/2006/table">
            <a:tbl>
              <a:tblPr bandRow="1" firstRow="1">
                <a:noFill/>
                <a:tableStyleId>{4441DA03-DB5E-43B5-91D8-C42B614085EE}</a:tableStyleId>
              </a:tblPr>
              <a:tblGrid>
                <a:gridCol w="3448050"/>
                <a:gridCol w="3448050"/>
              </a:tblGrid>
              <a:tr h="597925">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Pros</a:t>
                      </a:r>
                      <a:endParaRPr sz="1400" u="none" cap="none" strike="noStrike">
                        <a:latin typeface="Hind"/>
                        <a:ea typeface="Hind"/>
                        <a:cs typeface="Hind"/>
                        <a:sym typeface="Hind"/>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Cons</a:t>
                      </a:r>
                      <a:endParaRPr sz="1400" u="none" cap="none" strike="noStrike">
                        <a:latin typeface="Hind"/>
                        <a:ea typeface="Hind"/>
                        <a:cs typeface="Hind"/>
                        <a:sym typeface="Hind"/>
                      </a:endParaRPr>
                    </a:p>
                  </a:txBody>
                  <a:tcPr marT="45725" marB="45725" marR="91450" marL="91450"/>
                </a:tc>
              </a:tr>
              <a:tr h="5979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Easy to interpret</a:t>
                      </a:r>
                      <a:endParaRPr sz="1400" u="none" cap="none" strike="noStrike">
                        <a:latin typeface="Hind"/>
                        <a:ea typeface="Hind"/>
                        <a:cs typeface="Hind"/>
                        <a:sym typeface="Hind"/>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Overfitting ☹</a:t>
                      </a:r>
                      <a:endParaRPr sz="1600" u="none" cap="none" strike="noStrike">
                        <a:latin typeface="Hind"/>
                        <a:ea typeface="Hind"/>
                        <a:cs typeface="Hind"/>
                        <a:sym typeface="Hind"/>
                      </a:endParaRPr>
                    </a:p>
                  </a:txBody>
                  <a:tcPr marT="45725" marB="45725" marR="91450" marL="91450"/>
                </a:tc>
              </a:tr>
              <a:tr h="68705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Requires little data preparation (robust to missing data)</a:t>
                      </a:r>
                      <a:endParaRPr sz="1400" u="none" cap="none" strike="noStrike">
                        <a:latin typeface="Hind"/>
                        <a:ea typeface="Hind"/>
                        <a:cs typeface="Hind"/>
                        <a:sym typeface="Hind"/>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Requires parameter tuning (max depth)</a:t>
                      </a:r>
                      <a:endParaRPr sz="1400" u="none" cap="none" strike="noStrike">
                        <a:latin typeface="Hind"/>
                        <a:ea typeface="Hind"/>
                        <a:cs typeface="Hind"/>
                        <a:sym typeface="Hind"/>
                      </a:endParaRPr>
                    </a:p>
                  </a:txBody>
                  <a:tcPr marT="45725" marB="45725" marR="91450" marL="91450"/>
                </a:tc>
              </a:tr>
              <a:tr h="5979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Can use a lot of features</a:t>
                      </a:r>
                      <a:endParaRPr sz="1400" u="none" cap="none" strike="noStrike">
                        <a:latin typeface="Hind"/>
                        <a:ea typeface="Hind"/>
                        <a:cs typeface="Hind"/>
                        <a:sym typeface="Hind"/>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Can only make horizontal/vertical splits (solvable with feat. eng. / ensembling)</a:t>
                      </a:r>
                      <a:endParaRPr sz="1400" u="none" cap="none" strike="noStrike">
                        <a:latin typeface="Hind"/>
                        <a:ea typeface="Hind"/>
                        <a:cs typeface="Hind"/>
                        <a:sym typeface="Hind"/>
                      </a:endParaRPr>
                    </a:p>
                  </a:txBody>
                  <a:tcPr marT="45725" marB="45725" marR="91450" marL="91450"/>
                </a:tc>
              </a:tr>
              <a:tr h="5979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Can capture non-linear relationships</a:t>
                      </a:r>
                      <a:endParaRPr sz="1400" u="none" cap="none" strike="noStrike">
                        <a:latin typeface="Hind"/>
                        <a:ea typeface="Hind"/>
                        <a:cs typeface="Hind"/>
                        <a:sym typeface="Hind"/>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Hind"/>
                        <a:ea typeface="Hind"/>
                        <a:cs typeface="Hind"/>
                        <a:sym typeface="Hind"/>
                      </a:endParaRPr>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What would these decision boundaries look like?</a:t>
            </a:r>
            <a:endParaRPr sz="2400">
              <a:latin typeface="Helvetica Neue"/>
              <a:ea typeface="Helvetica Neue"/>
              <a:cs typeface="Helvetica Neue"/>
              <a:sym typeface="Helvetica Neue"/>
            </a:endParaRPr>
          </a:p>
        </p:txBody>
      </p:sp>
      <p:pic>
        <p:nvPicPr>
          <p:cNvPr id="117" name="Google Shape;117;p17"/>
          <p:cNvPicPr preferRelativeResize="0"/>
          <p:nvPr/>
        </p:nvPicPr>
        <p:blipFill rotWithShape="1">
          <a:blip r:embed="rId3">
            <a:alphaModFix/>
          </a:blip>
          <a:srcRect b="0" l="0" r="0" t="0"/>
          <a:stretch/>
        </p:blipFill>
        <p:spPr>
          <a:xfrm>
            <a:off x="799613" y="1308976"/>
            <a:ext cx="7544787" cy="34164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What would these decision boundaries look like?</a:t>
            </a:r>
            <a:endParaRPr sz="2400">
              <a:latin typeface="Helvetica Neue"/>
              <a:ea typeface="Helvetica Neue"/>
              <a:cs typeface="Helvetica Neue"/>
              <a:sym typeface="Helvetica Neue"/>
            </a:endParaRPr>
          </a:p>
        </p:txBody>
      </p:sp>
      <p:pic>
        <p:nvPicPr>
          <p:cNvPr id="123" name="Google Shape;123;p18"/>
          <p:cNvPicPr preferRelativeResize="0"/>
          <p:nvPr/>
        </p:nvPicPr>
        <p:blipFill rotWithShape="1">
          <a:blip r:embed="rId3">
            <a:alphaModFix/>
          </a:blip>
          <a:srcRect b="0" l="0" r="0" t="0"/>
          <a:stretch/>
        </p:blipFill>
        <p:spPr>
          <a:xfrm>
            <a:off x="799613" y="1308976"/>
            <a:ext cx="7544787" cy="3416401"/>
          </a:xfrm>
          <a:prstGeom prst="rect">
            <a:avLst/>
          </a:prstGeom>
          <a:noFill/>
          <a:ln>
            <a:noFill/>
          </a:ln>
        </p:spPr>
      </p:pic>
      <p:cxnSp>
        <p:nvCxnSpPr>
          <p:cNvPr id="124" name="Google Shape;124;p18"/>
          <p:cNvCxnSpPr/>
          <p:nvPr/>
        </p:nvCxnSpPr>
        <p:spPr>
          <a:xfrm flipH="1" rot="10800000">
            <a:off x="1702150" y="2961325"/>
            <a:ext cx="2286900" cy="18600"/>
          </a:xfrm>
          <a:prstGeom prst="straightConnector1">
            <a:avLst/>
          </a:prstGeom>
          <a:noFill/>
          <a:ln cap="flat" cmpd="sng" w="9525">
            <a:solidFill>
              <a:schemeClr val="dk2"/>
            </a:solidFill>
            <a:prstDash val="dot"/>
            <a:round/>
            <a:headEnd len="sm" w="sm" type="none"/>
            <a:tailEnd len="sm" w="sm" type="none"/>
          </a:ln>
        </p:spPr>
      </p:cxnSp>
      <p:sp>
        <p:nvSpPr>
          <p:cNvPr id="125" name="Google Shape;125;p18"/>
          <p:cNvSpPr txBox="1"/>
          <p:nvPr/>
        </p:nvSpPr>
        <p:spPr>
          <a:xfrm>
            <a:off x="1618825" y="4540100"/>
            <a:ext cx="26667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B less than this value, it’s a red square. Otherwise, it’s a blue circle.”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What would these decision boundaries look like?</a:t>
            </a:r>
            <a:endParaRPr sz="2400">
              <a:latin typeface="Helvetica Neue"/>
              <a:ea typeface="Helvetica Neue"/>
              <a:cs typeface="Helvetica Neue"/>
              <a:sym typeface="Helvetica Neue"/>
            </a:endParaRPr>
          </a:p>
        </p:txBody>
      </p:sp>
      <p:pic>
        <p:nvPicPr>
          <p:cNvPr id="131" name="Google Shape;131;p19"/>
          <p:cNvPicPr preferRelativeResize="0"/>
          <p:nvPr/>
        </p:nvPicPr>
        <p:blipFill rotWithShape="1">
          <a:blip r:embed="rId3">
            <a:alphaModFix/>
          </a:blip>
          <a:srcRect b="0" l="0" r="0" t="0"/>
          <a:stretch/>
        </p:blipFill>
        <p:spPr>
          <a:xfrm>
            <a:off x="799613" y="1308976"/>
            <a:ext cx="7544787" cy="3416401"/>
          </a:xfrm>
          <a:prstGeom prst="rect">
            <a:avLst/>
          </a:prstGeom>
          <a:noFill/>
          <a:ln>
            <a:noFill/>
          </a:ln>
        </p:spPr>
      </p:pic>
      <p:cxnSp>
        <p:nvCxnSpPr>
          <p:cNvPr id="132" name="Google Shape;132;p19"/>
          <p:cNvCxnSpPr/>
          <p:nvPr/>
        </p:nvCxnSpPr>
        <p:spPr>
          <a:xfrm flipH="1" rot="10800000">
            <a:off x="1702150" y="2961325"/>
            <a:ext cx="2286900" cy="18600"/>
          </a:xfrm>
          <a:prstGeom prst="straightConnector1">
            <a:avLst/>
          </a:prstGeom>
          <a:noFill/>
          <a:ln cap="flat" cmpd="sng" w="9525">
            <a:solidFill>
              <a:schemeClr val="dk2"/>
            </a:solidFill>
            <a:prstDash val="dot"/>
            <a:round/>
            <a:headEnd len="sm" w="sm" type="none"/>
            <a:tailEnd len="sm" w="sm" type="none"/>
          </a:ln>
        </p:spPr>
      </p:cxnSp>
      <p:sp>
        <p:nvSpPr>
          <p:cNvPr id="133" name="Google Shape;133;p19"/>
          <p:cNvSpPr txBox="1"/>
          <p:nvPr/>
        </p:nvSpPr>
        <p:spPr>
          <a:xfrm>
            <a:off x="1618825" y="4540100"/>
            <a:ext cx="26667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B less than this value, it’s a red square. Otherwise, it’s a blue circle.”</a:t>
            </a:r>
            <a:endParaRPr b="0" i="0" sz="1200" u="none" cap="none" strike="noStrike">
              <a:solidFill>
                <a:srgbClr val="000000"/>
              </a:solidFill>
              <a:latin typeface="Arial"/>
              <a:ea typeface="Arial"/>
              <a:cs typeface="Arial"/>
              <a:sym typeface="Arial"/>
            </a:endParaRPr>
          </a:p>
        </p:txBody>
      </p:sp>
      <p:cxnSp>
        <p:nvCxnSpPr>
          <p:cNvPr id="134" name="Google Shape;134;p19"/>
          <p:cNvCxnSpPr/>
          <p:nvPr/>
        </p:nvCxnSpPr>
        <p:spPr>
          <a:xfrm flipH="1" rot="10800000">
            <a:off x="5641950" y="3030800"/>
            <a:ext cx="1634400" cy="490800"/>
          </a:xfrm>
          <a:prstGeom prst="bentConnector3">
            <a:avLst>
              <a:gd fmla="val 50000" name="adj1"/>
            </a:avLst>
          </a:prstGeom>
          <a:noFill/>
          <a:ln cap="flat" cmpd="sng" w="9525">
            <a:solidFill>
              <a:schemeClr val="dk2"/>
            </a:solidFill>
            <a:prstDash val="dot"/>
            <a:round/>
            <a:headEnd len="sm" w="sm" type="none"/>
            <a:tailEnd len="sm" w="sm" type="none"/>
          </a:ln>
        </p:spPr>
      </p:cxnSp>
      <p:cxnSp>
        <p:nvCxnSpPr>
          <p:cNvPr id="135" name="Google Shape;135;p19"/>
          <p:cNvCxnSpPr/>
          <p:nvPr/>
        </p:nvCxnSpPr>
        <p:spPr>
          <a:xfrm flipH="1" rot="10800000">
            <a:off x="7281500" y="2373500"/>
            <a:ext cx="1062900" cy="648000"/>
          </a:xfrm>
          <a:prstGeom prst="bentConnector3">
            <a:avLst>
              <a:gd fmla="val -179" name="adj1"/>
            </a:avLst>
          </a:prstGeom>
          <a:noFill/>
          <a:ln cap="flat" cmpd="sng" w="9525">
            <a:solidFill>
              <a:schemeClr val="dk2"/>
            </a:solidFill>
            <a:prstDash val="dot"/>
            <a:round/>
            <a:headEnd len="sm" w="sm" type="none"/>
            <a:tailEnd len="sm" w="sm" type="none"/>
          </a:ln>
        </p:spPr>
      </p:cxnSp>
      <p:sp>
        <p:nvSpPr>
          <p:cNvPr id="136" name="Google Shape;136;p19"/>
          <p:cNvSpPr txBox="1"/>
          <p:nvPr/>
        </p:nvSpPr>
        <p:spPr>
          <a:xfrm>
            <a:off x="5530450" y="4540100"/>
            <a:ext cx="266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Uhhh…</a:t>
            </a:r>
            <a:endParaRPr b="0" i="0" sz="1200" u="none" cap="none" strike="noStrike">
              <a:solidFill>
                <a:srgbClr val="000000"/>
              </a:solidFill>
              <a:latin typeface="Arial"/>
              <a:ea typeface="Arial"/>
              <a:cs typeface="Arial"/>
              <a:sym typeface="Arial"/>
            </a:endParaRPr>
          </a:p>
        </p:txBody>
      </p:sp>
      <p:sp>
        <p:nvSpPr>
          <p:cNvPr id="137" name="Google Shape;137;p19"/>
          <p:cNvSpPr txBox="1"/>
          <p:nvPr/>
        </p:nvSpPr>
        <p:spPr>
          <a:xfrm rot="1586842">
            <a:off x="7488646" y="2171498"/>
            <a:ext cx="1894132" cy="46166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Decision trees only make horizontal/vertical splits!</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But…</a:t>
            </a:r>
            <a:endParaRPr sz="2400">
              <a:latin typeface="Helvetica Neue"/>
              <a:ea typeface="Helvetica Neue"/>
              <a:cs typeface="Helvetica Neue"/>
              <a:sym typeface="Helvetica Neue"/>
            </a:endParaRPr>
          </a:p>
        </p:txBody>
      </p:sp>
      <p:pic>
        <p:nvPicPr>
          <p:cNvPr id="143" name="Google Shape;143;p20"/>
          <p:cNvPicPr preferRelativeResize="0"/>
          <p:nvPr/>
        </p:nvPicPr>
        <p:blipFill rotWithShape="1">
          <a:blip r:embed="rId3">
            <a:alphaModFix/>
          </a:blip>
          <a:srcRect b="0" l="0" r="0" t="0"/>
          <a:stretch/>
        </p:blipFill>
        <p:spPr>
          <a:xfrm>
            <a:off x="535050" y="990600"/>
            <a:ext cx="3848100" cy="3162300"/>
          </a:xfrm>
          <a:prstGeom prst="rect">
            <a:avLst/>
          </a:prstGeom>
          <a:noFill/>
          <a:ln>
            <a:noFill/>
          </a:ln>
        </p:spPr>
      </p:pic>
      <p:pic>
        <p:nvPicPr>
          <p:cNvPr id="144" name="Google Shape;144;p20"/>
          <p:cNvPicPr preferRelativeResize="0"/>
          <p:nvPr/>
        </p:nvPicPr>
        <p:blipFill rotWithShape="1">
          <a:blip r:embed="rId3">
            <a:alphaModFix/>
          </a:blip>
          <a:srcRect b="0" l="0" r="0" t="0"/>
          <a:stretch/>
        </p:blipFill>
        <p:spPr>
          <a:xfrm>
            <a:off x="4743700" y="990600"/>
            <a:ext cx="3848100" cy="3162300"/>
          </a:xfrm>
          <a:prstGeom prst="rect">
            <a:avLst/>
          </a:prstGeom>
          <a:noFill/>
          <a:ln>
            <a:noFill/>
          </a:ln>
        </p:spPr>
      </p:pic>
      <p:pic>
        <p:nvPicPr>
          <p:cNvPr id="145" name="Google Shape;145;p20"/>
          <p:cNvPicPr preferRelativeResize="0"/>
          <p:nvPr/>
        </p:nvPicPr>
        <p:blipFill rotWithShape="1">
          <a:blip r:embed="rId4">
            <a:alphaModFix/>
          </a:blip>
          <a:srcRect b="0" l="0" r="0" t="0"/>
          <a:stretch/>
        </p:blipFill>
        <p:spPr>
          <a:xfrm>
            <a:off x="5822500" y="1309224"/>
            <a:ext cx="2595225" cy="2293750"/>
          </a:xfrm>
          <a:prstGeom prst="rect">
            <a:avLst/>
          </a:prstGeom>
          <a:noFill/>
          <a:ln>
            <a:noFill/>
          </a:ln>
        </p:spPr>
      </p:pic>
      <p:pic>
        <p:nvPicPr>
          <p:cNvPr id="146" name="Google Shape;146;p20"/>
          <p:cNvPicPr preferRelativeResize="0"/>
          <p:nvPr/>
        </p:nvPicPr>
        <p:blipFill rotWithShape="1">
          <a:blip r:embed="rId5">
            <a:alphaModFix/>
          </a:blip>
          <a:srcRect b="0" l="0" r="0" t="0"/>
          <a:stretch/>
        </p:blipFill>
        <p:spPr>
          <a:xfrm rot="2190874">
            <a:off x="6205446" y="1023384"/>
            <a:ext cx="2121757" cy="2146235"/>
          </a:xfrm>
          <a:prstGeom prst="rect">
            <a:avLst/>
          </a:prstGeom>
          <a:noFill/>
          <a:ln>
            <a:noFill/>
          </a:ln>
        </p:spPr>
      </p:pic>
      <p:cxnSp>
        <p:nvCxnSpPr>
          <p:cNvPr id="147" name="Google Shape;147;p20"/>
          <p:cNvCxnSpPr/>
          <p:nvPr/>
        </p:nvCxnSpPr>
        <p:spPr>
          <a:xfrm flipH="1" rot="10800000">
            <a:off x="5734525" y="2087200"/>
            <a:ext cx="2634300" cy="18600"/>
          </a:xfrm>
          <a:prstGeom prst="straightConnector1">
            <a:avLst/>
          </a:prstGeom>
          <a:noFill/>
          <a:ln cap="flat" cmpd="sng" w="9525">
            <a:solidFill>
              <a:schemeClr val="dk2"/>
            </a:solidFill>
            <a:prstDash val="dot"/>
            <a:round/>
            <a:headEnd len="sm" w="sm" type="none"/>
            <a:tailEnd len="sm" w="sm" type="none"/>
          </a:ln>
        </p:spPr>
      </p:cxnSp>
      <p:sp>
        <p:nvSpPr>
          <p:cNvPr id="148" name="Google Shape;148;p20"/>
          <p:cNvSpPr/>
          <p:nvPr/>
        </p:nvSpPr>
        <p:spPr>
          <a:xfrm>
            <a:off x="4299900" y="1843913"/>
            <a:ext cx="544200" cy="505200"/>
          </a:xfrm>
          <a:prstGeom prst="rightArrow">
            <a:avLst>
              <a:gd fmla="val 50000" name="adj1"/>
              <a:gd fmla="val 50000" name="adj2"/>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0"/>
          <p:cNvSpPr txBox="1"/>
          <p:nvPr/>
        </p:nvSpPr>
        <p:spPr>
          <a:xfrm>
            <a:off x="4060200" y="2461400"/>
            <a:ext cx="10236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Rotate!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How to Reduce Overfitting</a:t>
            </a:r>
            <a:endParaRPr sz="2400"/>
          </a:p>
        </p:txBody>
      </p:sp>
      <p:sp>
        <p:nvSpPr>
          <p:cNvPr id="155" name="Google Shape;155;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a:solidFill>
                  <a:schemeClr val="dk1"/>
                </a:solidFill>
                <a:latin typeface="Hind"/>
                <a:ea typeface="Hind"/>
                <a:cs typeface="Hind"/>
                <a:sym typeface="Hind"/>
              </a:rPr>
              <a:t>1. Limit the max depth of the tree</a:t>
            </a:r>
            <a:endParaRPr>
              <a:latin typeface="Hind"/>
              <a:ea typeface="Hind"/>
              <a:cs typeface="Hind"/>
              <a:sym typeface="Hind"/>
            </a:endParaRPr>
          </a:p>
        </p:txBody>
      </p:sp>
      <p:sp>
        <p:nvSpPr>
          <p:cNvPr id="156" name="Google Shape;156;p21"/>
          <p:cNvSpPr/>
          <p:nvPr/>
        </p:nvSpPr>
        <p:spPr>
          <a:xfrm>
            <a:off x="3869634" y="2107095"/>
            <a:ext cx="384300" cy="397500"/>
          </a:xfrm>
          <a:prstGeom prst="ellipse">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7" name="Google Shape;157;p21"/>
          <p:cNvSpPr/>
          <p:nvPr/>
        </p:nvSpPr>
        <p:spPr>
          <a:xfrm>
            <a:off x="4436162" y="2857315"/>
            <a:ext cx="384300" cy="397500"/>
          </a:xfrm>
          <a:prstGeom prst="ellipse">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8" name="Google Shape;158;p21"/>
          <p:cNvSpPr/>
          <p:nvPr/>
        </p:nvSpPr>
        <p:spPr>
          <a:xfrm>
            <a:off x="3247051" y="2857316"/>
            <a:ext cx="384300" cy="397500"/>
          </a:xfrm>
          <a:prstGeom prst="ellipse">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9" name="Google Shape;159;p21"/>
          <p:cNvSpPr/>
          <p:nvPr/>
        </p:nvSpPr>
        <p:spPr>
          <a:xfrm>
            <a:off x="3511823" y="3607536"/>
            <a:ext cx="384300" cy="397500"/>
          </a:xfrm>
          <a:prstGeom prst="ellipse">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0" name="Google Shape;160;p21"/>
          <p:cNvSpPr/>
          <p:nvPr/>
        </p:nvSpPr>
        <p:spPr>
          <a:xfrm>
            <a:off x="4253947" y="3607537"/>
            <a:ext cx="384300" cy="397500"/>
          </a:xfrm>
          <a:prstGeom prst="ellipse">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1" name="Google Shape;161;p21"/>
          <p:cNvSpPr/>
          <p:nvPr/>
        </p:nvSpPr>
        <p:spPr>
          <a:xfrm>
            <a:off x="2743197" y="3607536"/>
            <a:ext cx="384300" cy="397500"/>
          </a:xfrm>
          <a:prstGeom prst="ellipse">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2" name="Google Shape;162;p21"/>
          <p:cNvSpPr/>
          <p:nvPr/>
        </p:nvSpPr>
        <p:spPr>
          <a:xfrm>
            <a:off x="5022573" y="3607536"/>
            <a:ext cx="384300" cy="397500"/>
          </a:xfrm>
          <a:prstGeom prst="ellipse">
            <a:avLst/>
          </a:prstGeom>
          <a:solidFill>
            <a:schemeClr val="accent1"/>
          </a:solidFill>
          <a:ln cap="flat" cmpd="sng" w="25400">
            <a:solidFill>
              <a:srgbClr val="BA7C2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63" name="Google Shape;163;p21"/>
          <p:cNvCxnSpPr>
            <a:stCxn id="156" idx="4"/>
            <a:endCxn id="158" idx="0"/>
          </p:cNvCxnSpPr>
          <p:nvPr/>
        </p:nvCxnSpPr>
        <p:spPr>
          <a:xfrm flipH="1">
            <a:off x="3439284" y="2504595"/>
            <a:ext cx="622500" cy="352800"/>
          </a:xfrm>
          <a:prstGeom prst="straightConnector1">
            <a:avLst/>
          </a:prstGeom>
          <a:noFill/>
          <a:ln cap="flat" cmpd="sng" w="9525">
            <a:solidFill>
              <a:srgbClr val="FDA739"/>
            </a:solidFill>
            <a:prstDash val="solid"/>
            <a:round/>
            <a:headEnd len="sm" w="sm" type="none"/>
            <a:tailEnd len="med" w="med" type="triangle"/>
          </a:ln>
        </p:spPr>
      </p:cxnSp>
      <p:cxnSp>
        <p:nvCxnSpPr>
          <p:cNvPr id="164" name="Google Shape;164;p21"/>
          <p:cNvCxnSpPr>
            <a:stCxn id="156" idx="4"/>
            <a:endCxn id="157" idx="0"/>
          </p:cNvCxnSpPr>
          <p:nvPr/>
        </p:nvCxnSpPr>
        <p:spPr>
          <a:xfrm>
            <a:off x="4061784" y="2504595"/>
            <a:ext cx="566400" cy="352800"/>
          </a:xfrm>
          <a:prstGeom prst="straightConnector1">
            <a:avLst/>
          </a:prstGeom>
          <a:noFill/>
          <a:ln cap="flat" cmpd="sng" w="9525">
            <a:solidFill>
              <a:srgbClr val="FDA739"/>
            </a:solidFill>
            <a:prstDash val="solid"/>
            <a:round/>
            <a:headEnd len="sm" w="sm" type="none"/>
            <a:tailEnd len="med" w="med" type="triangle"/>
          </a:ln>
        </p:spPr>
      </p:cxnSp>
      <p:cxnSp>
        <p:nvCxnSpPr>
          <p:cNvPr id="165" name="Google Shape;165;p21"/>
          <p:cNvCxnSpPr>
            <a:stCxn id="158" idx="4"/>
            <a:endCxn id="161" idx="0"/>
          </p:cNvCxnSpPr>
          <p:nvPr/>
        </p:nvCxnSpPr>
        <p:spPr>
          <a:xfrm flipH="1">
            <a:off x="2935201" y="3254816"/>
            <a:ext cx="504000" cy="352800"/>
          </a:xfrm>
          <a:prstGeom prst="straightConnector1">
            <a:avLst/>
          </a:prstGeom>
          <a:noFill/>
          <a:ln cap="flat" cmpd="sng" w="9525">
            <a:solidFill>
              <a:srgbClr val="FDA739"/>
            </a:solidFill>
            <a:prstDash val="solid"/>
            <a:round/>
            <a:headEnd len="sm" w="sm" type="none"/>
            <a:tailEnd len="med" w="med" type="triangle"/>
          </a:ln>
        </p:spPr>
      </p:cxnSp>
      <p:cxnSp>
        <p:nvCxnSpPr>
          <p:cNvPr id="166" name="Google Shape;166;p21"/>
          <p:cNvCxnSpPr>
            <a:endCxn id="159" idx="0"/>
          </p:cNvCxnSpPr>
          <p:nvPr/>
        </p:nvCxnSpPr>
        <p:spPr>
          <a:xfrm>
            <a:off x="3438773" y="3254736"/>
            <a:ext cx="265200" cy="352800"/>
          </a:xfrm>
          <a:prstGeom prst="straightConnector1">
            <a:avLst/>
          </a:prstGeom>
          <a:noFill/>
          <a:ln cap="flat" cmpd="sng" w="9525">
            <a:solidFill>
              <a:srgbClr val="FDA739"/>
            </a:solidFill>
            <a:prstDash val="solid"/>
            <a:round/>
            <a:headEnd len="sm" w="sm" type="none"/>
            <a:tailEnd len="med" w="med" type="triangle"/>
          </a:ln>
        </p:spPr>
      </p:cxnSp>
      <p:cxnSp>
        <p:nvCxnSpPr>
          <p:cNvPr id="167" name="Google Shape;167;p21"/>
          <p:cNvCxnSpPr>
            <a:endCxn id="160" idx="0"/>
          </p:cNvCxnSpPr>
          <p:nvPr/>
        </p:nvCxnSpPr>
        <p:spPr>
          <a:xfrm flipH="1">
            <a:off x="4446097" y="3277237"/>
            <a:ext cx="182100" cy="330300"/>
          </a:xfrm>
          <a:prstGeom prst="straightConnector1">
            <a:avLst/>
          </a:prstGeom>
          <a:noFill/>
          <a:ln cap="flat" cmpd="sng" w="9525">
            <a:solidFill>
              <a:srgbClr val="FDA739"/>
            </a:solidFill>
            <a:prstDash val="solid"/>
            <a:round/>
            <a:headEnd len="sm" w="sm" type="none"/>
            <a:tailEnd len="med" w="med" type="triangle"/>
          </a:ln>
        </p:spPr>
      </p:cxnSp>
      <p:cxnSp>
        <p:nvCxnSpPr>
          <p:cNvPr id="168" name="Google Shape;168;p21"/>
          <p:cNvCxnSpPr>
            <a:stCxn id="157" idx="4"/>
            <a:endCxn id="162" idx="0"/>
          </p:cNvCxnSpPr>
          <p:nvPr/>
        </p:nvCxnSpPr>
        <p:spPr>
          <a:xfrm>
            <a:off x="4628312" y="3254815"/>
            <a:ext cx="586500" cy="352800"/>
          </a:xfrm>
          <a:prstGeom prst="straightConnector1">
            <a:avLst/>
          </a:prstGeom>
          <a:noFill/>
          <a:ln cap="flat" cmpd="sng" w="9525">
            <a:solidFill>
              <a:srgbClr val="FDA739"/>
            </a:solidFill>
            <a:prstDash val="solid"/>
            <a:round/>
            <a:headEnd len="sm" w="sm" type="none"/>
            <a:tailEnd len="med" w="med" type="triangle"/>
          </a:ln>
        </p:spPr>
      </p:cxnSp>
      <p:cxnSp>
        <p:nvCxnSpPr>
          <p:cNvPr id="169" name="Google Shape;169;p21"/>
          <p:cNvCxnSpPr/>
          <p:nvPr/>
        </p:nvCxnSpPr>
        <p:spPr>
          <a:xfrm>
            <a:off x="6139069" y="2097369"/>
            <a:ext cx="0" cy="1974900"/>
          </a:xfrm>
          <a:prstGeom prst="straightConnector1">
            <a:avLst/>
          </a:prstGeom>
          <a:noFill/>
          <a:ln cap="flat" cmpd="sng" w="44450">
            <a:solidFill>
              <a:srgbClr val="FDA739"/>
            </a:solidFill>
            <a:prstDash val="solid"/>
            <a:round/>
            <a:headEnd len="sm" w="sm" type="none"/>
            <a:tailEnd len="med" w="med" type="triangle"/>
          </a:ln>
        </p:spPr>
      </p:cxnSp>
      <p:sp>
        <p:nvSpPr>
          <p:cNvPr id="170" name="Google Shape;170;p21"/>
          <p:cNvSpPr txBox="1"/>
          <p:nvPr/>
        </p:nvSpPr>
        <p:spPr>
          <a:xfrm>
            <a:off x="6374648" y="2857315"/>
            <a:ext cx="1287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Helvetica Neue"/>
                <a:ea typeface="Helvetica Neue"/>
                <a:cs typeface="Helvetica Neue"/>
                <a:sym typeface="Helvetica Neue"/>
              </a:rPr>
              <a:t>Model Complexity</a:t>
            </a:r>
            <a:endParaRPr b="0" i="0" sz="1400" u="none" cap="none" strike="noStrike">
              <a:solidFill>
                <a:srgbClr val="000000"/>
              </a:solidFill>
              <a:latin typeface="Arial"/>
              <a:ea typeface="Arial"/>
              <a:cs typeface="Arial"/>
              <a:sym typeface="Arial"/>
            </a:endParaRPr>
          </a:p>
        </p:txBody>
      </p:sp>
      <p:sp>
        <p:nvSpPr>
          <p:cNvPr id="171" name="Google Shape;171;p21"/>
          <p:cNvSpPr txBox="1"/>
          <p:nvPr/>
        </p:nvSpPr>
        <p:spPr>
          <a:xfrm>
            <a:off x="533384" y="2107095"/>
            <a:ext cx="133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Helvetica Neue"/>
                <a:ea typeface="Helvetica Neue"/>
                <a:cs typeface="Helvetica Neue"/>
                <a:sym typeface="Helvetica Neue"/>
              </a:rPr>
              <a:t>Depth = 0 </a:t>
            </a:r>
            <a:endParaRPr b="0" i="0" sz="1400" u="none" cap="none" strike="noStrike">
              <a:solidFill>
                <a:srgbClr val="000000"/>
              </a:solidFill>
              <a:latin typeface="Arial"/>
              <a:ea typeface="Arial"/>
              <a:cs typeface="Arial"/>
              <a:sym typeface="Arial"/>
            </a:endParaRPr>
          </a:p>
        </p:txBody>
      </p:sp>
      <p:sp>
        <p:nvSpPr>
          <p:cNvPr id="172" name="Google Shape;172;p21"/>
          <p:cNvSpPr txBox="1"/>
          <p:nvPr/>
        </p:nvSpPr>
        <p:spPr>
          <a:xfrm>
            <a:off x="533384" y="2902208"/>
            <a:ext cx="133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Helvetica Neue"/>
                <a:ea typeface="Helvetica Neue"/>
                <a:cs typeface="Helvetica Neue"/>
                <a:sym typeface="Helvetica Neue"/>
              </a:rPr>
              <a:t>Depth = 1 </a:t>
            </a:r>
            <a:endParaRPr b="0" i="0" sz="1400" u="none" cap="none" strike="noStrike">
              <a:solidFill>
                <a:srgbClr val="000000"/>
              </a:solidFill>
              <a:latin typeface="Arial"/>
              <a:ea typeface="Arial"/>
              <a:cs typeface="Arial"/>
              <a:sym typeface="Arial"/>
            </a:endParaRPr>
          </a:p>
        </p:txBody>
      </p:sp>
      <p:sp>
        <p:nvSpPr>
          <p:cNvPr id="173" name="Google Shape;173;p21"/>
          <p:cNvSpPr txBox="1"/>
          <p:nvPr/>
        </p:nvSpPr>
        <p:spPr>
          <a:xfrm>
            <a:off x="533383" y="3662497"/>
            <a:ext cx="133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Helvetica Neue"/>
                <a:ea typeface="Helvetica Neue"/>
                <a:cs typeface="Helvetica Neue"/>
                <a:sym typeface="Helvetica Neue"/>
              </a:rPr>
              <a:t>Depth = 2 </a:t>
            </a:r>
            <a:endParaRPr b="0" i="0" sz="1400" u="none" cap="none" strike="noStrike">
              <a:solidFill>
                <a:srgbClr val="000000"/>
              </a:solidFill>
              <a:latin typeface="Arial"/>
              <a:ea typeface="Arial"/>
              <a:cs typeface="Arial"/>
              <a:sym typeface="Arial"/>
            </a:endParaRPr>
          </a:p>
        </p:txBody>
      </p:sp>
      <p:sp>
        <p:nvSpPr>
          <p:cNvPr id="174" name="Google Shape;174;p21"/>
          <p:cNvSpPr txBox="1"/>
          <p:nvPr/>
        </p:nvSpPr>
        <p:spPr>
          <a:xfrm>
            <a:off x="2214435" y="4327541"/>
            <a:ext cx="5212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When training a decision tree, we have to specify the maximum depth a constructed tree can have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How to Reduce Overfitting</a:t>
            </a:r>
            <a:endParaRPr sz="2400"/>
          </a:p>
        </p:txBody>
      </p:sp>
      <p:sp>
        <p:nvSpPr>
          <p:cNvPr id="180" name="Google Shape;180;p22"/>
          <p:cNvSpPr txBox="1"/>
          <p:nvPr>
            <p:ph idx="1" type="body"/>
          </p:nvPr>
        </p:nvSpPr>
        <p:spPr>
          <a:xfrm>
            <a:off x="356100" y="1566300"/>
            <a:ext cx="3619800" cy="23445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Hind"/>
              <a:buChar char="●"/>
            </a:pPr>
            <a:r>
              <a:rPr lang="en">
                <a:solidFill>
                  <a:schemeClr val="dk1"/>
                </a:solidFill>
                <a:latin typeface="Hind"/>
                <a:ea typeface="Hind"/>
                <a:cs typeface="Hind"/>
                <a:sym typeface="Hind"/>
              </a:rPr>
              <a:t>There are no “curves” for each decision tree boundary line</a:t>
            </a:r>
            <a:endParaRPr>
              <a:latin typeface="Hind"/>
              <a:ea typeface="Hind"/>
              <a:cs typeface="Hind"/>
              <a:sym typeface="Hind"/>
            </a:endParaRPr>
          </a:p>
          <a:p>
            <a:pPr indent="-342900" lvl="0" marL="457200" marR="0" rtl="0" algn="l">
              <a:lnSpc>
                <a:spcPct val="115000"/>
              </a:lnSpc>
              <a:spcBef>
                <a:spcPts val="0"/>
              </a:spcBef>
              <a:spcAft>
                <a:spcPts val="0"/>
              </a:spcAft>
              <a:buClr>
                <a:schemeClr val="dk2"/>
              </a:buClr>
              <a:buSzPts val="1800"/>
              <a:buFont typeface="Hind"/>
              <a:buChar char="●"/>
            </a:pPr>
            <a:r>
              <a:rPr lang="en">
                <a:solidFill>
                  <a:schemeClr val="dk1"/>
                </a:solidFill>
                <a:latin typeface="Hind"/>
                <a:ea typeface="Hind"/>
                <a:cs typeface="Hind"/>
                <a:sym typeface="Hind"/>
              </a:rPr>
              <a:t>Limiting the depth of the tree limits the number of lines you are splitting on</a:t>
            </a:r>
            <a:endParaRPr>
              <a:latin typeface="Hind"/>
              <a:ea typeface="Hind"/>
              <a:cs typeface="Hind"/>
              <a:sym typeface="Hind"/>
            </a:endParaRPr>
          </a:p>
          <a:p>
            <a:pPr indent="0" lvl="0" marL="0" rtl="0" algn="l">
              <a:lnSpc>
                <a:spcPct val="115000"/>
              </a:lnSpc>
              <a:spcBef>
                <a:spcPts val="0"/>
              </a:spcBef>
              <a:spcAft>
                <a:spcPts val="0"/>
              </a:spcAft>
              <a:buSzPts val="1800"/>
              <a:buNone/>
            </a:pPr>
            <a:r>
              <a:t/>
            </a:r>
            <a:endParaRPr/>
          </a:p>
        </p:txBody>
      </p:sp>
      <p:sp>
        <p:nvSpPr>
          <p:cNvPr id="181" name="Google Shape;181;p22"/>
          <p:cNvSpPr/>
          <p:nvPr/>
        </p:nvSpPr>
        <p:spPr>
          <a:xfrm>
            <a:off x="8391636" y="229581"/>
            <a:ext cx="510000" cy="21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 sz="800" u="sng" cap="none" strike="noStrike">
                <a:solidFill>
                  <a:srgbClr val="000000"/>
                </a:solidFill>
                <a:latin typeface="Helvetica Neue"/>
                <a:ea typeface="Helvetica Neue"/>
                <a:cs typeface="Helvetica Neue"/>
                <a:sym typeface="Helvetica Neue"/>
                <a:hlinkClick r:id="rId3">
                  <a:extLst>
                    <a:ext uri="{A12FA001-AC4F-418D-AE19-62706E023703}">
                      <ahyp:hlinkClr val="tx"/>
                    </a:ext>
                  </a:extLst>
                </a:hlinkClick>
              </a:rPr>
              <a:t>Source</a:t>
            </a:r>
            <a:endParaRPr b="0" i="0" sz="800" u="none" cap="none" strike="noStrike">
              <a:solidFill>
                <a:srgbClr val="000000"/>
              </a:solidFill>
              <a:latin typeface="Arial"/>
              <a:ea typeface="Arial"/>
              <a:cs typeface="Arial"/>
              <a:sym typeface="Arial"/>
            </a:endParaRPr>
          </a:p>
        </p:txBody>
      </p:sp>
      <p:pic>
        <p:nvPicPr>
          <p:cNvPr descr="Visualizing decision tree partition and decision boundaries –  paulvanderlaken.com" id="182" name="Google Shape;182;p22"/>
          <p:cNvPicPr preferRelativeResize="0"/>
          <p:nvPr/>
        </p:nvPicPr>
        <p:blipFill rotWithShape="1">
          <a:blip r:embed="rId4">
            <a:alphaModFix/>
          </a:blip>
          <a:srcRect b="0" l="0" r="0" t="0"/>
          <a:stretch/>
        </p:blipFill>
        <p:spPr>
          <a:xfrm>
            <a:off x="4131538" y="1364231"/>
            <a:ext cx="4542282" cy="32444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How to Reduce Overfitting</a:t>
            </a:r>
            <a:endParaRPr sz="2400"/>
          </a:p>
        </p:txBody>
      </p:sp>
      <p:sp>
        <p:nvSpPr>
          <p:cNvPr id="188" name="Google Shape;188;p23"/>
          <p:cNvSpPr txBox="1"/>
          <p:nvPr>
            <p:ph idx="1" type="body"/>
          </p:nvPr>
        </p:nvSpPr>
        <p:spPr>
          <a:xfrm>
            <a:off x="311705" y="1193929"/>
            <a:ext cx="3239100" cy="19488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a:solidFill>
                  <a:schemeClr val="dk1"/>
                </a:solidFill>
                <a:latin typeface="Hind"/>
                <a:ea typeface="Hind"/>
                <a:cs typeface="Hind"/>
                <a:sym typeface="Hind"/>
              </a:rPr>
              <a:t>2) Train multiple decision trees and determine final output based on output of each decision tree</a:t>
            </a:r>
            <a:endParaRPr>
              <a:latin typeface="Hind"/>
              <a:ea typeface="Hind"/>
              <a:cs typeface="Hind"/>
              <a:sym typeface="Hind"/>
            </a:endParaRPr>
          </a:p>
          <a:p>
            <a:pPr indent="0" lvl="0" marL="114300" rtl="0" algn="l">
              <a:lnSpc>
                <a:spcPct val="115000"/>
              </a:lnSpc>
              <a:spcBef>
                <a:spcPts val="0"/>
              </a:spcBef>
              <a:spcAft>
                <a:spcPts val="0"/>
              </a:spcAft>
              <a:buSzPts val="1800"/>
              <a:buNone/>
            </a:pPr>
            <a:r>
              <a:t/>
            </a:r>
            <a:endParaRPr/>
          </a:p>
        </p:txBody>
      </p:sp>
      <p:pic>
        <p:nvPicPr>
          <p:cNvPr id="189" name="Google Shape;189;p23"/>
          <p:cNvPicPr preferRelativeResize="0"/>
          <p:nvPr/>
        </p:nvPicPr>
        <p:blipFill rotWithShape="1">
          <a:blip r:embed="rId3">
            <a:alphaModFix/>
          </a:blip>
          <a:srcRect b="0" l="0" r="0" t="10096"/>
          <a:stretch/>
        </p:blipFill>
        <p:spPr>
          <a:xfrm>
            <a:off x="4163060" y="1294835"/>
            <a:ext cx="4738652" cy="3195191"/>
          </a:xfrm>
          <a:prstGeom prst="rect">
            <a:avLst/>
          </a:prstGeom>
          <a:noFill/>
          <a:ln>
            <a:noFill/>
          </a:ln>
        </p:spPr>
      </p:pic>
      <p:sp>
        <p:nvSpPr>
          <p:cNvPr id="190" name="Google Shape;190;p23"/>
          <p:cNvSpPr txBox="1"/>
          <p:nvPr/>
        </p:nvSpPr>
        <p:spPr>
          <a:xfrm>
            <a:off x="392525" y="3318925"/>
            <a:ext cx="3498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Hind"/>
                <a:ea typeface="Hind"/>
                <a:cs typeface="Hind"/>
                <a:sym typeface="Hind"/>
              </a:rPr>
              <a:t>This is called a </a:t>
            </a:r>
            <a:endParaRPr i="0" sz="2000" u="none" cap="none" strike="noStrike">
              <a:solidFill>
                <a:srgbClr val="000000"/>
              </a:solidFill>
              <a:latin typeface="Hind"/>
              <a:ea typeface="Hind"/>
              <a:cs typeface="Hind"/>
              <a:sym typeface="Hind"/>
            </a:endParaRPr>
          </a:p>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Hind"/>
                <a:ea typeface="Hind"/>
                <a:cs typeface="Hind"/>
                <a:sym typeface="Hind"/>
              </a:rPr>
              <a:t>Random Forest</a:t>
            </a:r>
            <a:r>
              <a:rPr b="1" lang="en" sz="2000">
                <a:latin typeface="Hind"/>
                <a:ea typeface="Hind"/>
                <a:cs typeface="Hind"/>
                <a:sym typeface="Hind"/>
              </a:rPr>
              <a:t> </a:t>
            </a:r>
            <a:r>
              <a:rPr b="1" i="0" lang="en" sz="2000" u="none" cap="none" strike="noStrike">
                <a:solidFill>
                  <a:srgbClr val="000000"/>
                </a:solidFill>
                <a:latin typeface="Hind"/>
                <a:ea typeface="Hind"/>
                <a:cs typeface="Hind"/>
                <a:sym typeface="Hind"/>
              </a:rPr>
              <a:t>Classifier</a:t>
            </a:r>
            <a:endParaRPr i="0" sz="1400" u="none" cap="none" strike="noStrike">
              <a:solidFill>
                <a:srgbClr val="000000"/>
              </a:solidFill>
              <a:latin typeface="Hind"/>
              <a:ea typeface="Hind"/>
              <a:cs typeface="Hind"/>
              <a:sym typeface="Hind"/>
            </a:endParaRPr>
          </a:p>
        </p:txBody>
      </p:sp>
      <p:sp>
        <p:nvSpPr>
          <p:cNvPr id="191" name="Google Shape;191;p23"/>
          <p:cNvSpPr/>
          <p:nvPr/>
        </p:nvSpPr>
        <p:spPr>
          <a:xfrm>
            <a:off x="8391636" y="229581"/>
            <a:ext cx="510000" cy="21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 sz="800" u="sng" cap="none" strike="noStrike">
                <a:solidFill>
                  <a:srgbClr val="000000"/>
                </a:solidFill>
                <a:latin typeface="Helvetica Neue"/>
                <a:ea typeface="Helvetica Neue"/>
                <a:cs typeface="Helvetica Neue"/>
                <a:sym typeface="Helvetica Neue"/>
                <a:hlinkClick r:id="rId4">
                  <a:extLst>
                    <a:ext uri="{A12FA001-AC4F-418D-AE19-62706E023703}">
                      <ahyp:hlinkClr val="tx"/>
                    </a:ext>
                  </a:extLst>
                </a:hlinkClick>
              </a:rPr>
              <a:t>Source</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lang="en" sz="4800"/>
              <a:t>Demo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idx="4294967295" type="ctrTitle"/>
          </p:nvPr>
        </p:nvSpPr>
        <p:spPr>
          <a:xfrm>
            <a:off x="1018532" y="306265"/>
            <a:ext cx="7107000" cy="1302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2400" u="none" cap="none" strike="noStrike">
                <a:solidFill>
                  <a:srgbClr val="613CB0"/>
                </a:solidFill>
                <a:latin typeface="Hind"/>
                <a:ea typeface="Hind"/>
                <a:cs typeface="Hind"/>
                <a:sym typeface="Hind"/>
              </a:rPr>
              <a:t>Lecture 8: </a:t>
            </a:r>
            <a:r>
              <a:rPr b="1" lang="en" sz="2400">
                <a:solidFill>
                  <a:srgbClr val="613CB0"/>
                </a:solidFill>
                <a:latin typeface="Hind"/>
                <a:ea typeface="Hind"/>
                <a:cs typeface="Hind"/>
                <a:sym typeface="Hind"/>
              </a:rPr>
              <a:t>Supervised Learning Pt. 2</a:t>
            </a:r>
            <a:endParaRPr b="1" i="0" sz="2400" u="none" cap="none" strike="noStrike">
              <a:solidFill>
                <a:srgbClr val="613CB0"/>
              </a:solidFill>
              <a:latin typeface="Hind"/>
              <a:ea typeface="Hind"/>
              <a:cs typeface="Hind"/>
              <a:sym typeface="Hind"/>
            </a:endParaRPr>
          </a:p>
        </p:txBody>
      </p:sp>
      <p:sp>
        <p:nvSpPr>
          <p:cNvPr id="202" name="Google Shape;202;p25"/>
          <p:cNvSpPr txBox="1"/>
          <p:nvPr/>
        </p:nvSpPr>
        <p:spPr>
          <a:xfrm>
            <a:off x="1018456" y="1202804"/>
            <a:ext cx="7107000" cy="33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200" u="none" cap="none" strike="noStrike">
                <a:solidFill>
                  <a:srgbClr val="3F3F3F"/>
                </a:solidFill>
                <a:latin typeface="Helvetica Neue"/>
                <a:ea typeface="Helvetica Neue"/>
                <a:cs typeface="Helvetica Neue"/>
                <a:sym typeface="Helvetica Neue"/>
              </a:rPr>
              <a:t>INFO 1998: Introduction to Machine Learning</a:t>
            </a:r>
            <a:endParaRPr b="0" i="0" sz="1400" u="none" cap="none" strike="noStrike">
              <a:solidFill>
                <a:srgbClr val="000000"/>
              </a:solidFill>
              <a:latin typeface="Arial"/>
              <a:ea typeface="Arial"/>
              <a:cs typeface="Arial"/>
              <a:sym typeface="Arial"/>
            </a:endParaRPr>
          </a:p>
        </p:txBody>
      </p:sp>
      <p:pic>
        <p:nvPicPr>
          <p:cNvPr id="203" name="Google Shape;203;p25"/>
          <p:cNvPicPr preferRelativeResize="0"/>
          <p:nvPr/>
        </p:nvPicPr>
        <p:blipFill>
          <a:blip r:embed="rId3">
            <a:alphaModFix/>
          </a:blip>
          <a:stretch>
            <a:fillRect/>
          </a:stretch>
        </p:blipFill>
        <p:spPr>
          <a:xfrm>
            <a:off x="100850" y="4493296"/>
            <a:ext cx="1835400" cy="529729"/>
          </a:xfrm>
          <a:prstGeom prst="rect">
            <a:avLst/>
          </a:prstGeom>
          <a:noFill/>
          <a:ln>
            <a:noFill/>
          </a:ln>
        </p:spPr>
      </p:pic>
      <p:sp>
        <p:nvSpPr>
          <p:cNvPr id="204" name="Google Shape;204;p25"/>
          <p:cNvSpPr txBox="1"/>
          <p:nvPr/>
        </p:nvSpPr>
        <p:spPr>
          <a:xfrm>
            <a:off x="4034975" y="4513225"/>
            <a:ext cx="1249800" cy="33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500">
                <a:solidFill>
                  <a:schemeClr val="dk2"/>
                </a:solidFill>
                <a:latin typeface="Hind"/>
                <a:ea typeface="Hind"/>
                <a:cs typeface="Hind"/>
                <a:sym typeface="Hind"/>
              </a:rPr>
              <a:t>Attendance!</a:t>
            </a:r>
            <a:endParaRPr i="1" sz="1500">
              <a:solidFill>
                <a:schemeClr val="dk2"/>
              </a:solidFill>
              <a:latin typeface="Hind"/>
              <a:ea typeface="Hind"/>
              <a:cs typeface="Hind"/>
              <a:sym typeface="Hind"/>
            </a:endParaRPr>
          </a:p>
        </p:txBody>
      </p:sp>
      <p:pic>
        <p:nvPicPr>
          <p:cNvPr id="205" name="Google Shape;205;p25"/>
          <p:cNvPicPr preferRelativeResize="0"/>
          <p:nvPr/>
        </p:nvPicPr>
        <p:blipFill>
          <a:blip r:embed="rId4">
            <a:alphaModFix/>
          </a:blip>
          <a:stretch>
            <a:fillRect/>
          </a:stretch>
        </p:blipFill>
        <p:spPr>
          <a:xfrm>
            <a:off x="3105999" y="1608283"/>
            <a:ext cx="2932050" cy="29187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lang="en" sz="4800"/>
              <a:t>Logistic Regression</a:t>
            </a:r>
            <a:endParaRPr sz="4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Logistic Regression</a:t>
            </a:r>
            <a:endParaRPr/>
          </a:p>
        </p:txBody>
      </p:sp>
      <p:sp>
        <p:nvSpPr>
          <p:cNvPr id="216" name="Google Shape;216;p27"/>
          <p:cNvSpPr txBox="1"/>
          <p:nvPr>
            <p:ph idx="1" type="body"/>
          </p:nvPr>
        </p:nvSpPr>
        <p:spPr>
          <a:xfrm>
            <a:off x="311700" y="1152475"/>
            <a:ext cx="8520600" cy="3416400"/>
          </a:xfrm>
          <a:prstGeom prst="rect">
            <a:avLst/>
          </a:prstGeom>
          <a:blipFill rotWithShape="1">
            <a:blip r:embed="rId3">
              <a:alphaModFix/>
            </a:blip>
            <a:stretch>
              <a:fillRect b="-2590" l="0" r="-580" t="-29979"/>
            </a:stretch>
          </a:blip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SzPts val="1800"/>
              <a:buNone/>
            </a:pPr>
            <a:r>
              <a:rPr lang="en">
                <a:latin typeface="Hind"/>
                <a:ea typeface="Hind"/>
                <a:cs typeface="Hind"/>
                <a:sym typeface="Hind"/>
              </a:rPr>
              <a:t> </a:t>
            </a:r>
            <a:endParaRPr>
              <a:latin typeface="Hind"/>
              <a:ea typeface="Hind"/>
              <a:cs typeface="Hind"/>
              <a:sym typeface="Hind"/>
            </a:endParaRPr>
          </a:p>
        </p:txBody>
      </p:sp>
      <p:pic>
        <p:nvPicPr>
          <p:cNvPr descr="https://lh6.googleusercontent.com/KshgkJDDHNbFf1q5w6siifE8upY5Nk6hFaMYSi93Kc3tcRNm4-nV5v29u27NLJZQSTDN7yUiwjbqdRda271GpmOUGZeEEJt92FxE76GG-Wu2DyjywjMMOs3ibBm0ka2sxJymeGzDw7Y" id="217" name="Google Shape;217;p27"/>
          <p:cNvPicPr preferRelativeResize="0"/>
          <p:nvPr/>
        </p:nvPicPr>
        <p:blipFill rotWithShape="1">
          <a:blip r:embed="rId4">
            <a:alphaModFix/>
          </a:blip>
          <a:srcRect b="0" l="0" r="0" t="0"/>
          <a:stretch/>
        </p:blipFill>
        <p:spPr>
          <a:xfrm>
            <a:off x="393700" y="3982720"/>
            <a:ext cx="4178300" cy="1003300"/>
          </a:xfrm>
          <a:prstGeom prst="rect">
            <a:avLst/>
          </a:prstGeom>
          <a:noFill/>
          <a:ln>
            <a:noFill/>
          </a:ln>
        </p:spPr>
      </p:pic>
      <p:pic>
        <p:nvPicPr>
          <p:cNvPr descr="https://lh6.googleusercontent.com/Y1jlTX3FhpbK8P4OTgjJ3eqOZMVyZto7_axTO7wmbulHIPKk0KWu6_I2jNTf2SdicbAzt-UmNcsYveKkjyGcjl3hTRRGU2nR7dQ00rM2kaGLu5rFGOxSBDOOK--GNw4mLv-_bQvTRyI" id="218" name="Google Shape;218;p27"/>
          <p:cNvPicPr preferRelativeResize="0"/>
          <p:nvPr/>
        </p:nvPicPr>
        <p:blipFill rotWithShape="1">
          <a:blip r:embed="rId5">
            <a:alphaModFix/>
          </a:blip>
          <a:srcRect b="0" l="0" r="0" t="0"/>
          <a:stretch/>
        </p:blipFill>
        <p:spPr>
          <a:xfrm>
            <a:off x="4875530" y="3982720"/>
            <a:ext cx="4178300" cy="952500"/>
          </a:xfrm>
          <a:prstGeom prst="rect">
            <a:avLst/>
          </a:prstGeom>
          <a:noFill/>
          <a:ln>
            <a:noFill/>
          </a:ln>
        </p:spPr>
      </p:pic>
      <p:cxnSp>
        <p:nvCxnSpPr>
          <p:cNvPr id="219" name="Google Shape;219;p27"/>
          <p:cNvCxnSpPr/>
          <p:nvPr/>
        </p:nvCxnSpPr>
        <p:spPr>
          <a:xfrm>
            <a:off x="4194810" y="4457700"/>
            <a:ext cx="754500" cy="0"/>
          </a:xfrm>
          <a:prstGeom prst="straightConnector1">
            <a:avLst/>
          </a:prstGeom>
          <a:noFill/>
          <a:ln cap="flat" cmpd="sng" w="34925">
            <a:solidFill>
              <a:srgbClr val="7030A0"/>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solidFill>
                  <a:srgbClr val="613CB0"/>
                </a:solidFill>
              </a:rPr>
              <a:t>Logistic Function</a:t>
            </a:r>
            <a:endParaRPr>
              <a:solidFill>
                <a:srgbClr val="613CB0"/>
              </a:solidFill>
            </a:endParaRPr>
          </a:p>
        </p:txBody>
      </p:sp>
      <p:sp>
        <p:nvSpPr>
          <p:cNvPr id="225" name="Google Shape;225;p28"/>
          <p:cNvSpPr txBox="1"/>
          <p:nvPr>
            <p:ph idx="1" type="body"/>
          </p:nvPr>
        </p:nvSpPr>
        <p:spPr>
          <a:xfrm>
            <a:off x="682759" y="1510283"/>
            <a:ext cx="3173700" cy="1312500"/>
          </a:xfrm>
          <a:prstGeom prst="rect">
            <a:avLst/>
          </a:prstGeom>
          <a:blipFill rotWithShape="1">
            <a:blip r:embed="rId3">
              <a:alphaModFix/>
            </a:blip>
            <a:stretch>
              <a:fillRect b="0" l="-390" r="0" t="0"/>
            </a:stretch>
          </a:blip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SzPts val="1800"/>
              <a:buNone/>
            </a:pPr>
            <a:r>
              <a:rPr lang="en">
                <a:latin typeface="Hind"/>
                <a:ea typeface="Hind"/>
                <a:cs typeface="Hind"/>
                <a:sym typeface="Hind"/>
              </a:rPr>
              <a:t> </a:t>
            </a:r>
            <a:endParaRPr>
              <a:latin typeface="Hind"/>
              <a:ea typeface="Hind"/>
              <a:cs typeface="Hind"/>
              <a:sym typeface="Hind"/>
            </a:endParaRPr>
          </a:p>
        </p:txBody>
      </p:sp>
      <p:pic>
        <p:nvPicPr>
          <p:cNvPr descr="https://lh4.googleusercontent.com/CzS9LbmFqVipGbQZ_j9RnYi_agmd9IBZqg1eyPWvLh8Qrxb9-lqy6-p4WidWZhfwSTxXa_ueh5iHjn8LiLX2tAMi60RGPq2eMAhmNRtnqTm8dDB8EhTOrM0KJeVnaLyVLSJJwqqXAr8" id="226" name="Google Shape;226;p28"/>
          <p:cNvPicPr preferRelativeResize="0"/>
          <p:nvPr/>
        </p:nvPicPr>
        <p:blipFill rotWithShape="1">
          <a:blip r:embed="rId4">
            <a:alphaModFix/>
          </a:blip>
          <a:srcRect b="0" l="0" r="0" t="0"/>
          <a:stretch/>
        </p:blipFill>
        <p:spPr>
          <a:xfrm>
            <a:off x="4421808" y="1165727"/>
            <a:ext cx="3622261" cy="2411067"/>
          </a:xfrm>
          <a:prstGeom prst="rect">
            <a:avLst/>
          </a:prstGeom>
          <a:noFill/>
          <a:ln>
            <a:noFill/>
          </a:ln>
        </p:spPr>
      </p:pic>
      <p:sp>
        <p:nvSpPr>
          <p:cNvPr id="227" name="Google Shape;227;p28"/>
          <p:cNvSpPr txBox="1"/>
          <p:nvPr/>
        </p:nvSpPr>
        <p:spPr>
          <a:xfrm>
            <a:off x="781878" y="3697357"/>
            <a:ext cx="71562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rgbClr val="000000"/>
                </a:solidFill>
                <a:latin typeface="Hind"/>
                <a:ea typeface="Hind"/>
                <a:cs typeface="Hind"/>
                <a:sym typeface="Hind"/>
              </a:rPr>
              <a:t>The Logistic Function “</a:t>
            </a:r>
            <a:r>
              <a:rPr b="1" i="0" lang="en" sz="1600" u="none" cap="none" strike="noStrike">
                <a:solidFill>
                  <a:srgbClr val="000000"/>
                </a:solidFill>
                <a:latin typeface="Hind"/>
                <a:ea typeface="Hind"/>
                <a:cs typeface="Hind"/>
                <a:sym typeface="Hind"/>
              </a:rPr>
              <a:t>squeezes”</a:t>
            </a:r>
            <a:r>
              <a:rPr i="0" lang="en" sz="1600" u="none" cap="none" strike="noStrike">
                <a:solidFill>
                  <a:srgbClr val="000000"/>
                </a:solidFill>
                <a:latin typeface="Hind"/>
                <a:ea typeface="Hind"/>
                <a:cs typeface="Hind"/>
                <a:sym typeface="Hind"/>
              </a:rPr>
              <a:t> numbers to be between 0 and 1</a:t>
            </a:r>
            <a:endParaRPr i="0" sz="1400" u="none" cap="none" strike="noStrike">
              <a:solidFill>
                <a:srgbClr val="000000"/>
              </a:solidFill>
              <a:latin typeface="Hind"/>
              <a:ea typeface="Hind"/>
              <a:cs typeface="Hind"/>
              <a:sym typeface="Hind"/>
            </a:endParaRPr>
          </a:p>
        </p:txBody>
      </p:sp>
      <p:sp>
        <p:nvSpPr>
          <p:cNvPr id="228" name="Google Shape;228;p28"/>
          <p:cNvSpPr/>
          <p:nvPr/>
        </p:nvSpPr>
        <p:spPr>
          <a:xfrm>
            <a:off x="2067339" y="4230416"/>
            <a:ext cx="1378200" cy="172200"/>
          </a:xfrm>
          <a:prstGeom prst="rightArrow">
            <a:avLst>
              <a:gd fmla="val 50000" name="adj1"/>
              <a:gd fmla="val 50000" name="adj2"/>
            </a:avLst>
          </a:prstGeom>
          <a:solidFill>
            <a:srgbClr val="613CB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613CB0"/>
              </a:solidFill>
              <a:latin typeface="Arial"/>
              <a:ea typeface="Arial"/>
              <a:cs typeface="Arial"/>
              <a:sym typeface="Arial"/>
            </a:endParaRPr>
          </a:p>
        </p:txBody>
      </p:sp>
      <p:sp>
        <p:nvSpPr>
          <p:cNvPr id="229" name="Google Shape;229;p28"/>
          <p:cNvSpPr txBox="1"/>
          <p:nvPr/>
        </p:nvSpPr>
        <p:spPr>
          <a:xfrm>
            <a:off x="3631095" y="4119258"/>
            <a:ext cx="394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rgbClr val="000000"/>
                </a:solidFill>
                <a:latin typeface="Hind"/>
                <a:ea typeface="Hind"/>
                <a:cs typeface="Hind"/>
                <a:sym typeface="Hind"/>
              </a:rPr>
              <a:t>Allows us to interpret our prediction as a “</a:t>
            </a:r>
            <a:r>
              <a:rPr b="1" i="0" lang="en" sz="1600" u="none" cap="none" strike="noStrike">
                <a:solidFill>
                  <a:srgbClr val="000000"/>
                </a:solidFill>
                <a:latin typeface="Hind"/>
                <a:ea typeface="Hind"/>
                <a:cs typeface="Hind"/>
                <a:sym typeface="Hind"/>
              </a:rPr>
              <a:t>probability</a:t>
            </a:r>
            <a:r>
              <a:rPr i="0" lang="en" sz="1600" u="none" cap="none" strike="noStrike">
                <a:solidFill>
                  <a:srgbClr val="000000"/>
                </a:solidFill>
                <a:latin typeface="Hind"/>
                <a:ea typeface="Hind"/>
                <a:cs typeface="Hind"/>
                <a:sym typeface="Hind"/>
              </a:rPr>
              <a:t>” that something is true</a:t>
            </a:r>
            <a:endParaRPr i="0" sz="1400" u="none" cap="none" strike="noStrike">
              <a:solidFill>
                <a:srgbClr val="000000"/>
              </a:solidFill>
              <a:latin typeface="Hind"/>
              <a:ea typeface="Hind"/>
              <a:cs typeface="Hind"/>
              <a:sym typeface="Hind"/>
            </a:endParaRPr>
          </a:p>
        </p:txBody>
      </p:sp>
      <p:sp>
        <p:nvSpPr>
          <p:cNvPr id="230" name="Google Shape;230;p28"/>
          <p:cNvSpPr txBox="1"/>
          <p:nvPr/>
        </p:nvSpPr>
        <p:spPr>
          <a:xfrm>
            <a:off x="5924146" y="933855"/>
            <a:ext cx="554400" cy="307800"/>
          </a:xfrm>
          <a:prstGeom prst="rect">
            <a:avLst/>
          </a:prstGeom>
          <a:blipFill rotWithShape="1">
            <a:blip r:embed="rId5">
              <a:alphaModFix/>
            </a:blip>
            <a:stretch>
              <a:fillRect b="-15980" l="0" r="0" t="-39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1" name="Google Shape;231;p28"/>
          <p:cNvSpPr txBox="1"/>
          <p:nvPr/>
        </p:nvSpPr>
        <p:spPr>
          <a:xfrm>
            <a:off x="7899140" y="3064211"/>
            <a:ext cx="301200" cy="30780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Threshold</a:t>
            </a:r>
            <a:endParaRPr/>
          </a:p>
        </p:txBody>
      </p:sp>
      <p:pic>
        <p:nvPicPr>
          <p:cNvPr descr="https://lh4.googleusercontent.com/CzS9LbmFqVipGbQZ_j9RnYi_agmd9IBZqg1eyPWvLh8Qrxb9-lqy6-p4WidWZhfwSTxXa_ueh5iHjn8LiLX2tAMi60RGPq2eMAhmNRtnqTm8dDB8EhTOrM0KJeVnaLyVLSJJwqqXAr8" id="237" name="Google Shape;237;p29"/>
          <p:cNvPicPr preferRelativeResize="0"/>
          <p:nvPr/>
        </p:nvPicPr>
        <p:blipFill rotWithShape="1">
          <a:blip r:embed="rId3">
            <a:alphaModFix/>
          </a:blip>
          <a:srcRect b="0" l="0" r="0" t="0"/>
          <a:stretch/>
        </p:blipFill>
        <p:spPr>
          <a:xfrm>
            <a:off x="4602282" y="1380327"/>
            <a:ext cx="3622261" cy="2411067"/>
          </a:xfrm>
          <a:prstGeom prst="rect">
            <a:avLst/>
          </a:prstGeom>
          <a:noFill/>
          <a:ln>
            <a:noFill/>
          </a:ln>
        </p:spPr>
      </p:pic>
      <p:sp>
        <p:nvSpPr>
          <p:cNvPr id="238" name="Google Shape;238;p29"/>
          <p:cNvSpPr/>
          <p:nvPr/>
        </p:nvSpPr>
        <p:spPr>
          <a:xfrm>
            <a:off x="4833091" y="1513313"/>
            <a:ext cx="3160500" cy="477000"/>
          </a:xfrm>
          <a:prstGeom prst="rect">
            <a:avLst/>
          </a:prstGeom>
          <a:solidFill>
            <a:srgbClr val="92D050">
              <a:alpha val="3647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9" name="Google Shape;239;p29"/>
          <p:cNvSpPr/>
          <p:nvPr/>
        </p:nvSpPr>
        <p:spPr>
          <a:xfrm>
            <a:off x="4833091" y="1980663"/>
            <a:ext cx="3160500" cy="1484100"/>
          </a:xfrm>
          <a:prstGeom prst="rect">
            <a:avLst/>
          </a:prstGeom>
          <a:solidFill>
            <a:srgbClr val="FF0000">
              <a:alpha val="3647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0" name="Google Shape;240;p29"/>
          <p:cNvSpPr txBox="1"/>
          <p:nvPr/>
        </p:nvSpPr>
        <p:spPr>
          <a:xfrm>
            <a:off x="311700" y="1775726"/>
            <a:ext cx="3750600" cy="14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rgbClr val="000000"/>
                </a:solidFill>
                <a:latin typeface="Hind"/>
                <a:ea typeface="Hind"/>
                <a:cs typeface="Hind"/>
                <a:sym typeface="Hind"/>
              </a:rPr>
              <a:t>At what point do we differentiate between our classifications?</a:t>
            </a:r>
            <a:endParaRPr i="0" sz="1400" u="none" cap="none" strike="noStrike">
              <a:solidFill>
                <a:srgbClr val="000000"/>
              </a:solidFill>
              <a:latin typeface="Hind"/>
              <a:ea typeface="Hind"/>
              <a:cs typeface="Hind"/>
              <a:sym typeface="Hind"/>
            </a:endParaRPr>
          </a:p>
          <a:p>
            <a:pPr indent="-285750" lvl="0" marL="285750" marR="0" rtl="0" algn="l">
              <a:lnSpc>
                <a:spcPct val="100000"/>
              </a:lnSpc>
              <a:spcBef>
                <a:spcPts val="0"/>
              </a:spcBef>
              <a:spcAft>
                <a:spcPts val="0"/>
              </a:spcAft>
              <a:buClr>
                <a:srgbClr val="000000"/>
              </a:buClr>
              <a:buSzPts val="1800"/>
              <a:buFont typeface="Hind"/>
              <a:buChar char="•"/>
            </a:pPr>
            <a:r>
              <a:rPr i="0" lang="en" sz="1800" u="none" cap="none" strike="noStrike">
                <a:solidFill>
                  <a:srgbClr val="000000"/>
                </a:solidFill>
                <a:latin typeface="Hind"/>
                <a:ea typeface="Hind"/>
                <a:cs typeface="Hind"/>
                <a:sym typeface="Hind"/>
              </a:rPr>
              <a:t>f(x) </a:t>
            </a:r>
            <a:r>
              <a:rPr i="0" lang="en" sz="1800" u="none" cap="none" strike="noStrike">
                <a:solidFill>
                  <a:srgbClr val="FF0000"/>
                </a:solidFill>
                <a:latin typeface="Hind"/>
                <a:ea typeface="Hind"/>
                <a:cs typeface="Hind"/>
                <a:sym typeface="Hind"/>
              </a:rPr>
              <a:t>below</a:t>
            </a:r>
            <a:r>
              <a:rPr i="0" lang="en" sz="1800" u="none" cap="none" strike="noStrike">
                <a:solidFill>
                  <a:srgbClr val="000000"/>
                </a:solidFill>
                <a:latin typeface="Hind"/>
                <a:ea typeface="Hind"/>
                <a:cs typeface="Hind"/>
                <a:sym typeface="Hind"/>
              </a:rPr>
              <a:t> threshold: predict 0</a:t>
            </a:r>
            <a:endParaRPr i="0" sz="1400" u="none" cap="none" strike="noStrike">
              <a:solidFill>
                <a:srgbClr val="000000"/>
              </a:solidFill>
              <a:latin typeface="Hind"/>
              <a:ea typeface="Hind"/>
              <a:cs typeface="Hind"/>
              <a:sym typeface="Hind"/>
            </a:endParaRPr>
          </a:p>
          <a:p>
            <a:pPr indent="-285750" lvl="0" marL="285750" marR="0" rtl="0" algn="l">
              <a:lnSpc>
                <a:spcPct val="100000"/>
              </a:lnSpc>
              <a:spcBef>
                <a:spcPts val="0"/>
              </a:spcBef>
              <a:spcAft>
                <a:spcPts val="0"/>
              </a:spcAft>
              <a:buClr>
                <a:srgbClr val="000000"/>
              </a:buClr>
              <a:buSzPts val="1800"/>
              <a:buFont typeface="Hind"/>
              <a:buChar char="•"/>
            </a:pPr>
            <a:r>
              <a:rPr i="0" lang="en" sz="1800" u="none" cap="none" strike="noStrike">
                <a:solidFill>
                  <a:srgbClr val="000000"/>
                </a:solidFill>
                <a:latin typeface="Hind"/>
                <a:ea typeface="Hind"/>
                <a:cs typeface="Hind"/>
                <a:sym typeface="Hind"/>
              </a:rPr>
              <a:t>f(x) </a:t>
            </a:r>
            <a:r>
              <a:rPr i="0" lang="en" sz="1800" u="none" cap="none" strike="noStrike">
                <a:solidFill>
                  <a:srgbClr val="00B050"/>
                </a:solidFill>
                <a:latin typeface="Hind"/>
                <a:ea typeface="Hind"/>
                <a:cs typeface="Hind"/>
                <a:sym typeface="Hind"/>
              </a:rPr>
              <a:t>above</a:t>
            </a:r>
            <a:r>
              <a:rPr i="0" lang="en" sz="1800" u="none" cap="none" strike="noStrike">
                <a:solidFill>
                  <a:srgbClr val="000000"/>
                </a:solidFill>
                <a:latin typeface="Hind"/>
                <a:ea typeface="Hind"/>
                <a:cs typeface="Hind"/>
                <a:sym typeface="Hind"/>
              </a:rPr>
              <a:t> threshold: predict 1</a:t>
            </a:r>
            <a:endParaRPr i="0" sz="1400" u="none" cap="none" strike="noStrike">
              <a:solidFill>
                <a:srgbClr val="000000"/>
              </a:solidFill>
              <a:latin typeface="Hind"/>
              <a:ea typeface="Hind"/>
              <a:cs typeface="Hind"/>
              <a:sym typeface="Hind"/>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Hind"/>
              <a:ea typeface="Hind"/>
              <a:cs typeface="Hind"/>
              <a:sym typeface="Hind"/>
            </a:endParaRPr>
          </a:p>
        </p:txBody>
      </p:sp>
      <p:sp>
        <p:nvSpPr>
          <p:cNvPr id="241" name="Google Shape;241;p29"/>
          <p:cNvSpPr txBox="1"/>
          <p:nvPr/>
        </p:nvSpPr>
        <p:spPr>
          <a:xfrm>
            <a:off x="6085846" y="1148455"/>
            <a:ext cx="554400" cy="307800"/>
          </a:xfrm>
          <a:prstGeom prst="rect">
            <a:avLst/>
          </a:prstGeom>
          <a:blipFill rotWithShape="1">
            <a:blip r:embed="rId4">
              <a:alphaModFix/>
            </a:blip>
            <a:stretch>
              <a:fillRect b="-15980" l="0" r="0" t="-39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2" name="Google Shape;242;p29"/>
          <p:cNvSpPr txBox="1"/>
          <p:nvPr/>
        </p:nvSpPr>
        <p:spPr>
          <a:xfrm>
            <a:off x="8060840" y="3278811"/>
            <a:ext cx="301200" cy="3078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sp>
        <p:nvSpPr>
          <p:cNvPr id="247" name="Google Shape;247;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Pros and Cons of Using Logistic Regression</a:t>
            </a:r>
            <a:endParaRPr sz="2400"/>
          </a:p>
        </p:txBody>
      </p:sp>
      <p:graphicFrame>
        <p:nvGraphicFramePr>
          <p:cNvPr id="248" name="Google Shape;248;p30"/>
          <p:cNvGraphicFramePr/>
          <p:nvPr/>
        </p:nvGraphicFramePr>
        <p:xfrm>
          <a:off x="1123950" y="1283462"/>
          <a:ext cx="3000000" cy="3000000"/>
        </p:xfrm>
        <a:graphic>
          <a:graphicData uri="http://schemas.openxmlformats.org/drawingml/2006/table">
            <a:tbl>
              <a:tblPr bandRow="1" firstRow="1">
                <a:noFill/>
                <a:tableStyleId>{4441DA03-DB5E-43B5-91D8-C42B614085EE}</a:tableStyleId>
              </a:tblPr>
              <a:tblGrid>
                <a:gridCol w="3448050"/>
                <a:gridCol w="3448050"/>
              </a:tblGrid>
              <a:tr h="597925">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Pros</a:t>
                      </a:r>
                      <a:endParaRPr sz="1400" u="none" cap="none" strike="noStrike">
                        <a:latin typeface="Hind"/>
                        <a:ea typeface="Hind"/>
                        <a:cs typeface="Hind"/>
                        <a:sym typeface="Hind"/>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Cons</a:t>
                      </a:r>
                      <a:endParaRPr sz="1400" u="none" cap="none" strike="noStrike">
                        <a:latin typeface="Hind"/>
                        <a:ea typeface="Hind"/>
                        <a:cs typeface="Hind"/>
                        <a:sym typeface="Hind"/>
                      </a:endParaRPr>
                    </a:p>
                  </a:txBody>
                  <a:tcPr marT="45725" marB="45725" marR="91450" marL="91450"/>
                </a:tc>
              </a:tr>
              <a:tr h="45795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Easy to interpret (probability)</a:t>
                      </a:r>
                      <a:endParaRPr sz="1400" u="none" cap="none" strike="noStrike">
                        <a:latin typeface="Hind"/>
                        <a:ea typeface="Hind"/>
                        <a:cs typeface="Hind"/>
                        <a:sym typeface="Hind"/>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Hind"/>
                        <a:ea typeface="Hind"/>
                        <a:cs typeface="Hind"/>
                        <a:sym typeface="Hind"/>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Only Capable of Binary Classification</a:t>
                      </a:r>
                      <a:endParaRPr sz="1400" u="none" cap="none" strike="noStrike">
                        <a:latin typeface="Hind"/>
                        <a:ea typeface="Hind"/>
                        <a:cs typeface="Hind"/>
                        <a:sym typeface="Hind"/>
                      </a:endParaRPr>
                    </a:p>
                  </a:txBody>
                  <a:tcPr marT="45725" marB="45725" marR="91450" marL="91450"/>
                </a:tc>
              </a:tr>
              <a:tr h="203200">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Computationally efficient to compute</a:t>
                      </a:r>
                      <a:endParaRPr sz="1400" u="none" cap="none" strike="noStrike">
                        <a:latin typeface="Hind"/>
                        <a:ea typeface="Hind"/>
                        <a:cs typeface="Hind"/>
                        <a:sym typeface="Hind"/>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No closed form solution (requires use of optimization algorithms)</a:t>
                      </a:r>
                      <a:endParaRPr sz="1600" u="none" cap="none" strike="noStrike">
                        <a:latin typeface="Hind"/>
                        <a:ea typeface="Hind"/>
                        <a:cs typeface="Hind"/>
                        <a:sym typeface="Hind"/>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Hind"/>
                        <a:ea typeface="Hind"/>
                        <a:cs typeface="Hind"/>
                        <a:sym typeface="Hind"/>
                      </a:endParaRPr>
                    </a:p>
                  </a:txBody>
                  <a:tcPr marT="45725" marB="45725" marR="91450" marL="91450"/>
                </a:tc>
              </a:tr>
              <a:tr h="4267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latin typeface="Hind"/>
                          <a:ea typeface="Hind"/>
                          <a:cs typeface="Hind"/>
                          <a:sym typeface="Hind"/>
                        </a:rPr>
                        <a:t>Does not require parameter tuning</a:t>
                      </a:r>
                      <a:endParaRPr sz="1400" u="none" cap="none" strike="noStrike">
                        <a:latin typeface="Hind"/>
                        <a:ea typeface="Hind"/>
                        <a:cs typeface="Hind"/>
                        <a:sym typeface="Hind"/>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Hind"/>
                        <a:ea typeface="Hind"/>
                        <a:cs typeface="Hind"/>
                        <a:sym typeface="Hind"/>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Hind"/>
                        <a:ea typeface="Hind"/>
                        <a:cs typeface="Hind"/>
                        <a:sym typeface="Hind"/>
                      </a:endParaRPr>
                    </a:p>
                  </a:txBody>
                  <a:tcPr marT="45725" marB="45725" marR="91450" marL="91450"/>
                </a:tc>
              </a:tr>
            </a:tbl>
          </a:graphicData>
        </a:graphic>
      </p:graphicFrame>
      <p:sp>
        <p:nvSpPr>
          <p:cNvPr id="249" name="Google Shape;249;p30"/>
          <p:cNvSpPr txBox="1"/>
          <p:nvPr/>
        </p:nvSpPr>
        <p:spPr>
          <a:xfrm>
            <a:off x="1964105" y="4128290"/>
            <a:ext cx="5215800" cy="523200"/>
          </a:xfrm>
          <a:prstGeom prst="rect">
            <a:avLst/>
          </a:prstGeom>
          <a:solidFill>
            <a:srgbClr val="B2B2B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i="0" lang="en" sz="1400" u="none" cap="none" strike="noStrike">
                <a:solidFill>
                  <a:srgbClr val="000000"/>
                </a:solidFill>
                <a:latin typeface="Hind"/>
                <a:ea typeface="Hind"/>
                <a:cs typeface="Hind"/>
                <a:sym typeface="Hind"/>
              </a:rPr>
              <a:t>Logistic Regression is a simple model, therefore, oftentimes it is used as a good “baseline” to compare more complex models to</a:t>
            </a:r>
            <a:endParaRPr i="0" sz="1400" u="none" cap="none" strike="noStrike">
              <a:solidFill>
                <a:srgbClr val="000000"/>
              </a:solidFill>
              <a:latin typeface="Hind"/>
              <a:ea typeface="Hind"/>
              <a:cs typeface="Hind"/>
              <a:sym typeface="Hi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Arial"/>
              <a:buNone/>
            </a:pPr>
            <a:r>
              <a:rPr lang="en" sz="4800"/>
              <a:t>Validation Techniques</a:t>
            </a:r>
            <a:endParaRPr sz="4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idx="1" type="body"/>
          </p:nvPr>
        </p:nvSpPr>
        <p:spPr>
          <a:xfrm>
            <a:off x="311700" y="1914475"/>
            <a:ext cx="3818400" cy="1925400"/>
          </a:xfrm>
          <a:prstGeom prst="rect">
            <a:avLst/>
          </a:prstGeom>
          <a:noFill/>
          <a:ln>
            <a:noFill/>
          </a:ln>
        </p:spPr>
        <p:txBody>
          <a:bodyPr anchorCtr="0" anchor="t" bIns="91425" lIns="91425" spcFirstLastPara="1" rIns="91425" wrap="square" tIns="91425">
            <a:noAutofit/>
          </a:bodyPr>
          <a:lstStyle/>
          <a:p>
            <a:pPr indent="-317500" lvl="0" marL="419100" rtl="0" algn="l">
              <a:lnSpc>
                <a:spcPct val="115000"/>
              </a:lnSpc>
              <a:spcBef>
                <a:spcPts val="0"/>
              </a:spcBef>
              <a:spcAft>
                <a:spcPts val="0"/>
              </a:spcAft>
              <a:buSzPts val="2000"/>
              <a:buFont typeface="Hind"/>
              <a:buChar char="●"/>
            </a:pPr>
            <a:r>
              <a:rPr lang="en" sz="2200">
                <a:latin typeface="Hind"/>
                <a:ea typeface="Hind"/>
                <a:cs typeface="Hind"/>
                <a:sym typeface="Hind"/>
              </a:rPr>
              <a:t>Predict Continuous Data</a:t>
            </a:r>
            <a:endParaRPr sz="2200">
              <a:latin typeface="Hind"/>
              <a:ea typeface="Hind"/>
              <a:cs typeface="Hind"/>
              <a:sym typeface="Hind"/>
            </a:endParaRPr>
          </a:p>
          <a:p>
            <a:pPr indent="-317500" lvl="0" marL="419100" rtl="0" algn="l">
              <a:lnSpc>
                <a:spcPct val="115000"/>
              </a:lnSpc>
              <a:spcBef>
                <a:spcPts val="0"/>
              </a:spcBef>
              <a:spcAft>
                <a:spcPts val="0"/>
              </a:spcAft>
              <a:buSzPts val="2000"/>
              <a:buChar char="●"/>
            </a:pPr>
            <a:r>
              <a:rPr lang="en" sz="2200">
                <a:latin typeface="Hind"/>
                <a:ea typeface="Hind"/>
                <a:cs typeface="Hind"/>
                <a:sym typeface="Hind"/>
              </a:rPr>
              <a:t>“On average, </a:t>
            </a:r>
            <a:r>
              <a:rPr b="1" lang="en" sz="2200">
                <a:latin typeface="Hind"/>
                <a:ea typeface="Hind"/>
                <a:cs typeface="Hind"/>
                <a:sym typeface="Hind"/>
              </a:rPr>
              <a:t>how wrong</a:t>
            </a:r>
            <a:r>
              <a:rPr lang="en" sz="2200">
                <a:latin typeface="Hind"/>
                <a:ea typeface="Hind"/>
                <a:cs typeface="Hind"/>
                <a:sym typeface="Hind"/>
              </a:rPr>
              <a:t> are we?”</a:t>
            </a:r>
            <a:endParaRPr sz="2200">
              <a:latin typeface="Hind"/>
              <a:ea typeface="Hind"/>
              <a:cs typeface="Hind"/>
              <a:sym typeface="Hind"/>
            </a:endParaRPr>
          </a:p>
        </p:txBody>
      </p:sp>
      <p:sp>
        <p:nvSpPr>
          <p:cNvPr id="260" name="Google Shape;260;p32"/>
          <p:cNvSpPr txBox="1"/>
          <p:nvPr>
            <p:ph idx="1" type="body"/>
          </p:nvPr>
        </p:nvSpPr>
        <p:spPr>
          <a:xfrm>
            <a:off x="4523400" y="1914475"/>
            <a:ext cx="3818400" cy="1864800"/>
          </a:xfrm>
          <a:prstGeom prst="rect">
            <a:avLst/>
          </a:prstGeom>
          <a:noFill/>
          <a:ln>
            <a:noFill/>
          </a:ln>
        </p:spPr>
        <p:txBody>
          <a:bodyPr anchorCtr="0" anchor="t" bIns="91425" lIns="91425" spcFirstLastPara="1" rIns="91425" wrap="square" tIns="91425">
            <a:noAutofit/>
          </a:bodyPr>
          <a:lstStyle/>
          <a:p>
            <a:pPr indent="-317500" lvl="0" marL="419100" rtl="0" algn="l">
              <a:lnSpc>
                <a:spcPct val="115000"/>
              </a:lnSpc>
              <a:spcBef>
                <a:spcPts val="0"/>
              </a:spcBef>
              <a:spcAft>
                <a:spcPts val="0"/>
              </a:spcAft>
              <a:buSzPts val="2000"/>
              <a:buFont typeface="Hind"/>
              <a:buChar char="●"/>
            </a:pPr>
            <a:r>
              <a:rPr lang="en" sz="2200">
                <a:latin typeface="Hind"/>
                <a:ea typeface="Hind"/>
                <a:cs typeface="Hind"/>
                <a:sym typeface="Hind"/>
              </a:rPr>
              <a:t>Predict Discrete or Categorical data</a:t>
            </a:r>
            <a:endParaRPr sz="2200">
              <a:latin typeface="Hind"/>
              <a:ea typeface="Hind"/>
              <a:cs typeface="Hind"/>
              <a:sym typeface="Hind"/>
            </a:endParaRPr>
          </a:p>
          <a:p>
            <a:pPr indent="-317500" lvl="0" marL="419100" rtl="0" algn="l">
              <a:lnSpc>
                <a:spcPct val="115000"/>
              </a:lnSpc>
              <a:spcBef>
                <a:spcPts val="0"/>
              </a:spcBef>
              <a:spcAft>
                <a:spcPts val="0"/>
              </a:spcAft>
              <a:buSzPts val="2000"/>
              <a:buChar char="●"/>
            </a:pPr>
            <a:r>
              <a:rPr lang="en" sz="2200">
                <a:latin typeface="Hind"/>
                <a:ea typeface="Hind"/>
                <a:cs typeface="Hind"/>
                <a:sym typeface="Hind"/>
              </a:rPr>
              <a:t>“</a:t>
            </a:r>
            <a:r>
              <a:rPr b="1" lang="en" sz="2200">
                <a:latin typeface="Hind"/>
                <a:ea typeface="Hind"/>
                <a:cs typeface="Hind"/>
                <a:sym typeface="Hind"/>
              </a:rPr>
              <a:t>How many</a:t>
            </a:r>
            <a:r>
              <a:rPr lang="en" sz="2200">
                <a:latin typeface="Hind"/>
                <a:ea typeface="Hind"/>
                <a:cs typeface="Hind"/>
                <a:sym typeface="Hind"/>
              </a:rPr>
              <a:t> points do we get wrong?”</a:t>
            </a:r>
            <a:endParaRPr sz="2200">
              <a:latin typeface="Hind"/>
              <a:ea typeface="Hind"/>
              <a:cs typeface="Hind"/>
              <a:sym typeface="Hind"/>
            </a:endParaRPr>
          </a:p>
        </p:txBody>
      </p:sp>
      <p:sp>
        <p:nvSpPr>
          <p:cNvPr id="261" name="Google Shape;261;p32"/>
          <p:cNvSpPr txBox="1"/>
          <p:nvPr>
            <p:ph idx="1" type="body"/>
          </p:nvPr>
        </p:nvSpPr>
        <p:spPr>
          <a:xfrm>
            <a:off x="1074000" y="1213075"/>
            <a:ext cx="2293800" cy="701400"/>
          </a:xfrm>
          <a:prstGeom prst="rect">
            <a:avLst/>
          </a:prstGeom>
          <a:noFill/>
          <a:ln>
            <a:noFill/>
          </a:ln>
        </p:spPr>
        <p:txBody>
          <a:bodyPr anchorCtr="0" anchor="t" bIns="91425" lIns="91425" spcFirstLastPara="1" rIns="91425" wrap="square" tIns="91425">
            <a:noAutofit/>
          </a:bodyPr>
          <a:lstStyle/>
          <a:p>
            <a:pPr indent="0" lvl="0" marL="228600" marR="0" rtl="0" algn="l">
              <a:lnSpc>
                <a:spcPct val="115000"/>
              </a:lnSpc>
              <a:spcBef>
                <a:spcPts val="0"/>
              </a:spcBef>
              <a:spcAft>
                <a:spcPts val="0"/>
              </a:spcAft>
              <a:buClr>
                <a:schemeClr val="dk2"/>
              </a:buClr>
              <a:buSzPts val="1800"/>
              <a:buFont typeface="Arial"/>
              <a:buNone/>
            </a:pPr>
            <a:r>
              <a:rPr b="1" lang="en" sz="2600">
                <a:latin typeface="Hind"/>
                <a:ea typeface="Hind"/>
                <a:cs typeface="Hind"/>
                <a:sym typeface="Hind"/>
              </a:rPr>
              <a:t>Regression</a:t>
            </a:r>
            <a:endParaRPr b="1" sz="2600">
              <a:latin typeface="Hind"/>
              <a:ea typeface="Hind"/>
              <a:cs typeface="Hind"/>
              <a:sym typeface="Hind"/>
            </a:endParaRPr>
          </a:p>
        </p:txBody>
      </p:sp>
      <p:sp>
        <p:nvSpPr>
          <p:cNvPr id="262" name="Google Shape;262;p32"/>
          <p:cNvSpPr txBox="1"/>
          <p:nvPr>
            <p:ph idx="1" type="body"/>
          </p:nvPr>
        </p:nvSpPr>
        <p:spPr>
          <a:xfrm>
            <a:off x="5161200" y="1213075"/>
            <a:ext cx="2542800" cy="701400"/>
          </a:xfrm>
          <a:prstGeom prst="rect">
            <a:avLst/>
          </a:prstGeom>
          <a:noFill/>
          <a:ln>
            <a:noFill/>
          </a:ln>
        </p:spPr>
        <p:txBody>
          <a:bodyPr anchorCtr="0" anchor="t" bIns="91425" lIns="91425" spcFirstLastPara="1" rIns="91425" wrap="square" tIns="91425">
            <a:noAutofit/>
          </a:bodyPr>
          <a:lstStyle/>
          <a:p>
            <a:pPr indent="0" lvl="0" marL="228600" marR="0" rtl="0" algn="l">
              <a:lnSpc>
                <a:spcPct val="115000"/>
              </a:lnSpc>
              <a:spcBef>
                <a:spcPts val="0"/>
              </a:spcBef>
              <a:spcAft>
                <a:spcPts val="0"/>
              </a:spcAft>
              <a:buClr>
                <a:schemeClr val="dk2"/>
              </a:buClr>
              <a:buSzPts val="1800"/>
              <a:buFont typeface="Arial"/>
              <a:buNone/>
            </a:pPr>
            <a:r>
              <a:rPr b="1" lang="en" sz="2600">
                <a:latin typeface="Hind"/>
                <a:ea typeface="Hind"/>
                <a:cs typeface="Hind"/>
                <a:sym typeface="Hind"/>
              </a:rPr>
              <a:t>Classification</a:t>
            </a:r>
            <a:endParaRPr b="1" sz="2600">
              <a:latin typeface="Hind"/>
              <a:ea typeface="Hind"/>
              <a:cs typeface="Hind"/>
              <a:sym typeface="Hind"/>
            </a:endParaRPr>
          </a:p>
        </p:txBody>
      </p:sp>
      <p:sp>
        <p:nvSpPr>
          <p:cNvPr id="263" name="Google Shape;263;p32"/>
          <p:cNvSpPr/>
          <p:nvPr/>
        </p:nvSpPr>
        <p:spPr>
          <a:xfrm>
            <a:off x="2493125" y="4142600"/>
            <a:ext cx="14682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rgbClr val="595959"/>
                </a:solidFill>
                <a:latin typeface="Helvetica Neue"/>
                <a:ea typeface="Helvetica Neue"/>
                <a:cs typeface="Helvetica Neue"/>
                <a:sym typeface="Helvetica Neue"/>
              </a:rPr>
              <a:t>Numbers</a:t>
            </a:r>
            <a:endParaRPr b="0" i="0" sz="1600" u="none" cap="none" strike="noStrike">
              <a:solidFill>
                <a:srgbClr val="595959"/>
              </a:solidFill>
              <a:latin typeface="Helvetica Neue"/>
              <a:ea typeface="Helvetica Neue"/>
              <a:cs typeface="Helvetica Neue"/>
              <a:sym typeface="Helvetica Neue"/>
            </a:endParaRPr>
          </a:p>
        </p:txBody>
      </p:sp>
      <p:sp>
        <p:nvSpPr>
          <p:cNvPr id="264" name="Google Shape;264;p32"/>
          <p:cNvSpPr/>
          <p:nvPr/>
        </p:nvSpPr>
        <p:spPr>
          <a:xfrm>
            <a:off x="4677775" y="4142600"/>
            <a:ext cx="16707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rgbClr val="595959"/>
                </a:solidFill>
                <a:latin typeface="Helvetica Neue"/>
                <a:ea typeface="Helvetica Neue"/>
                <a:cs typeface="Helvetica Neue"/>
                <a:sym typeface="Helvetica Neue"/>
              </a:rPr>
              <a:t>Continuous</a:t>
            </a:r>
            <a:endParaRPr b="0" i="0" sz="1600" u="none" cap="none" strike="noStrike">
              <a:solidFill>
                <a:srgbClr val="595959"/>
              </a:solidFill>
              <a:latin typeface="Helvetica Neue"/>
              <a:ea typeface="Helvetica Neue"/>
              <a:cs typeface="Helvetica Neue"/>
              <a:sym typeface="Helvetica Neue"/>
            </a:endParaRPr>
          </a:p>
        </p:txBody>
      </p:sp>
      <p:grpSp>
        <p:nvGrpSpPr>
          <p:cNvPr id="265" name="Google Shape;265;p32"/>
          <p:cNvGrpSpPr/>
          <p:nvPr/>
        </p:nvGrpSpPr>
        <p:grpSpPr>
          <a:xfrm>
            <a:off x="4143956" y="4092470"/>
            <a:ext cx="427398" cy="406560"/>
            <a:chOff x="4141650" y="1251000"/>
            <a:chExt cx="640200" cy="624900"/>
          </a:xfrm>
        </p:grpSpPr>
        <p:cxnSp>
          <p:nvCxnSpPr>
            <p:cNvPr id="266" name="Google Shape;266;p32"/>
            <p:cNvCxnSpPr/>
            <p:nvPr/>
          </p:nvCxnSpPr>
          <p:spPr>
            <a:xfrm>
              <a:off x="4141650" y="1460200"/>
              <a:ext cx="640200" cy="0"/>
            </a:xfrm>
            <a:prstGeom prst="straightConnector1">
              <a:avLst/>
            </a:prstGeom>
            <a:noFill/>
            <a:ln cap="flat" cmpd="sng" w="76200">
              <a:solidFill>
                <a:srgbClr val="595959"/>
              </a:solidFill>
              <a:prstDash val="solid"/>
              <a:round/>
              <a:headEnd len="sm" w="sm" type="none"/>
              <a:tailEnd len="sm" w="sm" type="none"/>
            </a:ln>
          </p:spPr>
        </p:cxnSp>
        <p:cxnSp>
          <p:nvCxnSpPr>
            <p:cNvPr id="267" name="Google Shape;267;p32"/>
            <p:cNvCxnSpPr/>
            <p:nvPr/>
          </p:nvCxnSpPr>
          <p:spPr>
            <a:xfrm>
              <a:off x="4141650" y="1675275"/>
              <a:ext cx="640200" cy="0"/>
            </a:xfrm>
            <a:prstGeom prst="straightConnector1">
              <a:avLst/>
            </a:prstGeom>
            <a:noFill/>
            <a:ln cap="flat" cmpd="sng" w="76200">
              <a:solidFill>
                <a:srgbClr val="595959"/>
              </a:solidFill>
              <a:prstDash val="solid"/>
              <a:round/>
              <a:headEnd len="sm" w="sm" type="none"/>
              <a:tailEnd len="sm" w="sm" type="none"/>
            </a:ln>
          </p:spPr>
        </p:cxnSp>
        <p:cxnSp>
          <p:nvCxnSpPr>
            <p:cNvPr id="268" name="Google Shape;268;p32"/>
            <p:cNvCxnSpPr/>
            <p:nvPr/>
          </p:nvCxnSpPr>
          <p:spPr>
            <a:xfrm flipH="1" rot="10800000">
              <a:off x="4254338" y="1251000"/>
              <a:ext cx="469800" cy="624900"/>
            </a:xfrm>
            <a:prstGeom prst="straightConnector1">
              <a:avLst/>
            </a:prstGeom>
            <a:noFill/>
            <a:ln cap="flat" cmpd="sng" w="76200">
              <a:solidFill>
                <a:srgbClr val="595959"/>
              </a:solidFill>
              <a:prstDash val="solid"/>
              <a:round/>
              <a:headEnd len="sm" w="sm" type="none"/>
              <a:tailEnd len="sm" w="sm" type="none"/>
            </a:ln>
          </p:spPr>
        </p:cxnSp>
      </p:grpSp>
      <p:sp>
        <p:nvSpPr>
          <p:cNvPr id="269" name="Google Shape;269;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lang="en" sz="2400"/>
              <a:t>Review: Regression vs. Classification</a:t>
            </a:r>
            <a:endParaRPr b="1" i="0" sz="2400" u="none" cap="none" strike="noStrike">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t>Leave-P-out</a:t>
            </a:r>
            <a:endParaRPr b="0" i="0" sz="2400" u="none" cap="none" strike="noStrike">
              <a:latin typeface="Arial"/>
              <a:ea typeface="Arial"/>
              <a:cs typeface="Arial"/>
              <a:sym typeface="Arial"/>
            </a:endParaRPr>
          </a:p>
        </p:txBody>
      </p:sp>
      <p:sp>
        <p:nvSpPr>
          <p:cNvPr id="275" name="Google Shape;275;p33"/>
          <p:cNvSpPr txBox="1"/>
          <p:nvPr>
            <p:ph idx="1" type="body"/>
          </p:nvPr>
        </p:nvSpPr>
        <p:spPr>
          <a:xfrm>
            <a:off x="311700" y="1152475"/>
            <a:ext cx="8520600" cy="3635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n" sz="2000">
                <a:latin typeface="Hind"/>
                <a:ea typeface="Hind"/>
                <a:cs typeface="Hind"/>
                <a:sym typeface="Hind"/>
              </a:rPr>
              <a:t>Let </a:t>
            </a:r>
            <a:r>
              <a:rPr b="1" lang="en" sz="2000">
                <a:latin typeface="Hind"/>
                <a:ea typeface="Hind"/>
                <a:cs typeface="Hind"/>
                <a:sym typeface="Hind"/>
              </a:rPr>
              <a:t>D</a:t>
            </a:r>
            <a:r>
              <a:rPr lang="en" sz="2000">
                <a:latin typeface="Hind"/>
                <a:ea typeface="Hind"/>
                <a:cs typeface="Hind"/>
                <a:sym typeface="Hind"/>
              </a:rPr>
              <a:t> be our whole dataset</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rPr lang="en" sz="2000">
                <a:latin typeface="Hind"/>
                <a:ea typeface="Hind"/>
                <a:cs typeface="Hind"/>
                <a:sym typeface="Hind"/>
              </a:rPr>
              <a:t>Choose a </a:t>
            </a:r>
            <a:r>
              <a:rPr b="1" lang="en" sz="2000">
                <a:latin typeface="Hind"/>
                <a:ea typeface="Hind"/>
                <a:cs typeface="Hind"/>
                <a:sym typeface="Hind"/>
              </a:rPr>
              <a:t>P</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rPr lang="en" sz="2000">
                <a:latin typeface="Hind"/>
                <a:ea typeface="Hind"/>
                <a:cs typeface="Hind"/>
                <a:sym typeface="Hind"/>
              </a:rPr>
              <a:t>For every combination of </a:t>
            </a:r>
            <a:r>
              <a:rPr b="1" lang="en" sz="2000">
                <a:latin typeface="Hind"/>
                <a:ea typeface="Hind"/>
                <a:cs typeface="Hind"/>
                <a:sym typeface="Hind"/>
              </a:rPr>
              <a:t>P</a:t>
            </a:r>
            <a:r>
              <a:rPr lang="en" sz="2000">
                <a:latin typeface="Hind"/>
                <a:ea typeface="Hind"/>
                <a:cs typeface="Hind"/>
                <a:sym typeface="Hind"/>
              </a:rPr>
              <a:t> points in </a:t>
            </a:r>
            <a:r>
              <a:rPr b="1" lang="en" sz="2000">
                <a:latin typeface="Hind"/>
                <a:ea typeface="Hind"/>
                <a:cs typeface="Hind"/>
                <a:sym typeface="Hind"/>
              </a:rPr>
              <a:t>D</a:t>
            </a:r>
            <a:r>
              <a:rPr lang="en" sz="2000">
                <a:latin typeface="Hind"/>
                <a:ea typeface="Hind"/>
                <a:cs typeface="Hind"/>
                <a:sym typeface="Hind"/>
              </a:rPr>
              <a:t>:</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rPr lang="en" sz="2000">
                <a:latin typeface="Hind"/>
                <a:ea typeface="Hind"/>
                <a:cs typeface="Hind"/>
                <a:sym typeface="Hind"/>
              </a:rPr>
              <a:t>	Use a train/test split with those </a:t>
            </a:r>
            <a:r>
              <a:rPr b="1" lang="en" sz="2000">
                <a:latin typeface="Hind"/>
                <a:ea typeface="Hind"/>
                <a:cs typeface="Hind"/>
                <a:sym typeface="Hind"/>
              </a:rPr>
              <a:t>P</a:t>
            </a:r>
            <a:r>
              <a:rPr lang="en" sz="2000">
                <a:latin typeface="Hind"/>
                <a:ea typeface="Hind"/>
                <a:cs typeface="Hind"/>
                <a:sym typeface="Hind"/>
              </a:rPr>
              <a:t> points as test, the rest as train</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t/>
            </a:r>
            <a:endParaRPr sz="2000">
              <a:latin typeface="Hind"/>
              <a:ea typeface="Hind"/>
              <a:cs typeface="Hind"/>
              <a:sym typeface="Hi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t>Leave-P-out: different from K-fold!</a:t>
            </a:r>
            <a:endParaRPr b="0" i="0" sz="2400" u="none" cap="none" strike="noStrike">
              <a:latin typeface="Arial"/>
              <a:ea typeface="Arial"/>
              <a:cs typeface="Arial"/>
              <a:sym typeface="Arial"/>
            </a:endParaRPr>
          </a:p>
        </p:txBody>
      </p:sp>
      <p:sp>
        <p:nvSpPr>
          <p:cNvPr id="281" name="Google Shape;281;p34"/>
          <p:cNvSpPr txBox="1"/>
          <p:nvPr>
            <p:ph idx="1" type="body"/>
          </p:nvPr>
        </p:nvSpPr>
        <p:spPr>
          <a:xfrm>
            <a:off x="311700" y="1152475"/>
            <a:ext cx="8520600" cy="3635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n" sz="2000">
                <a:latin typeface="Hind"/>
                <a:ea typeface="Hind"/>
                <a:cs typeface="Hind"/>
                <a:sym typeface="Hind"/>
              </a:rPr>
              <a:t>Let’s say </a:t>
            </a:r>
            <a:r>
              <a:rPr b="1" lang="en" sz="2000">
                <a:latin typeface="Hind"/>
                <a:ea typeface="Hind"/>
                <a:cs typeface="Hind"/>
                <a:sym typeface="Hind"/>
              </a:rPr>
              <a:t>D</a:t>
            </a:r>
            <a:r>
              <a:rPr lang="en" sz="2000">
                <a:latin typeface="Hind"/>
                <a:ea typeface="Hind"/>
                <a:cs typeface="Hind"/>
                <a:sym typeface="Hind"/>
              </a:rPr>
              <a:t> has a size of 4. There are four data points: </a:t>
            </a:r>
            <a:r>
              <a:rPr i="1" lang="en" sz="2000">
                <a:latin typeface="Hind"/>
                <a:ea typeface="Hind"/>
                <a:cs typeface="Hind"/>
                <a:sym typeface="Hind"/>
              </a:rPr>
              <a:t>a</a:t>
            </a:r>
            <a:r>
              <a:rPr lang="en" sz="2000">
                <a:latin typeface="Hind"/>
                <a:ea typeface="Hind"/>
                <a:cs typeface="Hind"/>
                <a:sym typeface="Hind"/>
              </a:rPr>
              <a:t>, </a:t>
            </a:r>
            <a:r>
              <a:rPr i="1" lang="en" sz="2000">
                <a:latin typeface="Hind"/>
                <a:ea typeface="Hind"/>
                <a:cs typeface="Hind"/>
                <a:sym typeface="Hind"/>
              </a:rPr>
              <a:t>b</a:t>
            </a:r>
            <a:r>
              <a:rPr lang="en" sz="2000">
                <a:latin typeface="Hind"/>
                <a:ea typeface="Hind"/>
                <a:cs typeface="Hind"/>
                <a:sym typeface="Hind"/>
              </a:rPr>
              <a:t>, </a:t>
            </a:r>
            <a:r>
              <a:rPr i="1" lang="en" sz="2000">
                <a:latin typeface="Hind"/>
                <a:ea typeface="Hind"/>
                <a:cs typeface="Hind"/>
                <a:sym typeface="Hind"/>
              </a:rPr>
              <a:t>c</a:t>
            </a:r>
            <a:r>
              <a:rPr lang="en" sz="2000">
                <a:latin typeface="Hind"/>
                <a:ea typeface="Hind"/>
                <a:cs typeface="Hind"/>
                <a:sym typeface="Hind"/>
              </a:rPr>
              <a:t>, and </a:t>
            </a:r>
            <a:r>
              <a:rPr i="1" lang="en" sz="2000">
                <a:latin typeface="Hind"/>
                <a:ea typeface="Hind"/>
                <a:cs typeface="Hind"/>
                <a:sym typeface="Hind"/>
              </a:rPr>
              <a:t>d</a:t>
            </a:r>
            <a:r>
              <a:rPr lang="en" sz="2000">
                <a:latin typeface="Hind"/>
                <a:ea typeface="Hind"/>
                <a:cs typeface="Hind"/>
                <a:sym typeface="Hind"/>
              </a:rPr>
              <a:t>.</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rPr lang="en" sz="2000">
                <a:latin typeface="Hind"/>
                <a:ea typeface="Hind"/>
                <a:cs typeface="Hind"/>
                <a:sym typeface="Hind"/>
              </a:rPr>
              <a:t>K-fold:</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K = 2.</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Each fold has a size of 2: {</a:t>
            </a:r>
            <a:r>
              <a:rPr i="1" lang="en" sz="2000">
                <a:latin typeface="Hind"/>
                <a:ea typeface="Hind"/>
                <a:cs typeface="Hind"/>
                <a:sym typeface="Hind"/>
              </a:rPr>
              <a:t>a</a:t>
            </a:r>
            <a:r>
              <a:rPr lang="en" sz="2000">
                <a:latin typeface="Hind"/>
                <a:ea typeface="Hind"/>
                <a:cs typeface="Hind"/>
                <a:sym typeface="Hind"/>
              </a:rPr>
              <a:t>,</a:t>
            </a:r>
            <a:r>
              <a:rPr i="1" lang="en" sz="2000">
                <a:latin typeface="Hind"/>
                <a:ea typeface="Hind"/>
                <a:cs typeface="Hind"/>
                <a:sym typeface="Hind"/>
              </a:rPr>
              <a:t>b</a:t>
            </a:r>
            <a:r>
              <a:rPr lang="en" sz="2000">
                <a:latin typeface="Hind"/>
                <a:ea typeface="Hind"/>
                <a:cs typeface="Hind"/>
                <a:sym typeface="Hind"/>
              </a:rPr>
              <a:t>} and {</a:t>
            </a:r>
            <a:r>
              <a:rPr i="1" lang="en" sz="2000">
                <a:latin typeface="Hind"/>
                <a:ea typeface="Hind"/>
                <a:cs typeface="Hind"/>
                <a:sym typeface="Hind"/>
              </a:rPr>
              <a:t>c</a:t>
            </a:r>
            <a:r>
              <a:rPr lang="en" sz="2000">
                <a:latin typeface="Hind"/>
                <a:ea typeface="Hind"/>
                <a:cs typeface="Hind"/>
                <a:sym typeface="Hind"/>
              </a:rPr>
              <a:t>,</a:t>
            </a:r>
            <a:r>
              <a:rPr i="1" lang="en" sz="2000">
                <a:latin typeface="Hind"/>
                <a:ea typeface="Hind"/>
                <a:cs typeface="Hind"/>
                <a:sym typeface="Hind"/>
              </a:rPr>
              <a:t>d</a:t>
            </a:r>
            <a:r>
              <a:rPr lang="en" sz="2000">
                <a:latin typeface="Hind"/>
                <a:ea typeface="Hind"/>
                <a:cs typeface="Hind"/>
                <a:sym typeface="Hind"/>
              </a:rPr>
              <a:t>}</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So, we only have 2 possible test sets: </a:t>
            </a:r>
            <a:endParaRPr sz="2000">
              <a:latin typeface="Hind"/>
              <a:ea typeface="Hind"/>
              <a:cs typeface="Hind"/>
              <a:sym typeface="Hind"/>
            </a:endParaRPr>
          </a:p>
          <a:p>
            <a:pPr indent="0" lvl="0" marL="914400" marR="0" rtl="0" algn="l">
              <a:lnSpc>
                <a:spcPct val="115000"/>
              </a:lnSpc>
              <a:spcBef>
                <a:spcPts val="0"/>
              </a:spcBef>
              <a:spcAft>
                <a:spcPts val="0"/>
              </a:spcAft>
              <a:buSzPts val="1800"/>
              <a:buNone/>
            </a:pPr>
            <a:r>
              <a:rPr lang="en" sz="2000">
                <a:latin typeface="Hind"/>
                <a:ea typeface="Hind"/>
                <a:cs typeface="Hind"/>
                <a:sym typeface="Hind"/>
              </a:rPr>
              <a:t>{</a:t>
            </a:r>
            <a:r>
              <a:rPr i="1" lang="en" sz="2000">
                <a:latin typeface="Hind"/>
                <a:ea typeface="Hind"/>
                <a:cs typeface="Hind"/>
                <a:sym typeface="Hind"/>
              </a:rPr>
              <a:t>a</a:t>
            </a:r>
            <a:r>
              <a:rPr lang="en" sz="2000">
                <a:latin typeface="Hind"/>
                <a:ea typeface="Hind"/>
                <a:cs typeface="Hind"/>
                <a:sym typeface="Hind"/>
              </a:rPr>
              <a:t>,</a:t>
            </a:r>
            <a:r>
              <a:rPr i="1" lang="en" sz="2000">
                <a:latin typeface="Hind"/>
                <a:ea typeface="Hind"/>
                <a:cs typeface="Hind"/>
                <a:sym typeface="Hind"/>
              </a:rPr>
              <a:t>b</a:t>
            </a:r>
            <a:r>
              <a:rPr lang="en" sz="2000">
                <a:latin typeface="Hind"/>
                <a:ea typeface="Hind"/>
                <a:cs typeface="Hind"/>
                <a:sym typeface="Hind"/>
              </a:rPr>
              <a:t>} and {</a:t>
            </a:r>
            <a:r>
              <a:rPr i="1" lang="en" sz="2000">
                <a:latin typeface="Hind"/>
                <a:ea typeface="Hind"/>
                <a:cs typeface="Hind"/>
                <a:sym typeface="Hind"/>
              </a:rPr>
              <a:t>c</a:t>
            </a:r>
            <a:r>
              <a:rPr lang="en" sz="2000">
                <a:latin typeface="Hind"/>
                <a:ea typeface="Hind"/>
                <a:cs typeface="Hind"/>
                <a:sym typeface="Hind"/>
              </a:rPr>
              <a:t>,</a:t>
            </a:r>
            <a:r>
              <a:rPr i="1" lang="en" sz="2000">
                <a:latin typeface="Hind"/>
                <a:ea typeface="Hind"/>
                <a:cs typeface="Hind"/>
                <a:sym typeface="Hind"/>
              </a:rPr>
              <a:t>d</a:t>
            </a:r>
            <a:r>
              <a:rPr lang="en" sz="2000">
                <a:latin typeface="Hind"/>
                <a:ea typeface="Hind"/>
                <a:cs typeface="Hind"/>
                <a:sym typeface="Hind"/>
              </a:rPr>
              <a:t>}</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rPr lang="en" sz="2000">
                <a:latin typeface="Hind"/>
                <a:ea typeface="Hind"/>
                <a:cs typeface="Hind"/>
                <a:sym typeface="Hind"/>
              </a:rPr>
              <a:t>Leave-P-out:</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P = 2.</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We have 6 possible test sets:</a:t>
            </a:r>
            <a:endParaRPr sz="2000">
              <a:latin typeface="Hind"/>
              <a:ea typeface="Hind"/>
              <a:cs typeface="Hind"/>
              <a:sym typeface="Hind"/>
            </a:endParaRPr>
          </a:p>
          <a:p>
            <a:pPr indent="0" lvl="0" marL="914400" marR="0" rtl="0" algn="l">
              <a:lnSpc>
                <a:spcPct val="115000"/>
              </a:lnSpc>
              <a:spcBef>
                <a:spcPts val="0"/>
              </a:spcBef>
              <a:spcAft>
                <a:spcPts val="0"/>
              </a:spcAft>
              <a:buSzPts val="1800"/>
              <a:buNone/>
            </a:pPr>
            <a:r>
              <a:rPr lang="en" sz="2000">
                <a:latin typeface="Hind"/>
                <a:ea typeface="Hind"/>
                <a:cs typeface="Hind"/>
                <a:sym typeface="Hind"/>
              </a:rPr>
              <a:t>{</a:t>
            </a:r>
            <a:r>
              <a:rPr i="1" lang="en" sz="2000">
                <a:latin typeface="Hind"/>
                <a:ea typeface="Hind"/>
                <a:cs typeface="Hind"/>
                <a:sym typeface="Hind"/>
              </a:rPr>
              <a:t>a</a:t>
            </a:r>
            <a:r>
              <a:rPr lang="en" sz="2000">
                <a:latin typeface="Hind"/>
                <a:ea typeface="Hind"/>
                <a:cs typeface="Hind"/>
                <a:sym typeface="Hind"/>
              </a:rPr>
              <a:t>,</a:t>
            </a:r>
            <a:r>
              <a:rPr i="1" lang="en" sz="2000">
                <a:latin typeface="Hind"/>
                <a:ea typeface="Hind"/>
                <a:cs typeface="Hind"/>
                <a:sym typeface="Hind"/>
              </a:rPr>
              <a:t>b</a:t>
            </a:r>
            <a:r>
              <a:rPr lang="en" sz="2000">
                <a:latin typeface="Hind"/>
                <a:ea typeface="Hind"/>
                <a:cs typeface="Hind"/>
                <a:sym typeface="Hind"/>
              </a:rPr>
              <a:t>}, {</a:t>
            </a:r>
            <a:r>
              <a:rPr i="1" lang="en" sz="2000">
                <a:latin typeface="Hind"/>
                <a:ea typeface="Hind"/>
                <a:cs typeface="Hind"/>
                <a:sym typeface="Hind"/>
              </a:rPr>
              <a:t>a</a:t>
            </a:r>
            <a:r>
              <a:rPr lang="en" sz="2000">
                <a:latin typeface="Hind"/>
                <a:ea typeface="Hind"/>
                <a:cs typeface="Hind"/>
                <a:sym typeface="Hind"/>
              </a:rPr>
              <a:t>,</a:t>
            </a:r>
            <a:r>
              <a:rPr i="1" lang="en" sz="2000">
                <a:latin typeface="Hind"/>
                <a:ea typeface="Hind"/>
                <a:cs typeface="Hind"/>
                <a:sym typeface="Hind"/>
              </a:rPr>
              <a:t>c</a:t>
            </a:r>
            <a:r>
              <a:rPr lang="en" sz="2000">
                <a:latin typeface="Hind"/>
                <a:ea typeface="Hind"/>
                <a:cs typeface="Hind"/>
                <a:sym typeface="Hind"/>
              </a:rPr>
              <a:t>}, {</a:t>
            </a:r>
            <a:r>
              <a:rPr i="1" lang="en" sz="2000">
                <a:latin typeface="Hind"/>
                <a:ea typeface="Hind"/>
                <a:cs typeface="Hind"/>
                <a:sym typeface="Hind"/>
              </a:rPr>
              <a:t>a</a:t>
            </a:r>
            <a:r>
              <a:rPr lang="en" sz="2000">
                <a:latin typeface="Hind"/>
                <a:ea typeface="Hind"/>
                <a:cs typeface="Hind"/>
                <a:sym typeface="Hind"/>
              </a:rPr>
              <a:t>,</a:t>
            </a:r>
            <a:r>
              <a:rPr i="1" lang="en" sz="2000">
                <a:latin typeface="Hind"/>
                <a:ea typeface="Hind"/>
                <a:cs typeface="Hind"/>
                <a:sym typeface="Hind"/>
              </a:rPr>
              <a:t>d</a:t>
            </a:r>
            <a:r>
              <a:rPr lang="en" sz="2000">
                <a:latin typeface="Hind"/>
                <a:ea typeface="Hind"/>
                <a:cs typeface="Hind"/>
                <a:sym typeface="Hind"/>
              </a:rPr>
              <a:t>}, {</a:t>
            </a:r>
            <a:r>
              <a:rPr i="1" lang="en" sz="2000">
                <a:latin typeface="Hind"/>
                <a:ea typeface="Hind"/>
                <a:cs typeface="Hind"/>
                <a:sym typeface="Hind"/>
              </a:rPr>
              <a:t>b</a:t>
            </a:r>
            <a:r>
              <a:rPr lang="en" sz="2000">
                <a:latin typeface="Hind"/>
                <a:ea typeface="Hind"/>
                <a:cs typeface="Hind"/>
                <a:sym typeface="Hind"/>
              </a:rPr>
              <a:t>,</a:t>
            </a:r>
            <a:r>
              <a:rPr i="1" lang="en" sz="2000">
                <a:latin typeface="Hind"/>
                <a:ea typeface="Hind"/>
                <a:cs typeface="Hind"/>
                <a:sym typeface="Hind"/>
              </a:rPr>
              <a:t>c</a:t>
            </a:r>
            <a:r>
              <a:rPr lang="en" sz="2000">
                <a:latin typeface="Hind"/>
                <a:ea typeface="Hind"/>
                <a:cs typeface="Hind"/>
                <a:sym typeface="Hind"/>
              </a:rPr>
              <a:t>}, {</a:t>
            </a:r>
            <a:r>
              <a:rPr i="1" lang="en" sz="2000">
                <a:latin typeface="Hind"/>
                <a:ea typeface="Hind"/>
                <a:cs typeface="Hind"/>
                <a:sym typeface="Hind"/>
              </a:rPr>
              <a:t>b</a:t>
            </a:r>
            <a:r>
              <a:rPr lang="en" sz="2000">
                <a:latin typeface="Hind"/>
                <a:ea typeface="Hind"/>
                <a:cs typeface="Hind"/>
                <a:sym typeface="Hind"/>
              </a:rPr>
              <a:t>,</a:t>
            </a:r>
            <a:r>
              <a:rPr i="1" lang="en" sz="2000">
                <a:latin typeface="Hind"/>
                <a:ea typeface="Hind"/>
                <a:cs typeface="Hind"/>
                <a:sym typeface="Hind"/>
              </a:rPr>
              <a:t>d</a:t>
            </a:r>
            <a:r>
              <a:rPr lang="en" sz="2000">
                <a:latin typeface="Hind"/>
                <a:ea typeface="Hind"/>
                <a:cs typeface="Hind"/>
                <a:sym typeface="Hind"/>
              </a:rPr>
              <a:t>}, and {</a:t>
            </a:r>
            <a:r>
              <a:rPr i="1" lang="en" sz="2000">
                <a:latin typeface="Hind"/>
                <a:ea typeface="Hind"/>
                <a:cs typeface="Hind"/>
                <a:sym typeface="Hind"/>
              </a:rPr>
              <a:t>c</a:t>
            </a:r>
            <a:r>
              <a:rPr lang="en" sz="2000">
                <a:latin typeface="Hind"/>
                <a:ea typeface="Hind"/>
                <a:cs typeface="Hind"/>
                <a:sym typeface="Hind"/>
              </a:rPr>
              <a:t>,</a:t>
            </a:r>
            <a:r>
              <a:rPr i="1" lang="en" sz="2000">
                <a:latin typeface="Hind"/>
                <a:ea typeface="Hind"/>
                <a:cs typeface="Hind"/>
                <a:sym typeface="Hind"/>
              </a:rPr>
              <a:t>d</a:t>
            </a:r>
            <a:r>
              <a:rPr lang="en" sz="2000">
                <a:latin typeface="Hind"/>
                <a:ea typeface="Hind"/>
                <a:cs typeface="Hind"/>
                <a:sym typeface="Hind"/>
              </a:rPr>
              <a:t>} </a:t>
            </a:r>
            <a:endParaRPr sz="2000">
              <a:latin typeface="Hind"/>
              <a:ea typeface="Hind"/>
              <a:cs typeface="Hind"/>
              <a:sym typeface="Hi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t>Leave-P-out</a:t>
            </a:r>
            <a:endParaRPr b="0" i="0" sz="2400" u="none" cap="none" strike="noStrike">
              <a:latin typeface="Arial"/>
              <a:ea typeface="Arial"/>
              <a:cs typeface="Arial"/>
              <a:sym typeface="Arial"/>
            </a:endParaRPr>
          </a:p>
        </p:txBody>
      </p:sp>
      <p:sp>
        <p:nvSpPr>
          <p:cNvPr id="287" name="Google Shape;287;p35"/>
          <p:cNvSpPr txBox="1"/>
          <p:nvPr>
            <p:ph idx="1" type="body"/>
          </p:nvPr>
        </p:nvSpPr>
        <p:spPr>
          <a:xfrm>
            <a:off x="311700" y="1152475"/>
            <a:ext cx="8520600" cy="3635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n" sz="2000">
                <a:latin typeface="Hind"/>
                <a:ea typeface="Hind"/>
                <a:cs typeface="Hind"/>
                <a:sym typeface="Hind"/>
              </a:rPr>
              <a:t>Pros:</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Dependable (not random)</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Representative — checks all combinations</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t/>
            </a:r>
            <a:endParaRPr sz="2000">
              <a:latin typeface="Hind"/>
              <a:ea typeface="Hind"/>
              <a:cs typeface="Hind"/>
              <a:sym typeface="Hind"/>
            </a:endParaRPr>
          </a:p>
          <a:p>
            <a:pPr indent="0" lvl="0" marL="0" marR="0" rtl="0" algn="l">
              <a:lnSpc>
                <a:spcPct val="115000"/>
              </a:lnSpc>
              <a:spcBef>
                <a:spcPts val="0"/>
              </a:spcBef>
              <a:spcAft>
                <a:spcPts val="0"/>
              </a:spcAft>
              <a:buSzPts val="1800"/>
              <a:buNone/>
            </a:pPr>
            <a:r>
              <a:rPr lang="en" sz="2000">
                <a:latin typeface="Hind"/>
                <a:ea typeface="Hind"/>
                <a:cs typeface="Hind"/>
                <a:sym typeface="Hind"/>
              </a:rPr>
              <a:t>Cons:</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Slow!</a:t>
            </a:r>
            <a:endParaRPr sz="2000">
              <a:latin typeface="Hind"/>
              <a:ea typeface="Hind"/>
              <a:cs typeface="Hind"/>
              <a:sym typeface="Hind"/>
            </a:endParaRPr>
          </a:p>
          <a:p>
            <a:pPr indent="-355600" lvl="1" marL="914400" marR="0" rtl="0" algn="l">
              <a:lnSpc>
                <a:spcPct val="115000"/>
              </a:lnSpc>
              <a:spcBef>
                <a:spcPts val="0"/>
              </a:spcBef>
              <a:spcAft>
                <a:spcPts val="0"/>
              </a:spcAft>
              <a:buSzPts val="2000"/>
              <a:buFont typeface="Hind"/>
              <a:buChar char="○"/>
            </a:pPr>
            <a:r>
              <a:rPr lang="en" sz="2000">
                <a:latin typeface="Hind"/>
                <a:ea typeface="Hind"/>
                <a:cs typeface="Hind"/>
                <a:sym typeface="Hind"/>
              </a:rPr>
              <a:t>Runtime </a:t>
            </a:r>
            <a:r>
              <a:rPr lang="en" sz="2000" u="sng">
                <a:latin typeface="Hind"/>
                <a:ea typeface="Hind"/>
                <a:cs typeface="Hind"/>
                <a:sym typeface="Hind"/>
              </a:rPr>
              <a:t>increases</a:t>
            </a:r>
            <a:r>
              <a:rPr lang="en" sz="2000">
                <a:latin typeface="Hind"/>
                <a:ea typeface="Hind"/>
                <a:cs typeface="Hind"/>
                <a:sym typeface="Hind"/>
              </a:rPr>
              <a:t> with larger datasets</a:t>
            </a:r>
            <a:endParaRPr sz="2000">
              <a:latin typeface="Hind"/>
              <a:ea typeface="Hind"/>
              <a:cs typeface="Hind"/>
              <a:sym typeface="Hind"/>
            </a:endParaRPr>
          </a:p>
          <a:p>
            <a:pPr indent="-355600" lvl="1" marL="914400" marR="0" rtl="0" algn="l">
              <a:lnSpc>
                <a:spcPct val="115000"/>
              </a:lnSpc>
              <a:spcBef>
                <a:spcPts val="0"/>
              </a:spcBef>
              <a:spcAft>
                <a:spcPts val="0"/>
              </a:spcAft>
              <a:buSzPts val="2000"/>
              <a:buFont typeface="Hind"/>
              <a:buChar char="○"/>
            </a:pPr>
            <a:r>
              <a:rPr lang="en" sz="2000">
                <a:latin typeface="Hind"/>
                <a:ea typeface="Hind"/>
                <a:cs typeface="Hind"/>
                <a:sym typeface="Hind"/>
              </a:rPr>
              <a:t>Runtime </a:t>
            </a:r>
            <a:r>
              <a:rPr lang="en" sz="2000" u="sng">
                <a:latin typeface="Hind"/>
                <a:ea typeface="Hind"/>
                <a:cs typeface="Hind"/>
                <a:sym typeface="Hind"/>
              </a:rPr>
              <a:t>explodes</a:t>
            </a:r>
            <a:r>
              <a:rPr lang="en" sz="2000">
                <a:latin typeface="Hind"/>
                <a:ea typeface="Hind"/>
                <a:cs typeface="Hind"/>
                <a:sym typeface="Hind"/>
              </a:rPr>
              <a:t> with larger P</a:t>
            </a:r>
            <a:endParaRPr sz="2000">
              <a:latin typeface="Hind"/>
              <a:ea typeface="Hind"/>
              <a:cs typeface="Hind"/>
              <a:sym typeface="Hi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t>Monte Carlo Cross Validation</a:t>
            </a:r>
            <a:endParaRPr b="0" i="0" sz="2400" u="none" cap="none" strike="noStrike">
              <a:latin typeface="Arial"/>
              <a:ea typeface="Arial"/>
              <a:cs typeface="Arial"/>
              <a:sym typeface="Arial"/>
            </a:endParaRPr>
          </a:p>
        </p:txBody>
      </p:sp>
      <p:sp>
        <p:nvSpPr>
          <p:cNvPr id="293" name="Google Shape;293;p36"/>
          <p:cNvSpPr txBox="1"/>
          <p:nvPr>
            <p:ph idx="1" type="body"/>
          </p:nvPr>
        </p:nvSpPr>
        <p:spPr>
          <a:xfrm>
            <a:off x="311700" y="1152475"/>
            <a:ext cx="8520600" cy="3635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2"/>
              </a:buClr>
              <a:buSzPts val="2000"/>
              <a:buFont typeface="Hind"/>
              <a:buChar char="●"/>
            </a:pPr>
            <a:r>
              <a:rPr lang="en" sz="2000">
                <a:latin typeface="Hind"/>
                <a:ea typeface="Hind"/>
                <a:cs typeface="Hind"/>
                <a:sym typeface="Hind"/>
              </a:rPr>
              <a:t>Getting accuracy </a:t>
            </a:r>
            <a:r>
              <a:rPr b="1" lang="en" sz="2000">
                <a:latin typeface="Hind"/>
                <a:ea typeface="Hind"/>
                <a:cs typeface="Hind"/>
                <a:sym typeface="Hind"/>
              </a:rPr>
              <a:t>1</a:t>
            </a:r>
            <a:r>
              <a:rPr lang="en" sz="2000">
                <a:latin typeface="Hind"/>
                <a:ea typeface="Hind"/>
                <a:cs typeface="Hind"/>
                <a:sym typeface="Hind"/>
              </a:rPr>
              <a:t> time doesn’t tell us much</a:t>
            </a:r>
            <a:endParaRPr sz="2000">
              <a:latin typeface="Hind"/>
              <a:ea typeface="Hind"/>
              <a:cs typeface="Hind"/>
              <a:sym typeface="Hind"/>
            </a:endParaRPr>
          </a:p>
          <a:p>
            <a:pPr indent="-355600" lvl="0" marL="457200" rtl="0" algn="l">
              <a:lnSpc>
                <a:spcPct val="115000"/>
              </a:lnSpc>
              <a:spcBef>
                <a:spcPts val="0"/>
              </a:spcBef>
              <a:spcAft>
                <a:spcPts val="0"/>
              </a:spcAft>
              <a:buSzPts val="2000"/>
              <a:buFont typeface="Hind"/>
              <a:buChar char="●"/>
            </a:pPr>
            <a:r>
              <a:rPr lang="en" sz="2000">
                <a:latin typeface="Hind"/>
                <a:ea typeface="Hind"/>
                <a:cs typeface="Hind"/>
                <a:sym typeface="Hind"/>
              </a:rPr>
              <a:t>Getting accuracy </a:t>
            </a:r>
            <a:r>
              <a:rPr b="1" lang="en" sz="2000">
                <a:latin typeface="Hind"/>
                <a:ea typeface="Hind"/>
                <a:cs typeface="Hind"/>
                <a:sym typeface="Hind"/>
              </a:rPr>
              <a:t>2</a:t>
            </a:r>
            <a:r>
              <a:rPr lang="en" sz="2000">
                <a:latin typeface="Hind"/>
                <a:ea typeface="Hind"/>
                <a:cs typeface="Hind"/>
                <a:sym typeface="Hind"/>
              </a:rPr>
              <a:t> times tells us a bit</a:t>
            </a:r>
            <a:endParaRPr sz="2000">
              <a:latin typeface="Hind"/>
              <a:ea typeface="Hind"/>
              <a:cs typeface="Hind"/>
              <a:sym typeface="Hind"/>
            </a:endParaRPr>
          </a:p>
          <a:p>
            <a:pPr indent="-355600" lvl="0" marL="457200" rtl="0" algn="l">
              <a:lnSpc>
                <a:spcPct val="115000"/>
              </a:lnSpc>
              <a:spcBef>
                <a:spcPts val="0"/>
              </a:spcBef>
              <a:spcAft>
                <a:spcPts val="0"/>
              </a:spcAft>
              <a:buSzPts val="2000"/>
              <a:buFont typeface="Hind"/>
              <a:buChar char="●"/>
            </a:pPr>
            <a:r>
              <a:rPr lang="en" sz="2000">
                <a:latin typeface="Hind"/>
                <a:ea typeface="Hind"/>
                <a:cs typeface="Hind"/>
                <a:sym typeface="Hind"/>
              </a:rPr>
              <a:t>Getting accuracy </a:t>
            </a:r>
            <a:r>
              <a:rPr b="1" lang="en" sz="2000">
                <a:latin typeface="Hind"/>
                <a:ea typeface="Hind"/>
                <a:cs typeface="Hind"/>
                <a:sym typeface="Hind"/>
              </a:rPr>
              <a:t>3</a:t>
            </a:r>
            <a:r>
              <a:rPr lang="en" sz="2000">
                <a:latin typeface="Hind"/>
                <a:ea typeface="Hind"/>
                <a:cs typeface="Hind"/>
                <a:sym typeface="Hind"/>
              </a:rPr>
              <a:t> times tells us a bit more</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a:t>
            </a:r>
            <a:endParaRPr sz="2000">
              <a:latin typeface="Hind"/>
              <a:ea typeface="Hind"/>
              <a:cs typeface="Hind"/>
              <a:sym typeface="Hind"/>
            </a:endParaRPr>
          </a:p>
          <a:p>
            <a:pPr indent="-355600" lvl="0" marL="457200" rtl="0" algn="l">
              <a:lnSpc>
                <a:spcPct val="115000"/>
              </a:lnSpc>
              <a:spcBef>
                <a:spcPts val="0"/>
              </a:spcBef>
              <a:spcAft>
                <a:spcPts val="0"/>
              </a:spcAft>
              <a:buSzPts val="2000"/>
              <a:buFont typeface="Hind"/>
              <a:buChar char="●"/>
            </a:pPr>
            <a:r>
              <a:rPr lang="en" sz="2000">
                <a:latin typeface="Hind"/>
                <a:ea typeface="Hind"/>
                <a:cs typeface="Hind"/>
                <a:sym typeface="Hind"/>
              </a:rPr>
              <a:t>Getting accuracy </a:t>
            </a:r>
            <a:r>
              <a:rPr b="1" lang="en" sz="2000">
                <a:latin typeface="Hind"/>
                <a:ea typeface="Hind"/>
                <a:cs typeface="Hind"/>
                <a:sym typeface="Hind"/>
              </a:rPr>
              <a:t>N</a:t>
            </a:r>
            <a:r>
              <a:rPr lang="en" sz="2000">
                <a:latin typeface="Hind"/>
                <a:ea typeface="Hind"/>
                <a:cs typeface="Hind"/>
                <a:sym typeface="Hind"/>
              </a:rPr>
              <a:t> times might be good enough!</a:t>
            </a:r>
            <a:endParaRPr sz="2000">
              <a:latin typeface="Hind"/>
              <a:ea typeface="Hind"/>
              <a:cs typeface="Hind"/>
              <a:sym typeface="Hind"/>
            </a:endParaRPr>
          </a:p>
          <a:p>
            <a:pPr indent="0" lvl="0" marL="0" rtl="0" algn="l">
              <a:lnSpc>
                <a:spcPct val="115000"/>
              </a:lnSpc>
              <a:spcBef>
                <a:spcPts val="0"/>
              </a:spcBef>
              <a:spcAft>
                <a:spcPts val="0"/>
              </a:spcAft>
              <a:buSzPts val="1800"/>
              <a:buNone/>
            </a:pPr>
            <a:r>
              <a:t/>
            </a:r>
            <a:endParaRPr sz="2000">
              <a:latin typeface="Hind"/>
              <a:ea typeface="Hind"/>
              <a:cs typeface="Hind"/>
              <a:sym typeface="Hind"/>
            </a:endParaRPr>
          </a:p>
          <a:p>
            <a:pPr indent="0" lvl="0" marL="0" rtl="0" algn="l">
              <a:lnSpc>
                <a:spcPct val="115000"/>
              </a:lnSpc>
              <a:spcBef>
                <a:spcPts val="0"/>
              </a:spcBef>
              <a:spcAft>
                <a:spcPts val="0"/>
              </a:spcAft>
              <a:buSzPts val="1800"/>
              <a:buNone/>
            </a:pPr>
            <a:r>
              <a:rPr lang="en" sz="2000">
                <a:latin typeface="Hind"/>
                <a:ea typeface="Hind"/>
                <a:cs typeface="Hind"/>
                <a:sym typeface="Hind"/>
              </a:rPr>
              <a:t>Take the average of those </a:t>
            </a:r>
            <a:r>
              <a:rPr b="1" lang="en" sz="2000">
                <a:latin typeface="Hind"/>
                <a:ea typeface="Hind"/>
                <a:cs typeface="Hind"/>
                <a:sym typeface="Hind"/>
              </a:rPr>
              <a:t>N</a:t>
            </a:r>
            <a:r>
              <a:rPr lang="en" sz="2000">
                <a:latin typeface="Hind"/>
                <a:ea typeface="Hind"/>
                <a:cs typeface="Hind"/>
                <a:sym typeface="Hind"/>
              </a:rPr>
              <a:t> times</a:t>
            </a:r>
            <a:endParaRPr sz="2000">
              <a:latin typeface="Hind"/>
              <a:ea typeface="Hind"/>
              <a:cs typeface="Hind"/>
              <a:sym typeface="Hi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t>Monte Carlo CV</a:t>
            </a:r>
            <a:endParaRPr b="0" i="0" sz="2400" u="none" cap="none" strike="noStrike">
              <a:latin typeface="Arial"/>
              <a:ea typeface="Arial"/>
              <a:cs typeface="Arial"/>
              <a:sym typeface="Arial"/>
            </a:endParaRPr>
          </a:p>
        </p:txBody>
      </p:sp>
      <p:sp>
        <p:nvSpPr>
          <p:cNvPr id="299" name="Google Shape;299;p37"/>
          <p:cNvSpPr txBox="1"/>
          <p:nvPr>
            <p:ph idx="1" type="body"/>
          </p:nvPr>
        </p:nvSpPr>
        <p:spPr>
          <a:xfrm>
            <a:off x="311700" y="1152475"/>
            <a:ext cx="8520600" cy="3635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2"/>
              </a:buClr>
              <a:buSzPts val="2000"/>
              <a:buFont typeface="Hind"/>
              <a:buChar char="●"/>
            </a:pPr>
            <a:r>
              <a:rPr lang="en" sz="2000">
                <a:latin typeface="Hind"/>
                <a:ea typeface="Hind"/>
                <a:cs typeface="Hind"/>
                <a:sym typeface="Hind"/>
              </a:rPr>
              <a:t>Need to use </a:t>
            </a:r>
            <a:r>
              <a:rPr b="1" lang="en" sz="2000">
                <a:latin typeface="Hind"/>
                <a:ea typeface="Hind"/>
                <a:cs typeface="Hind"/>
                <a:sym typeface="Hind"/>
              </a:rPr>
              <a:t>new</a:t>
            </a:r>
            <a:r>
              <a:rPr lang="en" sz="2000">
                <a:latin typeface="Hind"/>
                <a:ea typeface="Hind"/>
                <a:cs typeface="Hind"/>
                <a:sym typeface="Hind"/>
              </a:rPr>
              <a:t>, </a:t>
            </a:r>
            <a:r>
              <a:rPr b="1" lang="en" sz="2000">
                <a:latin typeface="Hind"/>
                <a:ea typeface="Hind"/>
                <a:cs typeface="Hind"/>
                <a:sym typeface="Hind"/>
              </a:rPr>
              <a:t>random </a:t>
            </a:r>
            <a:r>
              <a:rPr lang="en" sz="2000">
                <a:latin typeface="Hind"/>
                <a:ea typeface="Hind"/>
                <a:cs typeface="Hind"/>
                <a:sym typeface="Hind"/>
              </a:rPr>
              <a:t>train/test split each time</a:t>
            </a:r>
            <a:endParaRPr sz="2000">
              <a:latin typeface="Hind"/>
              <a:ea typeface="Hind"/>
              <a:cs typeface="Hind"/>
              <a:sym typeface="Hind"/>
            </a:endParaRPr>
          </a:p>
          <a:p>
            <a:pPr indent="-355600" lvl="1" marL="914400" marR="0" rtl="0" algn="l">
              <a:lnSpc>
                <a:spcPct val="115000"/>
              </a:lnSpc>
              <a:spcBef>
                <a:spcPts val="0"/>
              </a:spcBef>
              <a:spcAft>
                <a:spcPts val="0"/>
              </a:spcAft>
              <a:buSzPts val="2000"/>
              <a:buFont typeface="Hind"/>
              <a:buChar char="○"/>
            </a:pPr>
            <a:r>
              <a:rPr lang="en" sz="2000">
                <a:latin typeface="Hind"/>
                <a:ea typeface="Hind"/>
                <a:cs typeface="Hind"/>
                <a:sym typeface="Hind"/>
              </a:rPr>
              <a:t>If you use the same train/test split each time, you’re not getting any new information!</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Pros:</a:t>
            </a:r>
            <a:endParaRPr sz="2000">
              <a:latin typeface="Hind"/>
              <a:ea typeface="Hind"/>
              <a:cs typeface="Hind"/>
              <a:sym typeface="Hind"/>
            </a:endParaRPr>
          </a:p>
          <a:p>
            <a:pPr indent="-355600" lvl="1" marL="914400" marR="0" rtl="0" algn="l">
              <a:lnSpc>
                <a:spcPct val="115000"/>
              </a:lnSpc>
              <a:spcBef>
                <a:spcPts val="0"/>
              </a:spcBef>
              <a:spcAft>
                <a:spcPts val="0"/>
              </a:spcAft>
              <a:buSzPts val="2000"/>
              <a:buFont typeface="Hind"/>
              <a:buChar char="○"/>
            </a:pPr>
            <a:r>
              <a:rPr lang="en" sz="2000">
                <a:latin typeface="Hind"/>
                <a:ea typeface="Hind"/>
                <a:cs typeface="Hind"/>
                <a:sym typeface="Hind"/>
              </a:rPr>
              <a:t>easy to implement</a:t>
            </a:r>
            <a:endParaRPr sz="2000">
              <a:latin typeface="Hind"/>
              <a:ea typeface="Hind"/>
              <a:cs typeface="Hind"/>
              <a:sym typeface="Hind"/>
            </a:endParaRPr>
          </a:p>
          <a:p>
            <a:pPr indent="-355600" lvl="1" marL="914400" marR="0" rtl="0" algn="l">
              <a:lnSpc>
                <a:spcPct val="115000"/>
              </a:lnSpc>
              <a:spcBef>
                <a:spcPts val="0"/>
              </a:spcBef>
              <a:spcAft>
                <a:spcPts val="0"/>
              </a:spcAft>
              <a:buSzPts val="2000"/>
              <a:buFont typeface="Hind"/>
              <a:buChar char="○"/>
            </a:pPr>
            <a:r>
              <a:rPr lang="en" sz="2000">
                <a:latin typeface="Hind"/>
                <a:ea typeface="Hind"/>
                <a:cs typeface="Hind"/>
                <a:sym typeface="Hind"/>
              </a:rPr>
              <a:t>easy to make faster/slower by changing number of iterations</a:t>
            </a:r>
            <a:endParaRPr sz="2000">
              <a:latin typeface="Hind"/>
              <a:ea typeface="Hind"/>
              <a:cs typeface="Hind"/>
              <a:sym typeface="Hind"/>
            </a:endParaRPr>
          </a:p>
          <a:p>
            <a:pPr indent="-355600" lvl="0" marL="457200" marR="0" rtl="0" algn="l">
              <a:lnSpc>
                <a:spcPct val="115000"/>
              </a:lnSpc>
              <a:spcBef>
                <a:spcPts val="0"/>
              </a:spcBef>
              <a:spcAft>
                <a:spcPts val="0"/>
              </a:spcAft>
              <a:buSzPts val="2000"/>
              <a:buFont typeface="Hind"/>
              <a:buChar char="●"/>
            </a:pPr>
            <a:r>
              <a:rPr lang="en" sz="2000">
                <a:latin typeface="Hind"/>
                <a:ea typeface="Hind"/>
                <a:cs typeface="Hind"/>
                <a:sym typeface="Hind"/>
              </a:rPr>
              <a:t>Cons:</a:t>
            </a:r>
            <a:endParaRPr sz="2000">
              <a:latin typeface="Hind"/>
              <a:ea typeface="Hind"/>
              <a:cs typeface="Hind"/>
              <a:sym typeface="Hind"/>
            </a:endParaRPr>
          </a:p>
          <a:p>
            <a:pPr indent="-355600" lvl="1" marL="914400" marR="0" rtl="0" algn="l">
              <a:lnSpc>
                <a:spcPct val="115000"/>
              </a:lnSpc>
              <a:spcBef>
                <a:spcPts val="0"/>
              </a:spcBef>
              <a:spcAft>
                <a:spcPts val="0"/>
              </a:spcAft>
              <a:buSzPts val="2000"/>
              <a:buFont typeface="Hind"/>
              <a:buChar char="○"/>
            </a:pPr>
            <a:r>
              <a:rPr lang="en" sz="2000">
                <a:latin typeface="Hind"/>
                <a:ea typeface="Hind"/>
                <a:cs typeface="Hind"/>
                <a:sym typeface="Hind"/>
              </a:rPr>
              <a:t>random -&gt; train/test splits not guaranteed to be representative of dataset (might overlap, or miss some data)</a:t>
            </a:r>
            <a:endParaRPr sz="2000">
              <a:latin typeface="Hind"/>
              <a:ea typeface="Hind"/>
              <a:cs typeface="Hind"/>
              <a:sym typeface="Hind"/>
            </a:endParaRPr>
          </a:p>
          <a:p>
            <a:pPr indent="-355600" lvl="1" marL="914400" marR="0" rtl="0" algn="l">
              <a:lnSpc>
                <a:spcPct val="115000"/>
              </a:lnSpc>
              <a:spcBef>
                <a:spcPts val="0"/>
              </a:spcBef>
              <a:spcAft>
                <a:spcPts val="0"/>
              </a:spcAft>
              <a:buSzPts val="2000"/>
              <a:buFont typeface="Hind"/>
              <a:buChar char="○"/>
            </a:pPr>
            <a:r>
              <a:rPr lang="en" sz="2000">
                <a:latin typeface="Hind"/>
                <a:ea typeface="Hind"/>
                <a:cs typeface="Hind"/>
                <a:sym typeface="Hind"/>
              </a:rPr>
              <a:t>harder to calculate how many iterations you need</a:t>
            </a:r>
            <a:endParaRPr sz="2000">
              <a:latin typeface="Hind"/>
              <a:ea typeface="Hind"/>
              <a:cs typeface="Hind"/>
              <a:sym typeface="Hi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ph type="title"/>
          </p:nvPr>
        </p:nvSpPr>
        <p:spPr>
          <a:xfrm>
            <a:off x="311700" y="3043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t>The Bootstrap</a:t>
            </a:r>
            <a:endParaRPr/>
          </a:p>
        </p:txBody>
      </p:sp>
      <p:sp>
        <p:nvSpPr>
          <p:cNvPr id="305" name="Google Shape;305;p38"/>
          <p:cNvSpPr txBox="1"/>
          <p:nvPr>
            <p:ph idx="1" type="body"/>
          </p:nvPr>
        </p:nvSpPr>
        <p:spPr>
          <a:xfrm>
            <a:off x="377000" y="1141875"/>
            <a:ext cx="8082000" cy="358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SzPts val="1800"/>
              <a:buNone/>
            </a:pPr>
            <a:r>
              <a:rPr b="1" lang="en" sz="2000">
                <a:solidFill>
                  <a:schemeClr val="dk1"/>
                </a:solidFill>
                <a:latin typeface="Hind"/>
                <a:ea typeface="Hind"/>
                <a:cs typeface="Hind"/>
                <a:sym typeface="Hind"/>
              </a:rPr>
              <a:t>What if we don’t have enough data?</a:t>
            </a:r>
            <a:endParaRPr b="1" sz="2000">
              <a:solidFill>
                <a:schemeClr val="dk1"/>
              </a:solidFill>
              <a:latin typeface="Hind"/>
              <a:ea typeface="Hind"/>
              <a:cs typeface="Hind"/>
              <a:sym typeface="Hind"/>
            </a:endParaRPr>
          </a:p>
          <a:p>
            <a:pPr indent="-355600" lvl="0" marL="457200" rtl="0" algn="l">
              <a:lnSpc>
                <a:spcPct val="115000"/>
              </a:lnSpc>
              <a:spcBef>
                <a:spcPts val="1800"/>
              </a:spcBef>
              <a:spcAft>
                <a:spcPts val="0"/>
              </a:spcAft>
              <a:buClr>
                <a:schemeClr val="dk1"/>
              </a:buClr>
              <a:buSzPts val="2000"/>
              <a:buChar char="●"/>
            </a:pPr>
            <a:r>
              <a:rPr lang="en" sz="2000">
                <a:solidFill>
                  <a:schemeClr val="dk1"/>
                </a:solidFill>
                <a:latin typeface="Hind"/>
                <a:ea typeface="Hind"/>
                <a:cs typeface="Hind"/>
                <a:sym typeface="Hind"/>
              </a:rPr>
              <a:t>Use </a:t>
            </a:r>
            <a:r>
              <a:rPr b="1" lang="en" sz="2000">
                <a:solidFill>
                  <a:schemeClr val="dk1"/>
                </a:solidFill>
                <a:latin typeface="Hind"/>
                <a:ea typeface="Hind"/>
                <a:cs typeface="Hind"/>
                <a:sym typeface="Hind"/>
              </a:rPr>
              <a:t>bootstrap datasets</a:t>
            </a:r>
            <a:r>
              <a:rPr lang="en" sz="2000">
                <a:solidFill>
                  <a:schemeClr val="dk1"/>
                </a:solidFill>
                <a:latin typeface="Hind"/>
                <a:ea typeface="Hind"/>
                <a:cs typeface="Hind"/>
                <a:sym typeface="Hind"/>
              </a:rPr>
              <a:t> to approximate the test error</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Char char="●"/>
            </a:pPr>
            <a:r>
              <a:rPr b="1" lang="en" sz="2000">
                <a:solidFill>
                  <a:schemeClr val="dk1"/>
                </a:solidFill>
                <a:latin typeface="Hind"/>
                <a:ea typeface="Hind"/>
                <a:cs typeface="Hind"/>
                <a:sym typeface="Hind"/>
              </a:rPr>
              <a:t>Sample with replacement</a:t>
            </a:r>
            <a:r>
              <a:rPr lang="en" sz="2000">
                <a:solidFill>
                  <a:schemeClr val="dk1"/>
                </a:solidFill>
                <a:latin typeface="Hind"/>
                <a:ea typeface="Hind"/>
                <a:cs typeface="Hind"/>
                <a:sym typeface="Hind"/>
              </a:rPr>
              <a:t> from the original training dataset (with n samples) to generate </a:t>
            </a:r>
            <a:r>
              <a:rPr b="1" lang="en" sz="2000">
                <a:solidFill>
                  <a:schemeClr val="dk1"/>
                </a:solidFill>
                <a:latin typeface="Hind"/>
                <a:ea typeface="Hind"/>
                <a:cs typeface="Hind"/>
                <a:sym typeface="Hind"/>
              </a:rPr>
              <a:t>bootstrap datasets</a:t>
            </a:r>
            <a:r>
              <a:rPr lang="en" sz="2000">
                <a:solidFill>
                  <a:schemeClr val="dk1"/>
                </a:solidFill>
                <a:latin typeface="Hind"/>
                <a:ea typeface="Hind"/>
                <a:cs typeface="Hind"/>
                <a:sym typeface="Hind"/>
              </a:rPr>
              <a:t> of size n</a:t>
            </a:r>
            <a:endParaRPr sz="2000">
              <a:solidFill>
                <a:schemeClr val="dk1"/>
              </a:solidFill>
              <a:latin typeface="Hind"/>
              <a:ea typeface="Hind"/>
              <a:cs typeface="Hind"/>
              <a:sym typeface="Hind"/>
            </a:endParaRPr>
          </a:p>
          <a:p>
            <a:pPr indent="-355600" lvl="1" marL="9144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Some data points may appear more than once in the generated data</a:t>
            </a:r>
            <a:endParaRPr sz="2000">
              <a:solidFill>
                <a:schemeClr val="dk1"/>
              </a:solidFill>
              <a:latin typeface="Hind"/>
              <a:ea typeface="Hind"/>
              <a:cs typeface="Hind"/>
              <a:sym typeface="Hind"/>
            </a:endParaRPr>
          </a:p>
          <a:p>
            <a:pPr indent="-355600" lvl="1" marL="9144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Some data points may not appear</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Estimate of test error = average error among bootstrap datasets </a:t>
            </a:r>
            <a:endParaRPr sz="2000">
              <a:latin typeface="Hind"/>
              <a:ea typeface="Hind"/>
              <a:cs typeface="Hind"/>
              <a:sym typeface="Hi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lang="en" sz="4800"/>
              <a:t>Demo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t>Pipeline of the Bootstrap</a:t>
            </a:r>
            <a:endParaRPr/>
          </a:p>
          <a:p>
            <a:pPr indent="0" lvl="0" marL="0" rtl="0" algn="l">
              <a:lnSpc>
                <a:spcPct val="100000"/>
              </a:lnSpc>
              <a:spcBef>
                <a:spcPts val="0"/>
              </a:spcBef>
              <a:spcAft>
                <a:spcPts val="0"/>
              </a:spcAft>
              <a:buSzPts val="2800"/>
              <a:buNone/>
            </a:pPr>
            <a:r>
              <a:t/>
            </a:r>
            <a:endParaRPr/>
          </a:p>
        </p:txBody>
      </p:sp>
      <p:pic>
        <p:nvPicPr>
          <p:cNvPr id="316" name="Google Shape;316;p40"/>
          <p:cNvPicPr preferRelativeResize="0"/>
          <p:nvPr/>
        </p:nvPicPr>
        <p:blipFill rotWithShape="1">
          <a:blip r:embed="rId3">
            <a:alphaModFix/>
          </a:blip>
          <a:srcRect b="9412" l="-2103" r="7307" t="0"/>
          <a:stretch/>
        </p:blipFill>
        <p:spPr>
          <a:xfrm>
            <a:off x="282150" y="968625"/>
            <a:ext cx="8051649" cy="2556650"/>
          </a:xfrm>
          <a:prstGeom prst="rect">
            <a:avLst/>
          </a:prstGeom>
          <a:noFill/>
          <a:ln>
            <a:noFill/>
          </a:ln>
        </p:spPr>
      </p:pic>
      <p:sp>
        <p:nvSpPr>
          <p:cNvPr id="317" name="Google Shape;317;p40"/>
          <p:cNvSpPr txBox="1"/>
          <p:nvPr>
            <p:ph idx="1" type="body"/>
          </p:nvPr>
        </p:nvSpPr>
        <p:spPr>
          <a:xfrm>
            <a:off x="380325" y="3677200"/>
            <a:ext cx="8520600" cy="873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Char char="❖"/>
            </a:pPr>
            <a:r>
              <a:rPr lang="en" sz="1600">
                <a:solidFill>
                  <a:schemeClr val="dk1"/>
                </a:solidFill>
              </a:rPr>
              <a:t>Does this give very good estimate of the prediction error?</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If </a:t>
            </a:r>
            <a:r>
              <a:rPr b="1" lang="en" sz="1600">
                <a:solidFill>
                  <a:schemeClr val="dk1"/>
                </a:solidFill>
              </a:rPr>
              <a:t>no,</a:t>
            </a:r>
            <a:r>
              <a:rPr lang="en" sz="1600">
                <a:solidFill>
                  <a:schemeClr val="dk1"/>
                </a:solidFill>
              </a:rPr>
              <a:t> why not? Does it </a:t>
            </a:r>
            <a:r>
              <a:rPr b="1" lang="en" sz="1600">
                <a:solidFill>
                  <a:schemeClr val="dk1"/>
                </a:solidFill>
              </a:rPr>
              <a:t>underestimate</a:t>
            </a:r>
            <a:r>
              <a:rPr lang="en" sz="1600">
                <a:solidFill>
                  <a:schemeClr val="dk1"/>
                </a:solidFill>
              </a:rPr>
              <a:t> or </a:t>
            </a:r>
            <a:r>
              <a:rPr b="1" lang="en" sz="1600">
                <a:solidFill>
                  <a:schemeClr val="dk1"/>
                </a:solidFill>
              </a:rPr>
              <a:t>overestimate</a:t>
            </a:r>
            <a:r>
              <a:rPr lang="en" sz="1600">
                <a:solidFill>
                  <a:schemeClr val="dk1"/>
                </a:solidFill>
              </a:rPr>
              <a:t> the prediction error?</a:t>
            </a:r>
            <a:endParaRPr sz="16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t>Pipeline of the Bootstrap</a:t>
            </a:r>
            <a:endParaRPr/>
          </a:p>
        </p:txBody>
      </p:sp>
      <p:sp>
        <p:nvSpPr>
          <p:cNvPr id="323" name="Google Shape;323;p41"/>
          <p:cNvSpPr txBox="1"/>
          <p:nvPr>
            <p:ph idx="1" type="body"/>
          </p:nvPr>
        </p:nvSpPr>
        <p:spPr>
          <a:xfrm>
            <a:off x="311700" y="14056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700">
                <a:solidFill>
                  <a:srgbClr val="000000"/>
                </a:solidFill>
              </a:rPr>
              <a:t>No.</a:t>
            </a:r>
            <a:endParaRPr b="1" sz="1700">
              <a:solidFill>
                <a:srgbClr val="000000"/>
              </a:solidFill>
            </a:endParaRPr>
          </a:p>
          <a:p>
            <a:pPr indent="0" lvl="0" marL="0" rtl="0" algn="l">
              <a:lnSpc>
                <a:spcPct val="115000"/>
              </a:lnSpc>
              <a:spcBef>
                <a:spcPts val="0"/>
              </a:spcBef>
              <a:spcAft>
                <a:spcPts val="0"/>
              </a:spcAft>
              <a:buSzPts val="1800"/>
              <a:buNone/>
            </a:pPr>
            <a:r>
              <a:t/>
            </a:r>
            <a:endParaRPr sz="1700">
              <a:solidFill>
                <a:srgbClr val="000000"/>
              </a:solidFill>
            </a:endParaRPr>
          </a:p>
          <a:p>
            <a:pPr indent="0" lvl="0" marL="0" rtl="0" algn="l">
              <a:lnSpc>
                <a:spcPct val="115000"/>
              </a:lnSpc>
              <a:spcBef>
                <a:spcPts val="0"/>
              </a:spcBef>
              <a:spcAft>
                <a:spcPts val="0"/>
              </a:spcAft>
              <a:buSzPts val="1800"/>
              <a:buNone/>
            </a:pPr>
            <a:r>
              <a:rPr lang="en" sz="1700">
                <a:solidFill>
                  <a:srgbClr val="000000"/>
                </a:solidFill>
              </a:rPr>
              <a:t>Since the bootstrap is sampling with replacement for B validation folds, each fold would have significant overlap with the original data used for training. Approximately, </a:t>
            </a:r>
            <a:r>
              <a:rPr b="1" lang="en" sz="1700">
                <a:solidFill>
                  <a:srgbClr val="000000"/>
                </a:solidFill>
              </a:rPr>
              <a:t>2/3</a:t>
            </a:r>
            <a:r>
              <a:rPr lang="en" sz="1700">
                <a:solidFill>
                  <a:srgbClr val="000000"/>
                </a:solidFill>
              </a:rPr>
              <a:t> of the training data would appear in each validation fold.</a:t>
            </a:r>
            <a:endParaRPr sz="1700">
              <a:solidFill>
                <a:srgbClr val="000000"/>
              </a:solidFill>
            </a:endParaRPr>
          </a:p>
          <a:p>
            <a:pPr indent="0" lvl="0" marL="0" rtl="0" algn="l">
              <a:lnSpc>
                <a:spcPct val="115000"/>
              </a:lnSpc>
              <a:spcBef>
                <a:spcPts val="0"/>
              </a:spcBef>
              <a:spcAft>
                <a:spcPts val="0"/>
              </a:spcAft>
              <a:buSzPts val="1800"/>
              <a:buNone/>
            </a:pPr>
            <a:r>
              <a:t/>
            </a:r>
            <a:endParaRPr sz="1700">
              <a:solidFill>
                <a:srgbClr val="000000"/>
              </a:solidFill>
            </a:endParaRPr>
          </a:p>
          <a:p>
            <a:pPr indent="0" lvl="0" marL="0" rtl="0" algn="l">
              <a:lnSpc>
                <a:spcPct val="115000"/>
              </a:lnSpc>
              <a:spcBef>
                <a:spcPts val="0"/>
              </a:spcBef>
              <a:spcAft>
                <a:spcPts val="0"/>
              </a:spcAft>
              <a:buSzPts val="1800"/>
              <a:buNone/>
            </a:pPr>
            <a:r>
              <a:rPr lang="en" sz="1700">
                <a:solidFill>
                  <a:srgbClr val="000000"/>
                </a:solidFill>
              </a:rPr>
              <a:t>This leads to significant </a:t>
            </a:r>
            <a:r>
              <a:rPr b="1" lang="en" sz="1700">
                <a:solidFill>
                  <a:srgbClr val="000000"/>
                </a:solidFill>
              </a:rPr>
              <a:t>underestimation</a:t>
            </a:r>
            <a:r>
              <a:rPr lang="en" sz="1700">
                <a:solidFill>
                  <a:srgbClr val="000000"/>
                </a:solidFill>
              </a:rPr>
              <a:t> of the prediction error.</a:t>
            </a:r>
            <a:endParaRPr sz="1700">
              <a:solidFill>
                <a:srgbClr val="000000"/>
              </a:solidFill>
            </a:endParaRPr>
          </a:p>
          <a:p>
            <a:pPr indent="0" lvl="0" marL="0" rtl="0" algn="l">
              <a:lnSpc>
                <a:spcPct val="115000"/>
              </a:lnSpc>
              <a:spcBef>
                <a:spcPts val="0"/>
              </a:spcBef>
              <a:spcAft>
                <a:spcPts val="0"/>
              </a:spcAft>
              <a:buSzPts val="1800"/>
              <a:buNone/>
            </a:pPr>
            <a:r>
              <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Why </a:t>
            </a:r>
            <a:r>
              <a:rPr b="1" lang="en" sz="1700">
                <a:solidFill>
                  <a:srgbClr val="000000"/>
                </a:solidFill>
              </a:rPr>
              <a:t>2/3</a:t>
            </a:r>
            <a:r>
              <a:rPr lang="en" sz="1700">
                <a:solidFill>
                  <a:srgbClr val="000000"/>
                </a:solidFill>
              </a:rPr>
              <a:t>?</a:t>
            </a:r>
            <a:endParaRPr sz="1700">
              <a:solidFill>
                <a:srgbClr val="000000"/>
              </a:solidFill>
            </a:endParaRPr>
          </a:p>
          <a:p>
            <a:pPr indent="0" lvl="0" marL="0" rtl="0" algn="l">
              <a:lnSpc>
                <a:spcPct val="115000"/>
              </a:lnSpc>
              <a:spcBef>
                <a:spcPts val="0"/>
              </a:spcBef>
              <a:spcAft>
                <a:spcPts val="0"/>
              </a:spcAft>
              <a:buSzPts val="1800"/>
              <a:buNone/>
            </a:pPr>
            <a:r>
              <a:t/>
            </a:r>
            <a:endParaRPr sz="1700">
              <a:solidFill>
                <a:srgbClr val="000000"/>
              </a:solidFill>
            </a:endParaRPr>
          </a:p>
          <a:p>
            <a:pPr indent="0" lvl="0" marL="0" rtl="0" algn="l">
              <a:lnSpc>
                <a:spcPct val="115000"/>
              </a:lnSpc>
              <a:spcBef>
                <a:spcPts val="0"/>
              </a:spcBef>
              <a:spcAft>
                <a:spcPts val="0"/>
              </a:spcAft>
              <a:buSzPts val="1800"/>
              <a:buNone/>
            </a:pPr>
            <a:r>
              <a:t/>
            </a:r>
            <a:endParaRPr sz="1700">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7" name="Shape 327"/>
        <p:cNvGrpSpPr/>
        <p:nvPr/>
      </p:nvGrpSpPr>
      <p:grpSpPr>
        <a:xfrm>
          <a:off x="0" y="0"/>
          <a:ext cx="0" cy="0"/>
          <a:chOff x="0" y="0"/>
          <a:chExt cx="0" cy="0"/>
        </a:xfrm>
      </p:grpSpPr>
      <p:sp>
        <p:nvSpPr>
          <p:cNvPr id="328" name="Google Shape;328;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t>Proof</a:t>
            </a:r>
            <a:endParaRPr/>
          </a:p>
        </p:txBody>
      </p:sp>
      <p:sp>
        <p:nvSpPr>
          <p:cNvPr id="329" name="Google Shape;329;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solidFill>
                  <a:schemeClr val="dk1"/>
                </a:solidFill>
              </a:rPr>
              <a:t>Suppose there are n samples </a:t>
            </a:r>
            <a:r>
              <a:rPr i="1" lang="en" sz="1600">
                <a:solidFill>
                  <a:schemeClr val="dk1"/>
                </a:solidFill>
              </a:rPr>
              <a:t>(yi, xi)</a:t>
            </a:r>
            <a:r>
              <a:rPr lang="en" sz="1600">
                <a:solidFill>
                  <a:schemeClr val="dk1"/>
                </a:solidFill>
              </a:rPr>
              <a:t> in the training set data, then for each of the bootstrap validation fold b, every sample has probability </a:t>
            </a:r>
            <a:r>
              <a:rPr b="1" lang="en" sz="1600">
                <a:solidFill>
                  <a:schemeClr val="dk1"/>
                </a:solidFill>
              </a:rPr>
              <a:t>1/n</a:t>
            </a:r>
            <a:r>
              <a:rPr lang="en" sz="1600">
                <a:solidFill>
                  <a:schemeClr val="dk1"/>
                </a:solidFill>
              </a:rPr>
              <a:t> of being selected into b. The probability of each data sample </a:t>
            </a:r>
            <a:r>
              <a:rPr i="1" lang="en" sz="1600">
                <a:solidFill>
                  <a:schemeClr val="dk1"/>
                </a:solidFill>
              </a:rPr>
              <a:t>(yi, xi)</a:t>
            </a:r>
            <a:r>
              <a:rPr lang="en" sz="1600">
                <a:solidFill>
                  <a:schemeClr val="dk1"/>
                </a:solidFill>
              </a:rPr>
              <a:t> not being in fold b is </a:t>
            </a:r>
            <a:r>
              <a:rPr b="1" lang="en" sz="1600">
                <a:solidFill>
                  <a:schemeClr val="dk1"/>
                </a:solidFill>
              </a:rPr>
              <a:t>(1 - 1/n)</a:t>
            </a:r>
            <a:r>
              <a:rPr lang="en" sz="1600">
                <a:solidFill>
                  <a:schemeClr val="dk1"/>
                </a:solidFill>
              </a:rPr>
              <a:t>, respectively.</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0"/>
              </a:spcBef>
              <a:spcAft>
                <a:spcPts val="0"/>
              </a:spcAft>
              <a:buSzPts val="1800"/>
              <a:buNone/>
            </a:pPr>
            <a:r>
              <a:rPr lang="en" sz="1600">
                <a:solidFill>
                  <a:schemeClr val="dk1"/>
                </a:solidFill>
              </a:rPr>
              <a:t>Probability of </a:t>
            </a:r>
            <a:r>
              <a:rPr b="1" lang="en" sz="1600">
                <a:solidFill>
                  <a:schemeClr val="dk1"/>
                </a:solidFill>
              </a:rPr>
              <a:t>avoid selecting</a:t>
            </a:r>
            <a:r>
              <a:rPr lang="en" sz="1600">
                <a:solidFill>
                  <a:schemeClr val="dk1"/>
                </a:solidFill>
              </a:rPr>
              <a:t> all n data points in fold b: </a:t>
            </a:r>
            <a:r>
              <a:rPr b="1" lang="en" sz="1600">
                <a:solidFill>
                  <a:schemeClr val="dk1"/>
                </a:solidFill>
              </a:rPr>
              <a:t>(1 - 1/n)^n</a:t>
            </a:r>
            <a:r>
              <a:rPr lang="en" sz="1600">
                <a:solidFill>
                  <a:schemeClr val="dk1"/>
                </a:solidFill>
              </a:rPr>
              <a:t>.</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0"/>
              </a:spcBef>
              <a:spcAft>
                <a:spcPts val="0"/>
              </a:spcAft>
              <a:buSzPts val="1800"/>
              <a:buNone/>
            </a:pPr>
            <a:r>
              <a:rPr lang="en" sz="1600">
                <a:solidFill>
                  <a:schemeClr val="dk1"/>
                </a:solidFill>
              </a:rPr>
              <a:t>When n gets large, we have this probability converges to 1/e.</a:t>
            </a:r>
            <a:endParaRPr sz="1600">
              <a:solidFill>
                <a:schemeClr val="dk1"/>
              </a:solidFill>
            </a:endParaRPr>
          </a:p>
          <a:p>
            <a:pPr indent="0" lvl="0" marL="0" rtl="0" algn="l">
              <a:lnSpc>
                <a:spcPct val="115000"/>
              </a:lnSpc>
              <a:spcBef>
                <a:spcPts val="0"/>
              </a:spcBef>
              <a:spcAft>
                <a:spcPts val="0"/>
              </a:spcAft>
              <a:buSzPts val="1800"/>
              <a:buNone/>
            </a:pPr>
            <a:r>
              <a:rPr lang="en" sz="1400">
                <a:solidFill>
                  <a:schemeClr val="dk1"/>
                </a:solidFill>
              </a:rPr>
              <a:t>(Why this converges? Probably should review Calc I, or see: </a:t>
            </a:r>
            <a:r>
              <a:rPr lang="en" sz="1400" u="sng">
                <a:solidFill>
                  <a:schemeClr val="hlink"/>
                </a:solidFill>
                <a:hlinkClick r:id="rId3"/>
              </a:rPr>
              <a:t>https://math.stackexchange.com/questions/882741/limit-of-1-x-nn-when-n-tends-to-infinity</a:t>
            </a:r>
            <a:r>
              <a:rPr lang="en" sz="1400">
                <a:solidFill>
                  <a:schemeClr val="dk1"/>
                </a:solidFill>
              </a:rPr>
              <a:t>.)</a:t>
            </a:r>
            <a:endParaRPr sz="14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0"/>
              </a:spcBef>
              <a:spcAft>
                <a:spcPts val="0"/>
              </a:spcAft>
              <a:buSzPts val="1800"/>
              <a:buNone/>
            </a:pPr>
            <a:r>
              <a:rPr lang="en" sz="1600">
                <a:solidFill>
                  <a:schemeClr val="dk1"/>
                </a:solidFill>
              </a:rPr>
              <a:t>Therefore, the fraction of overlapping data points in each fold is </a:t>
            </a:r>
            <a:r>
              <a:rPr b="1" lang="en" sz="1600">
                <a:solidFill>
                  <a:schemeClr val="dk1"/>
                </a:solidFill>
              </a:rPr>
              <a:t>(1-1/e)</a:t>
            </a:r>
            <a:r>
              <a:rPr lang="en" sz="1600">
                <a:solidFill>
                  <a:schemeClr val="dk1"/>
                </a:solidFill>
              </a:rPr>
              <a:t>, which is about </a:t>
            </a:r>
            <a:r>
              <a:rPr b="1" lang="en" sz="1600">
                <a:solidFill>
                  <a:schemeClr val="dk1"/>
                </a:solidFill>
              </a:rPr>
              <a:t>2/3</a:t>
            </a:r>
            <a:r>
              <a:rPr lang="en" sz="1600">
                <a:solidFill>
                  <a:schemeClr val="dk1"/>
                </a:solidFill>
              </a:rPr>
              <a:t>.</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sp>
        <p:nvSpPr>
          <p:cNvPr id="334" name="Google Shape;334;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t>How we fix the problem</a:t>
            </a:r>
            <a:endParaRPr/>
          </a:p>
        </p:txBody>
      </p:sp>
      <p:sp>
        <p:nvSpPr>
          <p:cNvPr id="335" name="Google Shape;335;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Requires some thoughts when generating validation set, especially for real-world complex data.</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Can partly fix this problem by only using predictions for those observations that did not (by chance) occur in the current bootstrap sample.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But the method gets complicated.</a:t>
            </a:r>
            <a:endParaRPr sz="16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9" name="Shape 339"/>
        <p:cNvGrpSpPr/>
        <p:nvPr/>
      </p:nvGrpSpPr>
      <p:grpSpPr>
        <a:xfrm>
          <a:off x="0" y="0"/>
          <a:ext cx="0" cy="0"/>
          <a:chOff x="0" y="0"/>
          <a:chExt cx="0" cy="0"/>
        </a:xfrm>
      </p:grpSpPr>
      <p:sp>
        <p:nvSpPr>
          <p:cNvPr id="340" name="Google Shape;340;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t>Bootstrap vs. k-fold</a:t>
            </a:r>
            <a:endParaRPr/>
          </a:p>
        </p:txBody>
      </p:sp>
      <p:sp>
        <p:nvSpPr>
          <p:cNvPr id="341" name="Google Shape;341;p44"/>
          <p:cNvSpPr txBox="1"/>
          <p:nvPr/>
        </p:nvSpPr>
        <p:spPr>
          <a:xfrm>
            <a:off x="421350" y="1147850"/>
            <a:ext cx="77226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In K-fold validation, each of the K folds is distinct from the other (K − 1) folds used for training: there is </a:t>
            </a:r>
            <a:r>
              <a:rPr b="1" i="0" lang="en" sz="1800" u="none" cap="none" strike="noStrike">
                <a:solidFill>
                  <a:srgbClr val="000000"/>
                </a:solidFill>
                <a:latin typeface="Arial"/>
                <a:ea typeface="Arial"/>
                <a:cs typeface="Arial"/>
                <a:sym typeface="Arial"/>
              </a:rPr>
              <a:t>no overlap</a:t>
            </a:r>
            <a:r>
              <a:rPr b="0" i="0" lang="en"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This is crucial for its success in estimating prediction error.</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t>Why do we still use Bootstrap?</a:t>
            </a:r>
            <a:endParaRPr/>
          </a:p>
        </p:txBody>
      </p:sp>
      <p:sp>
        <p:nvSpPr>
          <p:cNvPr id="347" name="Google Shape;34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Bootstrap allows us to use a computer to mimic the process of obtaining new data sets.</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Can be used to quantify the uncertainty associated with a given estimator or statistical learning method. </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Provides an estimate of the standard error of a coefficient, or a confidence interval for that coefficient.</a:t>
            </a:r>
            <a:endParaRPr sz="2000">
              <a:solidFill>
                <a:schemeClr val="dk1"/>
              </a:solidFill>
              <a:latin typeface="Hind"/>
              <a:ea typeface="Hind"/>
              <a:cs typeface="Hind"/>
              <a:sym typeface="Hind"/>
            </a:endParaRPr>
          </a:p>
          <a:p>
            <a:pPr indent="-355600" lvl="1" marL="9144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i.e. the variability of the model!</a:t>
            </a:r>
            <a:endParaRPr sz="2000">
              <a:solidFill>
                <a:schemeClr val="dk1"/>
              </a:solidFill>
              <a:latin typeface="Hind"/>
              <a:ea typeface="Hind"/>
              <a:cs typeface="Hind"/>
              <a:sym typeface="Hind"/>
            </a:endParaRPr>
          </a:p>
          <a:p>
            <a:pPr indent="0" lvl="0" marL="0" rtl="0" algn="l">
              <a:lnSpc>
                <a:spcPct val="115000"/>
              </a:lnSpc>
              <a:spcBef>
                <a:spcPts val="0"/>
              </a:spcBef>
              <a:spcAft>
                <a:spcPts val="0"/>
              </a:spcAft>
              <a:buSzPts val="1800"/>
              <a:buNone/>
            </a:pPr>
            <a:r>
              <a:t/>
            </a:r>
            <a:endParaRPr sz="2000">
              <a:latin typeface="Hind"/>
              <a:ea typeface="Hind"/>
              <a:cs typeface="Hind"/>
              <a:sym typeface="Hi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t>Bagging (Bootstrap Aggregating)</a:t>
            </a:r>
            <a:endParaRPr/>
          </a:p>
        </p:txBody>
      </p:sp>
      <p:sp>
        <p:nvSpPr>
          <p:cNvPr id="353" name="Google Shape;353;p46"/>
          <p:cNvSpPr txBox="1"/>
          <p:nvPr>
            <p:ph idx="1" type="body"/>
          </p:nvPr>
        </p:nvSpPr>
        <p:spPr>
          <a:xfrm>
            <a:off x="377000" y="1117675"/>
            <a:ext cx="8082000" cy="361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SzPts val="1800"/>
              <a:buNone/>
            </a:pPr>
            <a:r>
              <a:rPr b="1" lang="en" sz="2000">
                <a:solidFill>
                  <a:schemeClr val="dk1"/>
                </a:solidFill>
                <a:latin typeface="Hind"/>
                <a:ea typeface="Hind"/>
                <a:cs typeface="Hind"/>
                <a:sym typeface="Hind"/>
              </a:rPr>
              <a:t>What if we don’t have enough data?</a:t>
            </a:r>
            <a:endParaRPr b="1"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Bagging is a common technique that builds on Bootstrapping</a:t>
            </a:r>
            <a:endParaRPr sz="2000">
              <a:solidFill>
                <a:schemeClr val="dk1"/>
              </a:solidFill>
              <a:latin typeface="Hind"/>
              <a:ea typeface="Hind"/>
              <a:cs typeface="Hind"/>
              <a:sym typeface="Hind"/>
            </a:endParaRPr>
          </a:p>
          <a:p>
            <a:pPr indent="0" lvl="0" marL="0" rtl="0" algn="l">
              <a:lnSpc>
                <a:spcPct val="115000"/>
              </a:lnSpc>
              <a:spcBef>
                <a:spcPts val="0"/>
              </a:spcBef>
              <a:spcAft>
                <a:spcPts val="0"/>
              </a:spcAft>
              <a:buSzPts val="1800"/>
              <a:buNone/>
            </a:pPr>
            <a:r>
              <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Main Idea: Do Bootstrapping a bunch and make a classifier for each bootstrap, then choose majority prediction.</a:t>
            </a:r>
            <a:endParaRPr sz="2000">
              <a:solidFill>
                <a:schemeClr val="dk1"/>
              </a:solidFill>
              <a:latin typeface="Hind"/>
              <a:ea typeface="Hind"/>
              <a:cs typeface="Hind"/>
              <a:sym typeface="Hind"/>
            </a:endParaRPr>
          </a:p>
          <a:p>
            <a:pPr indent="0" lvl="0" marL="0" rtl="0" algn="l">
              <a:lnSpc>
                <a:spcPct val="115000"/>
              </a:lnSpc>
              <a:spcBef>
                <a:spcPts val="0"/>
              </a:spcBef>
              <a:spcAft>
                <a:spcPts val="0"/>
              </a:spcAft>
              <a:buSzPts val="1800"/>
              <a:buNone/>
            </a:pPr>
            <a:r>
              <a:t/>
            </a:r>
            <a:endParaRPr sz="2000">
              <a:solidFill>
                <a:schemeClr val="dk1"/>
              </a:solidFill>
              <a:latin typeface="Hind"/>
              <a:ea typeface="Hind"/>
              <a:cs typeface="Hind"/>
              <a:sym typeface="Hind"/>
            </a:endParaRPr>
          </a:p>
          <a:p>
            <a:pPr indent="-355600" lvl="0" marL="4572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Many weak learners aggregated typically outperform a single learner over the entire set, and overfits less.</a:t>
            </a:r>
            <a:endParaRPr sz="2000">
              <a:solidFill>
                <a:schemeClr val="dk1"/>
              </a:solidFill>
              <a:latin typeface="Hind"/>
              <a:ea typeface="Hind"/>
              <a:cs typeface="Hind"/>
              <a:sym typeface="Hind"/>
            </a:endParaRPr>
          </a:p>
          <a:p>
            <a:pPr indent="-355600" lvl="1" marL="914400" rtl="0" algn="l">
              <a:lnSpc>
                <a:spcPct val="115000"/>
              </a:lnSpc>
              <a:spcBef>
                <a:spcPts val="0"/>
              </a:spcBef>
              <a:spcAft>
                <a:spcPts val="0"/>
              </a:spcAft>
              <a:buClr>
                <a:schemeClr val="dk1"/>
              </a:buClr>
              <a:buSzPts val="2000"/>
              <a:buFont typeface="Hind"/>
              <a:buChar char="○"/>
            </a:pPr>
            <a:r>
              <a:rPr lang="en" sz="2000">
                <a:solidFill>
                  <a:schemeClr val="dk1"/>
                </a:solidFill>
                <a:latin typeface="Hind"/>
                <a:ea typeface="Hind"/>
                <a:cs typeface="Hind"/>
                <a:sym typeface="Hind"/>
              </a:rPr>
              <a:t>Principle behind Random Forests (“forest” of decision trees)</a:t>
            </a:r>
            <a:endParaRPr sz="2000">
              <a:solidFill>
                <a:schemeClr val="dk1"/>
              </a:solidFill>
              <a:latin typeface="Hind"/>
              <a:ea typeface="Hind"/>
              <a:cs typeface="Hind"/>
              <a:sym typeface="Hind"/>
            </a:endParaRPr>
          </a:p>
          <a:p>
            <a:pPr indent="0" lvl="0" marL="0" rtl="0" algn="l">
              <a:lnSpc>
                <a:spcPct val="150000"/>
              </a:lnSpc>
              <a:spcBef>
                <a:spcPts val="0"/>
              </a:spcBef>
              <a:spcAft>
                <a:spcPts val="0"/>
              </a:spcAft>
              <a:buSzPts val="1800"/>
              <a:buNone/>
            </a:pPr>
            <a:r>
              <a:t/>
            </a:r>
            <a:endParaRPr sz="16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7"/>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613CB0"/>
                </a:solidFill>
                <a:latin typeface="Hind"/>
                <a:ea typeface="Hind"/>
                <a:cs typeface="Hind"/>
                <a:sym typeface="Hind"/>
              </a:rPr>
              <a:t>Coming Up</a:t>
            </a:r>
            <a:endParaRPr i="0" sz="1400" u="none" cap="none" strike="noStrike">
              <a:solidFill>
                <a:srgbClr val="613CB0"/>
              </a:solidFill>
              <a:latin typeface="Hind"/>
              <a:ea typeface="Hind"/>
              <a:cs typeface="Hind"/>
              <a:sym typeface="Hind"/>
            </a:endParaRPr>
          </a:p>
        </p:txBody>
      </p:sp>
      <p:sp>
        <p:nvSpPr>
          <p:cNvPr id="359" name="Google Shape;359;p47"/>
          <p:cNvSpPr txBox="1"/>
          <p:nvPr/>
        </p:nvSpPr>
        <p:spPr>
          <a:xfrm>
            <a:off x="311700" y="1152475"/>
            <a:ext cx="8520600" cy="3416400"/>
          </a:xfrm>
          <a:prstGeom prst="rect">
            <a:avLst/>
          </a:prstGeom>
          <a:noFill/>
          <a:ln>
            <a:noFill/>
          </a:ln>
        </p:spPr>
        <p:txBody>
          <a:bodyPr anchorCtr="0" anchor="t" bIns="45700" lIns="91425" spcFirstLastPara="1" rIns="91425" wrap="square" tIns="45700">
            <a:noAutofit/>
          </a:bodyPr>
          <a:lstStyle/>
          <a:p>
            <a:pPr indent="-298450" lvl="0" marL="285750" marR="0" rtl="0" algn="l">
              <a:lnSpc>
                <a:spcPct val="100000"/>
              </a:lnSpc>
              <a:spcBef>
                <a:spcPts val="0"/>
              </a:spcBef>
              <a:spcAft>
                <a:spcPts val="0"/>
              </a:spcAft>
              <a:buClr>
                <a:srgbClr val="000000"/>
              </a:buClr>
              <a:buSzPts val="1800"/>
              <a:buFont typeface="Arial"/>
              <a:buChar char="●"/>
            </a:pPr>
            <a:r>
              <a:rPr b="1" i="0" lang="en" sz="1800" u="none" cap="none" strike="noStrike">
                <a:solidFill>
                  <a:schemeClr val="dk1"/>
                </a:solidFill>
                <a:latin typeface="Hind"/>
                <a:ea typeface="Hind"/>
                <a:cs typeface="Hind"/>
                <a:sym typeface="Hind"/>
              </a:rPr>
              <a:t>Assignment 7: </a:t>
            </a:r>
            <a:r>
              <a:rPr i="0" lang="en" sz="1800" u="none" cap="none" strike="noStrike">
                <a:solidFill>
                  <a:schemeClr val="dk1"/>
                </a:solidFill>
                <a:latin typeface="Hind"/>
                <a:ea typeface="Hind"/>
                <a:cs typeface="Hind"/>
                <a:sym typeface="Hind"/>
              </a:rPr>
              <a:t>Due tonight at 11:59pm</a:t>
            </a:r>
            <a:endParaRPr i="0" sz="1800" u="none" cap="none" strike="noStrike">
              <a:solidFill>
                <a:schemeClr val="dk1"/>
              </a:solidFill>
              <a:latin typeface="Hind"/>
              <a:ea typeface="Hind"/>
              <a:cs typeface="Hind"/>
              <a:sym typeface="Hind"/>
            </a:endParaRPr>
          </a:p>
          <a:p>
            <a:pPr indent="0" lvl="0" marL="457200" marR="0" rtl="0" algn="l">
              <a:lnSpc>
                <a:spcPct val="100000"/>
              </a:lnSpc>
              <a:spcBef>
                <a:spcPts val="0"/>
              </a:spcBef>
              <a:spcAft>
                <a:spcPts val="0"/>
              </a:spcAft>
              <a:buNone/>
            </a:pPr>
            <a:r>
              <a:t/>
            </a:r>
            <a:endParaRPr b="1" sz="1800">
              <a:solidFill>
                <a:schemeClr val="dk1"/>
              </a:solidFill>
              <a:latin typeface="Hind"/>
              <a:ea typeface="Hind"/>
              <a:cs typeface="Hind"/>
              <a:sym typeface="Hind"/>
            </a:endParaRPr>
          </a:p>
          <a:p>
            <a:pPr indent="-298450" lvl="0" marL="285750" marR="0" rtl="0" algn="l">
              <a:lnSpc>
                <a:spcPct val="100000"/>
              </a:lnSpc>
              <a:spcBef>
                <a:spcPts val="0"/>
              </a:spcBef>
              <a:spcAft>
                <a:spcPts val="0"/>
              </a:spcAft>
              <a:buClr>
                <a:srgbClr val="000000"/>
              </a:buClr>
              <a:buSzPts val="1800"/>
              <a:buFont typeface="Arial"/>
              <a:buChar char="●"/>
            </a:pPr>
            <a:r>
              <a:rPr b="1" i="0" lang="en" sz="1800" u="none" cap="none" strike="noStrike">
                <a:solidFill>
                  <a:schemeClr val="dk1"/>
                </a:solidFill>
                <a:latin typeface="Hind"/>
                <a:ea typeface="Hind"/>
                <a:cs typeface="Hind"/>
                <a:sym typeface="Hind"/>
              </a:rPr>
              <a:t>Assignment 8</a:t>
            </a:r>
            <a:r>
              <a:rPr i="0" lang="en" sz="1800" u="none" cap="none" strike="noStrike">
                <a:solidFill>
                  <a:schemeClr val="dk1"/>
                </a:solidFill>
                <a:latin typeface="Hind"/>
                <a:ea typeface="Hind"/>
                <a:cs typeface="Hind"/>
                <a:sym typeface="Hind"/>
              </a:rPr>
              <a:t>: Due </a:t>
            </a:r>
            <a:r>
              <a:rPr lang="en" sz="1800">
                <a:solidFill>
                  <a:schemeClr val="dk1"/>
                </a:solidFill>
                <a:latin typeface="Hind"/>
                <a:ea typeface="Hind"/>
                <a:cs typeface="Hind"/>
                <a:sym typeface="Hind"/>
              </a:rPr>
              <a:t>April 15th, 2026</a:t>
            </a:r>
            <a:endParaRPr sz="1800">
              <a:solidFill>
                <a:schemeClr val="dk1"/>
              </a:solidFill>
              <a:latin typeface="Hind"/>
              <a:ea typeface="Hind"/>
              <a:cs typeface="Hind"/>
              <a:sym typeface="Hind"/>
            </a:endParaRPr>
          </a:p>
          <a:p>
            <a:pPr indent="-298450" lvl="0" marL="285750" marR="0" rtl="0" algn="l">
              <a:lnSpc>
                <a:spcPct val="100000"/>
              </a:lnSpc>
              <a:spcBef>
                <a:spcPts val="0"/>
              </a:spcBef>
              <a:spcAft>
                <a:spcPts val="0"/>
              </a:spcAft>
              <a:buClr>
                <a:schemeClr val="dk1"/>
              </a:buClr>
              <a:buSzPts val="1800"/>
              <a:buFont typeface="Hind"/>
              <a:buChar char="●"/>
            </a:pPr>
            <a:r>
              <a:t/>
            </a:r>
            <a:endParaRPr sz="1800">
              <a:solidFill>
                <a:schemeClr val="dk1"/>
              </a:solidFill>
              <a:latin typeface="Hind"/>
              <a:ea typeface="Hind"/>
              <a:cs typeface="Hind"/>
              <a:sym typeface="Hind"/>
            </a:endParaRPr>
          </a:p>
          <a:p>
            <a:pPr indent="-298450" lvl="0" marL="285750" marR="0" rtl="0" algn="l">
              <a:lnSpc>
                <a:spcPct val="100000"/>
              </a:lnSpc>
              <a:spcBef>
                <a:spcPts val="0"/>
              </a:spcBef>
              <a:spcAft>
                <a:spcPts val="0"/>
              </a:spcAft>
              <a:buClr>
                <a:schemeClr val="dk1"/>
              </a:buClr>
              <a:buSzPts val="1800"/>
              <a:buFont typeface="Helvetica Neue"/>
              <a:buChar char="●"/>
            </a:pPr>
            <a:r>
              <a:rPr b="1" i="0" lang="en" sz="1800" u="none" cap="none" strike="noStrike">
                <a:solidFill>
                  <a:schemeClr val="dk1"/>
                </a:solidFill>
                <a:latin typeface="Hind"/>
                <a:ea typeface="Hind"/>
                <a:cs typeface="Hind"/>
                <a:sym typeface="Hind"/>
              </a:rPr>
              <a:t>Final Project: </a:t>
            </a:r>
            <a:r>
              <a:rPr i="0" lang="en" sz="1800" u="none" cap="none" strike="noStrike">
                <a:solidFill>
                  <a:schemeClr val="dk1"/>
                </a:solidFill>
                <a:latin typeface="Hind"/>
                <a:ea typeface="Hind"/>
                <a:cs typeface="Hind"/>
                <a:sym typeface="Hind"/>
              </a:rPr>
              <a:t>Due </a:t>
            </a:r>
            <a:r>
              <a:rPr lang="en" sz="1800">
                <a:solidFill>
                  <a:schemeClr val="dk1"/>
                </a:solidFill>
                <a:latin typeface="Hind"/>
                <a:ea typeface="Hind"/>
                <a:cs typeface="Hind"/>
                <a:sym typeface="Hind"/>
              </a:rPr>
              <a:t>April 29th, 2026</a:t>
            </a:r>
            <a:endParaRPr i="0" sz="1800" u="none" cap="none" strike="noStrike">
              <a:solidFill>
                <a:schemeClr val="dk1"/>
              </a:solidFill>
              <a:latin typeface="Hind"/>
              <a:ea typeface="Hind"/>
              <a:cs typeface="Hind"/>
              <a:sym typeface="Hind"/>
            </a:endParaRPr>
          </a:p>
          <a:p>
            <a:pPr indent="0" lvl="0" marL="0" marR="0" rtl="0" algn="l">
              <a:lnSpc>
                <a:spcPct val="100000"/>
              </a:lnSpc>
              <a:spcBef>
                <a:spcPts val="0"/>
              </a:spcBef>
              <a:spcAft>
                <a:spcPts val="0"/>
              </a:spcAft>
              <a:buClr>
                <a:srgbClr val="000000"/>
              </a:buClr>
              <a:buSzPts val="1600"/>
              <a:buFont typeface="Arial"/>
              <a:buNone/>
            </a:pPr>
            <a:r>
              <a:t/>
            </a:r>
            <a:endParaRPr i="0" sz="1800" u="none" cap="none" strike="noStrike">
              <a:solidFill>
                <a:schemeClr val="dk1"/>
              </a:solidFill>
              <a:latin typeface="Hind"/>
              <a:ea typeface="Hind"/>
              <a:cs typeface="Hind"/>
              <a:sym typeface="Hind"/>
            </a:endParaRPr>
          </a:p>
          <a:p>
            <a:pPr indent="-298450" lvl="0" marL="285750" marR="0" rtl="0" algn="l">
              <a:lnSpc>
                <a:spcPct val="100000"/>
              </a:lnSpc>
              <a:spcBef>
                <a:spcPts val="0"/>
              </a:spcBef>
              <a:spcAft>
                <a:spcPts val="0"/>
              </a:spcAft>
              <a:buClr>
                <a:srgbClr val="000000"/>
              </a:buClr>
              <a:buSzPts val="1800"/>
              <a:buFont typeface="Arial"/>
              <a:buChar char="●"/>
            </a:pPr>
            <a:r>
              <a:rPr b="1" i="0" lang="en" sz="1800" u="none" cap="none" strike="noStrike">
                <a:solidFill>
                  <a:schemeClr val="dk1"/>
                </a:solidFill>
                <a:latin typeface="Hind"/>
                <a:ea typeface="Hind"/>
                <a:cs typeface="Hind"/>
                <a:sym typeface="Hind"/>
              </a:rPr>
              <a:t>Next Lecture</a:t>
            </a:r>
            <a:r>
              <a:rPr i="0" lang="en" sz="1800" u="none" cap="none" strike="noStrike">
                <a:solidFill>
                  <a:schemeClr val="dk1"/>
                </a:solidFill>
                <a:latin typeface="Hind"/>
                <a:ea typeface="Hind"/>
                <a:cs typeface="Hind"/>
                <a:sym typeface="Hind"/>
              </a:rPr>
              <a:t>: Applications of </a:t>
            </a:r>
            <a:r>
              <a:rPr i="1" lang="en" sz="1800" u="none" cap="none" strike="noStrike">
                <a:solidFill>
                  <a:schemeClr val="dk1"/>
                </a:solidFill>
                <a:latin typeface="Hind"/>
                <a:ea typeface="Hind"/>
                <a:cs typeface="Hind"/>
                <a:sym typeface="Hind"/>
              </a:rPr>
              <a:t>Un</a:t>
            </a:r>
            <a:r>
              <a:rPr i="0" lang="en" sz="1800" u="none" cap="none" strike="noStrike">
                <a:solidFill>
                  <a:schemeClr val="dk1"/>
                </a:solidFill>
                <a:latin typeface="Hind"/>
                <a:ea typeface="Hind"/>
                <a:cs typeface="Hind"/>
                <a:sym typeface="Hind"/>
              </a:rPr>
              <a:t>s</a:t>
            </a:r>
            <a:r>
              <a:rPr i="0" lang="en" sz="1800" u="none" cap="none" strike="noStrike">
                <a:solidFill>
                  <a:schemeClr val="dk1"/>
                </a:solidFill>
                <a:latin typeface="Hind"/>
                <a:ea typeface="Hind"/>
                <a:cs typeface="Hind"/>
                <a:sym typeface="Hind"/>
              </a:rPr>
              <a:t>upervised Learning</a:t>
            </a:r>
            <a:endParaRPr i="0" sz="1800" u="none" cap="none" strike="noStrike">
              <a:solidFill>
                <a:schemeClr val="dk1"/>
              </a:solidFill>
              <a:latin typeface="Hind"/>
              <a:ea typeface="Hind"/>
              <a:cs typeface="Hind"/>
              <a:sym typeface="Hind"/>
            </a:endParaRPr>
          </a:p>
        </p:txBody>
      </p:sp>
      <p:pic>
        <p:nvPicPr>
          <p:cNvPr id="360" name="Google Shape;360;p47"/>
          <p:cNvPicPr preferRelativeResize="0"/>
          <p:nvPr/>
        </p:nvPicPr>
        <p:blipFill>
          <a:blip r:embed="rId3">
            <a:alphaModFix/>
          </a:blip>
          <a:stretch>
            <a:fillRect/>
          </a:stretch>
        </p:blipFill>
        <p:spPr>
          <a:xfrm>
            <a:off x="3654300" y="4493296"/>
            <a:ext cx="1835400" cy="5297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